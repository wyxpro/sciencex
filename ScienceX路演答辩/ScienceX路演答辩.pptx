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Default Extension="png" ContentType="image/png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7"/>
  </p:notesMasterIdLst>
  <p:sldIdLst>
    <p:sldId id="256" r:id="rId1"/>
    <p:sldId id="257" r:id="rId2"/>
    <p:sldId id="258" r:id="rId3"/>
    <p:sldId id="259" r:id="rId4"/>
    <p:sldId id="260" r:id="rId5"/>
    <p:sldId id="261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5" Type="http://schemas.openxmlformats.org/officeDocument/2006/relationships/slide" Target="slides/slide5.xml" /><Relationship Id="rId1" Type="http://schemas.openxmlformats.org/officeDocument/2006/relationships/slide" Target="slides/slide1.xml" /><Relationship Id="rId10" Type="http://schemas.openxmlformats.org/officeDocument/2006/relationships/viewProps" Target="viewProps.xml" /><Relationship Id="rId2" Type="http://schemas.openxmlformats.org/officeDocument/2006/relationships/slide" Target="slides/slide2.xml" /><Relationship Id="rId6" Type="http://schemas.openxmlformats.org/officeDocument/2006/relationships/slide" Target="slides/slide6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7" Type="http://schemas.openxmlformats.org/officeDocument/2006/relationships/notesMaster" Target="notesMasters/notesMaster1.xml" /><Relationship Id="rId8" Type="http://schemas.openxmlformats.org/officeDocument/2006/relationships/presProps" Target="presProps.xml" /><Relationship Id="rId9" Type="http://schemas.openxmlformats.org/officeDocument/2006/relationships/tableStyles" Target="tableStyles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Relationship Id="rId2" Type="http://schemas.openxmlformats.org/officeDocument/2006/relationships/image" Target="media/image2.svg" /><Relationship Id="rId3" Type="http://schemas.openxmlformats.org/officeDocument/2006/relationships/image" Target="media/image3.svg" /><Relationship Id="rId4" Type="http://schemas.openxmlformats.org/officeDocument/2006/relationships/image" Target="media/image4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3" Type="http://schemas.openxmlformats.org/officeDocument/2006/relationships/image" Target="media/image7.svg" /><Relationship Id="rId2" Type="http://schemas.openxmlformats.org/officeDocument/2006/relationships/image" Target="media/image6.svg" /><Relationship Id="rId4" Type="http://schemas.openxmlformats.org/officeDocument/2006/relationships/image" Target="media/image8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2" Type="http://schemas.openxmlformats.org/officeDocument/2006/relationships/image" Target="media/image11.sv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Relationship Id="rId3" Type="http://schemas.openxmlformats.org/officeDocument/2006/relationships/image" Target="media/image12.svg" /><Relationship Id="rId4" Type="http://schemas.openxmlformats.org/officeDocument/2006/relationships/image" Target="media/image13.svg" /><Relationship Id="rId5" Type="http://schemas.openxmlformats.org/officeDocument/2006/relationships/image" Target="media/image14.svg" /><Relationship Id="rId6" Type="http://schemas.openxmlformats.org/officeDocument/2006/relationships/image" Target="media/image15.svg" /><Relationship Id="rId7" Type="http://schemas.openxmlformats.org/officeDocument/2006/relationships/image" Target="media/image16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padding: 0, background: '#F6F4EE' }}&gt;&#10;  &lt;Box style={{ flexDirection: 'row', width: '100%', height: '100%' }}&gt;&#10;    {/* 左侧 55% 文字区 */}&#10;    &lt;Box style={{ width: '55%', height: '100%', padding: '64px 24px 48px 64px', justifyContent: 'center', gap: 18 }}&gt;&#10;      &lt;Text style={{ fontSize: 13, color: '#8A948D', letterSpacing: 3, fontWeight: 600 }}&gt;YOUR NEXT DISCOVERY STARTS HERE&lt;/Text&gt;&#10;      &lt;Text style={{ fontSize: 56, fontWeight: 'bold', color: '#1F2A26', fontFamily: 'Noto Serif SC, Georgia, serif', lineHeight: 1.2 }}&gt;&#10;        让科研更简单，&lt;br /&gt;一站式科研 AI 搭子&#10;      &lt;/Text&gt;&#10;      &lt;Text style={{ fontSize: 20, color: '#4A554F', lineHeight: 1.6 }}&gt;&#10;        &lt;span style={{ fontWeight: 'bold', color: '#1B7A5E' }}&gt;ScienceX · AI 科研工作台&lt;/span&gt;&lt;br /&gt;&#10;        覆盖「选题 → 文献 → 复现 → 实验 → 分析 → 写作 → 投稿 → 协作」&lt;br /&gt;全生命周期的下一代 AI 科研生产力中枢&#10;      &lt;/Text&gt;&#10;      &lt;Box style={{ flexDirection: 'row', gap: 10, marginTop: 8 }}&gt;&#10;        &lt;Box style={{ background: '#E3F1EA', borderRadius: 16, padding: '6px 14px', flexDirection: 'row', alignItems: 'center', gap: 6 }}&gt;&#10;          &lt;FAIcon name=&quot;check&quot; style={{ fill: '#1B7A5E', width: 14, height: 14 }} /&gt;&#10;          &lt;Text style={{ fontSize: 14, color: '#1B7A5E', fontWeight: 600 }}&gt;免费开始&lt;/Text&gt;&#10;        &lt;/Box&gt;&#10;        &lt;Box style={{ background: '#E3F1EA', borderRadius: 16, padding: '6px 14px', flexDirection: 'row', alignItems: 'center', gap: 6 }}&gt;&#10;          &lt;FAIcon name=&quot;lock&quot; style={{ fill: '#1B7A5E', width: 14, height: 14 }} /&gt;&#10;          &lt;Text style={{ fontSize: 14, color: '#1B7A5E', fontWeight: 600 }}&gt;数据私有可控&lt;/Text&gt;&#10;        &lt;/Box&gt;&#10;        &lt;Box style={{ background: '#E3F1EA', borderRadius: 16, padding: '6px 14px', flexDirection: 'row', alignItems: 'center', gap: 6 }}&gt;&#10;          &lt;FAIcon name=&quot;plug&quot; style={{ fill: '#1B7A5E', width: 14, height: 14 }} /&gt;&#10;          &lt;Text style={{ fontSize: 14, color: '#1B7A5E', fontWeight: 600 }}&gt;接入任意大模型&lt;/Text&gt;&#10;        &lt;/Box&gt;&#10;      &lt;/Box&gt;&#10;      &lt;Text style={{ fontSize: 13, color: '#8A948D', marginTop: 16 }}&gt;XX 团队 · 2026.10&lt;/Text&gt;&#10;    &lt;/Box&gt;&#10;    {/* 右侧 45% 满版产品视觉 */}&#10;    &lt;Box style={{ width: '45%', height: '100%', position: 'relative', justifyContent: 'center', alignItems: 'center', background: 'linear-gradient(160deg, #F0EDE4 0%, #E7EFEA 55%, #F5EFE3 100%)' }}&gt;&#10;      &lt;Box style={{ position: 'absolute', top: 0, right: 0, width: 240, height: 240, borderRadius: '50%', background: '#1B7A5E', opacity: 0.08 }} /&gt;&#10;      &lt;Box style={{ position: 'absolute', bottom: 0, left: 0, width: 190, height: 190, borderRadius: '50%', background: '#C2762B', opacity: 0.10 }} /&gt;&#10;      &lt;Image src=&quot;assets/hero.png&quot; style={{ width: 470, height: 470, objectFit: 'contain', position: 'relative', zIndex: 1 }} /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4EE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09600" y="1257300"/>
            <a:ext cx="5867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225">
                <a:solidFill>
                  <a:srgbClr val="8A948D"/>
                </a:solidFill>
                <a:latin typeface="Microsoft YaHei"/>
                <a:ea typeface="Microsoft YaHei"/>
              </a:rPr>
              <a:t>YOUR NEXT DISCOVERY STARTS HERE</a:t>
            </a:r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1581150"/>
            <a:ext cx="5867400" cy="15430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4200" b="1">
                <a:solidFill>
                  <a:srgbClr val="1F2A26"/>
                </a:solidFill>
                <a:latin typeface="Noto Serif SC"/>
                <a:ea typeface="Noto Serif SC"/>
              </a:rPr>
              <a:t>让科研更简单，</a:t>
            </a:r>
            <a:endParaRPr/>
          </a:p>
          <a:p>
            <a:pPr>
              <a:lnSpc>
                <a:spcPct val="120000"/>
              </a:lnSpc>
            </a:pPr>
            <a:r>
              <a:rPr lang="zh-CN" sz="4200" b="1">
                <a:solidFill>
                  <a:srgbClr val="1F2A26"/>
                </a:solidFill>
                <a:latin typeface="Noto Serif SC"/>
                <a:ea typeface="Noto Serif SC"/>
              </a:rPr>
              <a:t>一站式科研</a:t>
            </a:r>
            <a:r>
              <a:rPr lang="en-US" sz="4200" b="1">
                <a:solidFill>
                  <a:srgbClr val="1F2A26"/>
                </a:solidFill>
                <a:latin typeface="Noto Serif SC"/>
                <a:ea typeface="Noto Serif SC"/>
              </a:rPr>
              <a:t xml:space="preserve"> AI </a:t>
            </a:r>
            <a:r>
              <a:rPr lang="zh-CN" sz="4200" b="1">
                <a:solidFill>
                  <a:srgbClr val="1F2A26"/>
                </a:solidFill>
                <a:latin typeface="Noto Serif SC"/>
                <a:ea typeface="Noto Serif SC"/>
              </a:rPr>
              <a:t>搭子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3295650"/>
            <a:ext cx="5867400" cy="1466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500" b="1">
                <a:solidFill>
                  <a:srgbClr val="1B7A5E"/>
                </a:solidFill>
                <a:latin typeface="Microsoft YaHei"/>
                <a:ea typeface="Microsoft YaHei"/>
              </a:rPr>
              <a:t xml:space="preserve">ScienceX · AI </a:t>
            </a:r>
            <a:r>
              <a:rPr lang="zh-CN" sz="1500" b="1">
                <a:solidFill>
                  <a:srgbClr val="1B7A5E"/>
                </a:solidFill>
                <a:latin typeface="Microsoft YaHei"/>
                <a:ea typeface="Microsoft YaHei"/>
              </a:rPr>
              <a:t>科研工作台</a:t>
            </a:r>
            <a:endParaRPr/>
          </a:p>
          <a:p>
            <a:pPr>
              <a:lnSpc>
                <a:spcPct val="160000"/>
              </a:lnSpc>
            </a:pPr>
            <a:r>
              <a:rPr lang="zh-CN" sz="1500">
                <a:solidFill>
                  <a:srgbClr val="4A554F"/>
                </a:solidFill>
                <a:latin typeface="Microsoft YaHei"/>
                <a:ea typeface="Microsoft YaHei"/>
              </a:rPr>
              <a:t>覆盖「选题</a:t>
            </a:r>
            <a:r>
              <a:rPr lang="en-US" sz="1500">
                <a:solidFill>
                  <a:srgbClr val="4A554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4A554F"/>
                </a:solidFill>
                <a:latin typeface="Microsoft YaHei"/>
                <a:ea typeface="Microsoft YaHei"/>
              </a:rPr>
              <a:t>文献</a:t>
            </a:r>
            <a:r>
              <a:rPr lang="en-US" sz="1500">
                <a:solidFill>
                  <a:srgbClr val="4A554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4A554F"/>
                </a:solidFill>
                <a:latin typeface="Microsoft YaHei"/>
                <a:ea typeface="Microsoft YaHei"/>
              </a:rPr>
              <a:t>复现</a:t>
            </a:r>
            <a:r>
              <a:rPr lang="en-US" sz="1500">
                <a:solidFill>
                  <a:srgbClr val="4A554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4A554F"/>
                </a:solidFill>
                <a:latin typeface="Microsoft YaHei"/>
                <a:ea typeface="Microsoft YaHei"/>
              </a:rPr>
              <a:t>实验</a:t>
            </a:r>
            <a:r>
              <a:rPr lang="en-US" sz="1500">
                <a:solidFill>
                  <a:srgbClr val="4A554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4A554F"/>
                </a:solidFill>
                <a:latin typeface="Microsoft YaHei"/>
                <a:ea typeface="Microsoft YaHei"/>
              </a:rPr>
              <a:t>分析</a:t>
            </a:r>
            <a:r>
              <a:rPr lang="en-US" sz="1500">
                <a:solidFill>
                  <a:srgbClr val="4A554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4A554F"/>
                </a:solidFill>
                <a:latin typeface="Microsoft YaHei"/>
                <a:ea typeface="Microsoft YaHei"/>
              </a:rPr>
              <a:t>写作</a:t>
            </a:r>
            <a:r>
              <a:rPr lang="en-US" sz="1500">
                <a:solidFill>
                  <a:srgbClr val="4A554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4A554F"/>
                </a:solidFill>
                <a:latin typeface="Microsoft YaHei"/>
                <a:ea typeface="Microsoft YaHei"/>
              </a:rPr>
              <a:t>投稿</a:t>
            </a:r>
            <a:r>
              <a:rPr lang="en-US" sz="1500">
                <a:solidFill>
                  <a:srgbClr val="4A554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4A554F"/>
                </a:solidFill>
                <a:latin typeface="Microsoft YaHei"/>
                <a:ea typeface="Microsoft YaHei"/>
              </a:rPr>
              <a:t>协作」</a:t>
            </a:r>
            <a:endParaRPr/>
          </a:p>
          <a:p>
            <a:pPr>
              <a:lnSpc>
                <a:spcPct val="160000"/>
              </a:lnSpc>
            </a:pPr>
            <a:r>
              <a:rPr lang="zh-CN" sz="1500">
                <a:solidFill>
                  <a:srgbClr val="4A554F"/>
                </a:solidFill>
                <a:latin typeface="Microsoft YaHei"/>
                <a:ea typeface="Microsoft YaHei"/>
              </a:rPr>
              <a:t>全生命周期的下一代</a:t>
            </a:r>
            <a:r>
              <a:rPr lang="en-US" sz="1500">
                <a:solidFill>
                  <a:srgbClr val="4A554F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500">
                <a:solidFill>
                  <a:srgbClr val="4A554F"/>
                </a:solidFill>
                <a:latin typeface="Microsoft YaHei"/>
                <a:ea typeface="Microsoft YaHei"/>
              </a:rPr>
              <a:t>科研生产力中枢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609600" y="5010150"/>
            <a:ext cx="990600" cy="276225"/>
          </a:xfrm>
          <a:prstGeom prst="roundRect">
            <a:avLst>
              <a:gd name="adj" fmla="val 55172"/>
            </a:avLst>
          </a:prstGeom>
          <a:solidFill>
            <a:srgbClr val="E3F1EA"/>
          </a:solidFill>
          <a:ln/>
        </p:spPr>
        <p:txBody>
          <a:bodyPr/>
          <a:p/>
        </p:txBody>
      </p:sp>
      <p:pic>
        <p:nvPicPr>
          <p:cNvPr id="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42950" y="5086350"/>
            <a:ext cx="133350" cy="133350"/>
          </a:xfrm>
          <a:prstGeom prst="rect">
            <a:avLst/>
          </a:prstGeom>
          <a:ln/>
        </p:spPr>
      </p:pic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933450" y="50673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B7A5E"/>
                </a:solidFill>
                <a:latin typeface="Microsoft YaHei"/>
                <a:ea typeface="Microsoft YaHei"/>
              </a:rPr>
              <a:t>免费开始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1695450" y="5010150"/>
            <a:ext cx="1257300" cy="276225"/>
          </a:xfrm>
          <a:prstGeom prst="roundRect">
            <a:avLst>
              <a:gd name="adj" fmla="val 55172"/>
            </a:avLst>
          </a:prstGeom>
          <a:solidFill>
            <a:srgbClr val="E3F1EA"/>
          </a:solidFill>
          <a:ln/>
        </p:spPr>
        <p:txBody>
          <a:bodyPr/>
          <a:p/>
        </p:txBody>
      </p:sp>
      <p:pic>
        <p:nvPicPr>
          <p:cNvPr id="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828800" y="5086350"/>
            <a:ext cx="133350" cy="133350"/>
          </a:xfrm>
          <a:prstGeom prst="rect">
            <a:avLst/>
          </a:prstGeom>
          <a:ln/>
        </p:spPr>
      </p:pic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019300" y="5067300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B7A5E"/>
                </a:solidFill>
                <a:latin typeface="Microsoft YaHei"/>
                <a:ea typeface="Microsoft YaHei"/>
              </a:rPr>
              <a:t>数据私有可控</a:t>
            </a:r>
            <a:endParaRPr/>
          </a:p>
        </p:txBody>
      </p:sp>
      <p:sp>
        <p:nvSpPr>
          <p:cNvPr id="12" name=""/>
          <p:cNvSpPr/>
          <p:nvPr/>
        </p:nvSpPr>
        <p:spPr>
          <a:xfrm rot="0" flipH="0" flipV="0">
            <a:off x="3048000" y="5010150"/>
            <a:ext cx="1390650" cy="276225"/>
          </a:xfrm>
          <a:prstGeom prst="roundRect">
            <a:avLst>
              <a:gd name="adj" fmla="val 55172"/>
            </a:avLst>
          </a:prstGeom>
          <a:solidFill>
            <a:srgbClr val="E3F1EA"/>
          </a:solidFill>
          <a:ln/>
        </p:spPr>
        <p:txBody>
          <a:bodyPr/>
          <a:p/>
        </p:txBody>
      </p:sp>
      <p:pic>
        <p:nvPicPr>
          <p:cNvPr id="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181350" y="5086350"/>
            <a:ext cx="133350" cy="133350"/>
          </a:xfrm>
          <a:prstGeom prst="rect">
            <a:avLst/>
          </a:prstGeom>
          <a:ln/>
        </p:spPr>
      </p:pic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3371850" y="5067300"/>
            <a:ext cx="933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B7A5E"/>
                </a:solidFill>
                <a:latin typeface="Microsoft YaHei"/>
                <a:ea typeface="Microsoft YaHei"/>
              </a:rPr>
              <a:t>接入任意大模型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609600" y="5610225"/>
            <a:ext cx="5867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48D"/>
                </a:solidFill>
                <a:latin typeface="Microsoft YaHei"/>
                <a:ea typeface="Microsoft YaHei"/>
              </a:rPr>
              <a:t xml:space="preserve">XX </a:t>
            </a:r>
            <a:r>
              <a:rPr lang="zh-CN" sz="975">
                <a:solidFill>
                  <a:srgbClr val="8A948D"/>
                </a:solidFill>
                <a:latin typeface="Microsoft YaHei"/>
                <a:ea typeface="Microsoft YaHei"/>
              </a:rPr>
              <a:t>团队</a:t>
            </a:r>
            <a:r>
              <a:rPr lang="en-US" sz="975">
                <a:solidFill>
                  <a:srgbClr val="8A948D"/>
                </a:solidFill>
                <a:latin typeface="Microsoft YaHei"/>
                <a:ea typeface="Microsoft YaHei"/>
              </a:rPr>
              <a:t xml:space="preserve"> · 2026.10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6705600" y="0"/>
            <a:ext cx="5486400" cy="6858000"/>
          </a:xfrm>
          <a:prstGeom prst="rect">
            <a:avLst/>
          </a:prstGeom>
          <a:gradFill>
            <a:gsLst>
              <a:gs pos="0">
                <a:srgbClr val="F0EDE4"/>
              </a:gs>
              <a:gs pos="55000">
                <a:srgbClr val="E7EFEA"/>
              </a:gs>
              <a:gs pos="100000">
                <a:srgbClr val="F5EFE3"/>
              </a:gs>
            </a:gsLst>
            <a:lin ang="4200000" scaled="1"/>
          </a:gra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9906000" y="0"/>
            <a:ext cx="2286000" cy="2286000"/>
          </a:xfrm>
          <a:custGeom>
            <a:pathLst>
              <a:path w="240" h="240">
                <a:moveTo>
                  <a:pt x="120" y="0"/>
                </a:moveTo>
                <a:lnTo>
                  <a:pt x="120" y="0"/>
                </a:lnTo>
                <a:cubicBezTo>
                  <a:pt x="186" y="0"/>
                  <a:pt x="240" y="54"/>
                  <a:pt x="240" y="120"/>
                </a:cubicBezTo>
                <a:lnTo>
                  <a:pt x="240" y="120"/>
                </a:lnTo>
                <a:cubicBezTo>
                  <a:pt x="240" y="186"/>
                  <a:pt x="186" y="240"/>
                  <a:pt x="120" y="240"/>
                </a:cubicBezTo>
                <a:lnTo>
                  <a:pt x="120" y="240"/>
                </a:lnTo>
                <a:cubicBezTo>
                  <a:pt x="54" y="240"/>
                  <a:pt x="0" y="186"/>
                  <a:pt x="0" y="120"/>
                </a:cubicBezTo>
                <a:lnTo>
                  <a:pt x="0" y="120"/>
                </a:lnTo>
                <a:cubicBezTo>
                  <a:pt x="0" y="54"/>
                  <a:pt x="54" y="0"/>
                  <a:pt x="120" y="0"/>
                </a:cubicBezTo>
                <a:close/>
              </a:path>
            </a:pathLst>
          </a:custGeom>
          <a:solidFill>
            <a:srgbClr val="1B7A5E">
              <a:alpha val="8000"/>
            </a:srgbClr>
          </a:solidFill>
          <a:ln/>
        </p:spPr>
        <p:txBody>
          <a:bodyPr/>
          <a:p/>
        </p:txBody>
      </p:sp>
      <p:sp>
        <p:nvSpPr>
          <p:cNvPr id="18" name=""/>
          <p:cNvSpPr/>
          <p:nvPr/>
        </p:nvSpPr>
        <p:spPr>
          <a:xfrm rot="0" flipH="0" flipV="0">
            <a:off x="6705600" y="5048250"/>
            <a:ext cx="1809750" cy="1809750"/>
          </a:xfrm>
          <a:custGeom>
            <a:pathLst>
              <a:path w="190" h="190">
                <a:moveTo>
                  <a:pt x="95" y="0"/>
                </a:moveTo>
                <a:lnTo>
                  <a:pt x="95" y="0"/>
                </a:lnTo>
                <a:cubicBezTo>
                  <a:pt x="147" y="0"/>
                  <a:pt x="190" y="43"/>
                  <a:pt x="190" y="95"/>
                </a:cubicBezTo>
                <a:lnTo>
                  <a:pt x="190" y="95"/>
                </a:lnTo>
                <a:cubicBezTo>
                  <a:pt x="190" y="147"/>
                  <a:pt x="147" y="190"/>
                  <a:pt x="95" y="190"/>
                </a:cubicBezTo>
                <a:lnTo>
                  <a:pt x="95" y="190"/>
                </a:lnTo>
                <a:cubicBezTo>
                  <a:pt x="43" y="190"/>
                  <a:pt x="0" y="147"/>
                  <a:pt x="0" y="95"/>
                </a:cubicBezTo>
                <a:lnTo>
                  <a:pt x="0" y="95"/>
                </a:lnTo>
                <a:cubicBezTo>
                  <a:pt x="0" y="43"/>
                  <a:pt x="43" y="0"/>
                  <a:pt x="95" y="0"/>
                </a:cubicBezTo>
                <a:close/>
              </a:path>
            </a:pathLst>
          </a:custGeom>
          <a:solidFill>
            <a:srgbClr val="C2762B">
              <a:alpha val="10000"/>
            </a:srgbClr>
          </a:solidFill>
          <a:ln/>
        </p:spPr>
        <p:txBody>
          <a:bodyPr/>
          <a:p/>
        </p:txBody>
      </p:sp>
      <p:pic>
        <p:nvPicPr>
          <p:cNvPr id="19" name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0" flipH="0" flipV="0">
            <a:off x="7210425" y="1190625"/>
            <a:ext cx="4476750" cy="4476750"/>
          </a:xfrm>
          <a:prstGeom prst="rect">
            <a:avLst/>
          </a:prstGeom>
          <a:ln/>
        </p:spPr>
      </p:pic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0" name="" descr="&lt;Slide style={{ padding: 0, background: '#F6F4EE' }}&gt;&#10;  &lt;Box style={{ flexDirection: 'row', width: '100%', height: '100%' }}&gt;&#10;    {/* 左侧竖排 CONTENTS */}&#10;    &lt;Box style={{ width: '34%', height: '100%', padding: '72px 24px 64px 64px', justifyContent: 'space-between' }}&gt;&#10;      &lt;Box&gt;&#10;        &lt;Text style={{ fontSize: 15, color: '#C2762B', letterSpacing: 4, fontWeight: 600 }}&gt;CONTENTS&lt;/Text&gt;&#10;        &lt;Text style={{ fontSize: 40, fontWeight: 'bold', color: '#1F2A26', fontFamily: 'Noto Serif SC, Georgia, serif', marginTop: 12, lineHeight: 1.2 }}&gt;目录&lt;/Text&gt;&#10;        &lt;Box style={{ width: 56, height: 4, background: '#1B7A5E', marginTop: 18, borderRadius: 2 }} /&gt;&#10;      &lt;/Box&gt;&#10;      &lt;Text style={{ fontSize: 13, color: '#8A948D', lineHeight: 1.7 }}&gt;四个章节，&lt;br /&gt;由需求到价值，&lt;br /&gt;层层递进。&lt;/Text&gt;&#10;    &lt;/Box&gt;&#10;    {/* 右侧四个章节条目 */}&#10;    &lt;Box style={{ width: '66%', height: '100%', padding: '72px 64px 64px 24px', justifyContent: 'center', gap: 4 }}&gt;&#10;      {[&#10;        { n: '01', t: '需求洞察', d: '科研人的真实痛点，与我们给出的答案', ic: 'lightbulb' },&#10;        { n: '02', t: '团队及产品介绍', d: '我们是谁 · 产品是什么 · 凭什么是我们', ic: 'users' },&#10;        { n: '03', t: '技术解析及亮点', d: '前端 / 后端 / AI 能力的深度拆解', ic: 'cog' },&#10;        { n: '04', t: '商业模式及创新', d: '成本 / 收益 / 市场 / 行业价值 / 公益计划', ic: 'chart-line' },&#10;      ].map((it, i) =&gt; (&#10;        &lt;Box key={i} style={{ flexDirection: 'row', alignItems: 'center', padding: '20px 8px', borderBottom: i &lt; 3 ? '1px solid #E6E2D6' : 'none', gap: 24 }}&gt;&#10;          &lt;Text style={{ fontSize: 52, fontWeight: 'bold', color: '#C2762B', fontFamily: 'Noto Serif SC, Georgia, serif', width: 92, lineHeight: 1 }}&gt;{it.n}&lt;/Text&gt;&#10;          &lt;Box style={{ flex: 1 }}&gt;&#10;            &lt;Text style={{ fontSize: 22, fontWeight: 'bold', color: '#1F2A26', fontFamily: 'Noto Serif SC, Georgia, serif' }}&gt;{it.t}&lt;/Text&gt;&#10;            &lt;Text style={{ fontSize: 14, color: '#8A948D', marginTop: 4 }}&gt;{it.d}&lt;/Text&gt;&#10;          &lt;/Box&gt;&#10;          &lt;Box style={{ width: 46, height: 46, borderRadius: 12, background: '#E3F1EA', justifyContent: 'center', alignItems: 'center' }}&gt;&#10;            &lt;FAIcon name={it.ic} style={{ fill: '#1B7A5E', width: 20, height: 20 }} /&gt;&#10;          &lt;/Box&gt;&#10;        &lt;/Box&gt;&#10;      ))}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4EE"/>
          </a:solidFill>
          <a:ln/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609600" y="685800"/>
            <a:ext cx="3305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300">
                <a:solidFill>
                  <a:srgbClr val="C2762B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09600" y="971550"/>
            <a:ext cx="3305175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2A26"/>
                </a:solidFill>
                <a:latin typeface="Noto Serif SC"/>
                <a:ea typeface="Noto Serif SC"/>
              </a:rPr>
              <a:t>目录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609600" y="1695450"/>
            <a:ext cx="533400" cy="38100"/>
          </a:xfrm>
          <a:prstGeom prst="roundRect">
            <a:avLst>
              <a:gd name="adj" fmla="val 50000"/>
            </a:avLst>
          </a:prstGeom>
          <a:solidFill>
            <a:srgbClr val="1B7A5E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09600" y="5486400"/>
            <a:ext cx="3305175" cy="7620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75">
                <a:solidFill>
                  <a:srgbClr val="8A948D"/>
                </a:solidFill>
                <a:latin typeface="Microsoft YaHei"/>
                <a:ea typeface="Microsoft YaHei"/>
              </a:rPr>
              <a:t>四个章节，</a:t>
            </a:r>
            <a:endParaRPr/>
          </a:p>
          <a:p>
            <a:pPr>
              <a:lnSpc>
                <a:spcPct val="170000"/>
              </a:lnSpc>
            </a:pPr>
            <a:r>
              <a:rPr lang="zh-CN" sz="975">
                <a:solidFill>
                  <a:srgbClr val="8A948D"/>
                </a:solidFill>
                <a:latin typeface="Microsoft YaHei"/>
                <a:ea typeface="Microsoft YaHei"/>
              </a:rPr>
              <a:t>由需求到价值，</a:t>
            </a:r>
            <a:endParaRPr/>
          </a:p>
          <a:p>
            <a:pPr>
              <a:lnSpc>
                <a:spcPct val="170000"/>
              </a:lnSpc>
            </a:pPr>
            <a:r>
              <a:rPr lang="zh-CN" sz="975">
                <a:solidFill>
                  <a:srgbClr val="8A948D"/>
                </a:solidFill>
                <a:latin typeface="Microsoft YaHei"/>
                <a:ea typeface="Microsoft YaHei"/>
              </a:rPr>
              <a:t>层层递进。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4371975" y="1438275"/>
            <a:ext cx="7210425" cy="1000125"/>
          </a:xfrm>
          <a:custGeom>
            <a:pathLst>
              <a:path w="757" h="105">
                <a:moveTo>
                  <a:pt x="0" y="104"/>
                </a:moveTo>
                <a:lnTo>
                  <a:pt x="757" y="104"/>
                </a:lnTo>
                <a:lnTo>
                  <a:pt x="757" y="105"/>
                </a:lnTo>
                <a:lnTo>
                  <a:pt x="0" y="105"/>
                </a:lnTo>
                <a:close/>
              </a:path>
            </a:pathLst>
          </a:custGeom>
          <a:solidFill>
            <a:srgbClr val="E6E2D6"/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4448175" y="1628775"/>
            <a:ext cx="8763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C2762B"/>
                </a:solidFill>
                <a:latin typeface="Noto Serif SC"/>
                <a:ea typeface="Noto Serif SC"/>
              </a:rPr>
              <a:t>01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5553075" y="1704975"/>
            <a:ext cx="5286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F2A26"/>
                </a:solidFill>
                <a:latin typeface="Noto Serif SC"/>
                <a:ea typeface="Noto Serif SC"/>
              </a:rPr>
              <a:t>需求洞察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5553075" y="2000250"/>
            <a:ext cx="5286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48D"/>
                </a:solidFill>
                <a:latin typeface="Microsoft YaHei"/>
                <a:ea typeface="Microsoft YaHei"/>
              </a:rPr>
              <a:t>科研人的真实痛点，与我们给出的答案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11068050" y="171450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3F1EA"/>
          </a:solidFill>
          <a:ln/>
        </p:spPr>
        <p:txBody>
          <a:bodyPr/>
          <a:p/>
        </p:txBody>
      </p:sp>
      <p:pic>
        <p:nvPicPr>
          <p:cNvPr id="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91875" y="1838325"/>
            <a:ext cx="190500" cy="190500"/>
          </a:xfrm>
          <a:prstGeom prst="rect">
            <a:avLst/>
          </a:prstGeom>
          <a:ln/>
        </p:spPr>
      </p:pic>
      <p:sp>
        <p:nvSpPr>
          <p:cNvPr id="32" name=""/>
          <p:cNvSpPr/>
          <p:nvPr/>
        </p:nvSpPr>
        <p:spPr>
          <a:xfrm rot="0" flipH="0" flipV="0">
            <a:off x="4371975" y="2466975"/>
            <a:ext cx="7210425" cy="1000125"/>
          </a:xfrm>
          <a:custGeom>
            <a:pathLst>
              <a:path w="757" h="105">
                <a:moveTo>
                  <a:pt x="0" y="104"/>
                </a:moveTo>
                <a:lnTo>
                  <a:pt x="757" y="104"/>
                </a:lnTo>
                <a:lnTo>
                  <a:pt x="757" y="105"/>
                </a:lnTo>
                <a:lnTo>
                  <a:pt x="0" y="105"/>
                </a:lnTo>
                <a:close/>
              </a:path>
            </a:pathLst>
          </a:custGeom>
          <a:solidFill>
            <a:srgbClr val="E6E2D6"/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4448175" y="2657475"/>
            <a:ext cx="8763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C2762B"/>
                </a:solidFill>
                <a:latin typeface="Noto Serif SC"/>
                <a:ea typeface="Noto Serif SC"/>
              </a:rPr>
              <a:t>02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5553075" y="2733675"/>
            <a:ext cx="5286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F2A26"/>
                </a:solidFill>
                <a:latin typeface="Noto Serif SC"/>
                <a:ea typeface="Noto Serif SC"/>
              </a:rPr>
              <a:t>团队及产品介绍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5553075" y="3028950"/>
            <a:ext cx="5286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48D"/>
                </a:solidFill>
                <a:latin typeface="Microsoft YaHei"/>
                <a:ea typeface="Microsoft YaHei"/>
              </a:rPr>
              <a:t>我们是谁</a:t>
            </a:r>
            <a:r>
              <a:rPr lang="en-US" sz="1050">
                <a:solidFill>
                  <a:srgbClr val="8A948D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A948D"/>
                </a:solidFill>
                <a:latin typeface="Microsoft YaHei"/>
                <a:ea typeface="Microsoft YaHei"/>
              </a:rPr>
              <a:t>产品是什么</a:t>
            </a:r>
            <a:r>
              <a:rPr lang="en-US" sz="1050">
                <a:solidFill>
                  <a:srgbClr val="8A948D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A948D"/>
                </a:solidFill>
                <a:latin typeface="Microsoft YaHei"/>
                <a:ea typeface="Microsoft YaHei"/>
              </a:rPr>
              <a:t>凭什么是我们</a:t>
            </a:r>
            <a:endParaRPr/>
          </a:p>
        </p:txBody>
      </p:sp>
      <p:sp>
        <p:nvSpPr>
          <p:cNvPr id="36" name=""/>
          <p:cNvSpPr/>
          <p:nvPr/>
        </p:nvSpPr>
        <p:spPr>
          <a:xfrm rot="0" flipH="0" flipV="0">
            <a:off x="11068050" y="274320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3F1EA"/>
          </a:solidFill>
          <a:ln/>
        </p:spPr>
        <p:txBody>
          <a:bodyPr/>
          <a:p/>
        </p:txBody>
      </p:sp>
      <p:pic>
        <p:nvPicPr>
          <p:cNvPr id="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1191875" y="2867025"/>
            <a:ext cx="190500" cy="190500"/>
          </a:xfrm>
          <a:prstGeom prst="rect">
            <a:avLst/>
          </a:prstGeom>
          <a:ln/>
        </p:spPr>
      </p:pic>
      <p:sp>
        <p:nvSpPr>
          <p:cNvPr id="38" name=""/>
          <p:cNvSpPr/>
          <p:nvPr/>
        </p:nvSpPr>
        <p:spPr>
          <a:xfrm rot="0" flipH="0" flipV="0">
            <a:off x="4371975" y="3495675"/>
            <a:ext cx="7210425" cy="1000125"/>
          </a:xfrm>
          <a:custGeom>
            <a:pathLst>
              <a:path w="757" h="105">
                <a:moveTo>
                  <a:pt x="0" y="104"/>
                </a:moveTo>
                <a:lnTo>
                  <a:pt x="757" y="104"/>
                </a:lnTo>
                <a:lnTo>
                  <a:pt x="757" y="105"/>
                </a:lnTo>
                <a:lnTo>
                  <a:pt x="0" y="105"/>
                </a:lnTo>
                <a:close/>
              </a:path>
            </a:pathLst>
          </a:custGeom>
          <a:solidFill>
            <a:srgbClr val="E6E2D6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448175" y="3686175"/>
            <a:ext cx="8763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C2762B"/>
                </a:solidFill>
                <a:latin typeface="Noto Serif SC"/>
                <a:ea typeface="Noto Serif SC"/>
              </a:rPr>
              <a:t>03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5553075" y="3762375"/>
            <a:ext cx="5286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F2A26"/>
                </a:solidFill>
                <a:latin typeface="Noto Serif SC"/>
                <a:ea typeface="Noto Serif SC"/>
              </a:rPr>
              <a:t>技术解析及亮点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5553075" y="4057650"/>
            <a:ext cx="5286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48D"/>
                </a:solidFill>
                <a:latin typeface="Microsoft YaHei"/>
                <a:ea typeface="Microsoft YaHei"/>
              </a:rPr>
              <a:t>前端</a:t>
            </a:r>
            <a:r>
              <a:rPr lang="en-US" sz="1050">
                <a:solidFill>
                  <a:srgbClr val="8A948D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8A948D"/>
                </a:solidFill>
                <a:latin typeface="Microsoft YaHei"/>
                <a:ea typeface="Microsoft YaHei"/>
              </a:rPr>
              <a:t>后端</a:t>
            </a:r>
            <a:r>
              <a:rPr lang="en-US" sz="1050">
                <a:solidFill>
                  <a:srgbClr val="8A948D"/>
                </a:solidFill>
                <a:latin typeface="Microsoft YaHei"/>
                <a:ea typeface="Microsoft YaHei"/>
              </a:rPr>
              <a:t xml:space="preserve"> / AI </a:t>
            </a:r>
            <a:r>
              <a:rPr lang="zh-CN" sz="1050">
                <a:solidFill>
                  <a:srgbClr val="8A948D"/>
                </a:solidFill>
                <a:latin typeface="Microsoft YaHei"/>
                <a:ea typeface="Microsoft YaHei"/>
              </a:rPr>
              <a:t>能力的深度拆解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11068050" y="377190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3F1EA"/>
          </a:solidFill>
          <a:ln/>
        </p:spPr>
        <p:txBody>
          <a:bodyPr/>
          <a:p/>
        </p:txBody>
      </p:sp>
      <p:pic>
        <p:nvPicPr>
          <p:cNvPr id="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1191875" y="3895725"/>
            <a:ext cx="190500" cy="190500"/>
          </a:xfrm>
          <a:prstGeom prst="rect">
            <a:avLst/>
          </a:prstGeom>
          <a:ln/>
        </p:spPr>
      </p:pic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4448175" y="4714875"/>
            <a:ext cx="8763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C2762B"/>
                </a:solidFill>
                <a:latin typeface="Noto Serif SC"/>
                <a:ea typeface="Noto Serif SC"/>
              </a:rPr>
              <a:t>04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5553075" y="4791075"/>
            <a:ext cx="5286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F2A26"/>
                </a:solidFill>
                <a:latin typeface="Noto Serif SC"/>
                <a:ea typeface="Noto Serif SC"/>
              </a:rPr>
              <a:t>商业模式及创新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553075" y="5086350"/>
            <a:ext cx="5286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48D"/>
                </a:solidFill>
                <a:latin typeface="Microsoft YaHei"/>
                <a:ea typeface="Microsoft YaHei"/>
              </a:rPr>
              <a:t>成本</a:t>
            </a:r>
            <a:r>
              <a:rPr lang="en-US" sz="1050">
                <a:solidFill>
                  <a:srgbClr val="8A948D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8A948D"/>
                </a:solidFill>
                <a:latin typeface="Microsoft YaHei"/>
                <a:ea typeface="Microsoft YaHei"/>
              </a:rPr>
              <a:t>收益</a:t>
            </a:r>
            <a:r>
              <a:rPr lang="en-US" sz="1050">
                <a:solidFill>
                  <a:srgbClr val="8A948D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8A948D"/>
                </a:solidFill>
                <a:latin typeface="Microsoft YaHei"/>
                <a:ea typeface="Microsoft YaHei"/>
              </a:rPr>
              <a:t>市场</a:t>
            </a:r>
            <a:r>
              <a:rPr lang="en-US" sz="1050">
                <a:solidFill>
                  <a:srgbClr val="8A948D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8A948D"/>
                </a:solidFill>
                <a:latin typeface="Microsoft YaHei"/>
                <a:ea typeface="Microsoft YaHei"/>
              </a:rPr>
              <a:t>行业价值</a:t>
            </a:r>
            <a:r>
              <a:rPr lang="en-US" sz="1050">
                <a:solidFill>
                  <a:srgbClr val="8A948D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8A948D"/>
                </a:solidFill>
                <a:latin typeface="Microsoft YaHei"/>
                <a:ea typeface="Microsoft YaHei"/>
              </a:rPr>
              <a:t>公益计划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11068050" y="480060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3F1EA"/>
          </a:solidFill>
          <a:ln/>
        </p:spPr>
        <p:txBody>
          <a:bodyPr/>
          <a:p/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1191875" y="4924425"/>
            <a:ext cx="190500" cy="1905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49" name="" descr="&lt;Slide style={{ padding: 0, background: '#0E4A37' }}&gt;&#10;  &lt;Box style={{ width: '100%', height: '100%', position: 'relative', justifyContent: 'center', padding: '0 72px' }}&gt;&#10;    {/* 背景网格纹理 */}&#10;    &lt;Box style={{ position: 'absolute', top: 0, left: 0, width: '100%', height: '100%', opacity: 0.05, background: 'linear-gradient(0deg, transparent 31px, #FFFFFF 32px), linear-gradient(90deg, transparent 31px, #FFFFFF 32px)', backgroundSize: '32px 32px' }} /&gt;&#10;    {/* 超大半透明章节数字 */}&#10;    &lt;Text style={{ position: 'absolute', right: 64, bottom: 8, fontSize: 260, fontWeight: 'bold', color: '#C2762B', opacity: 0.12, fontFamily: 'Noto Serif SC, Georgia, serif', lineHeight: 1 }}&gt;01&lt;/Text&gt;&#10;    &lt;Box style={{ position: 'relative', zIndex: 1, gap: 22 }}&gt;&#10;      &lt;Text style={{ fontSize: 15, color: '#C2762B', letterSpacing: 5, fontWeight: 600 }}&gt;PART 01 · 需求洞察&lt;/Text&gt;&#10;      &lt;Text style={{ fontSize: 44, fontWeight: 'bold', color: '#FFFFFF', fontFamily: 'Noto Serif SC, Georgia, serif', lineHeight: 1.35 }}&gt;&#10;        每一项伟大的研究背后，&lt;br /&gt;都有 99% 不为人知的重复劳动。&#10;      &lt;/Text&gt;&#10;      &lt;Box style={{ width: 72, height: 4, background: '#C2762B', borderRadius: 2 }} /&gt;&#10;      &lt;Text style={{ fontSize: 16, color: 'rgba(255,255,255,0.75)', lineHeight: 1.8 }}&gt;科研选题、英文精读、实验设计、论文写作……&lt;br /&gt;机械环节正一点点吞掉本该用于思考的时间。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4A37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31000">
                <a:srgbClr val="FFFFFF">
                  <a:alpha val="0"/>
                </a:srgbClr>
              </a:gs>
              <a:gs pos="32000">
                <a:srgbClr val="FFFFFF">
                  <a:alpha val="5000"/>
                </a:srgbClr>
              </a:gs>
            </a:gsLst>
            <a:lin ang="16200000" scaled="1"/>
          </a:gradFill>
          <a:ln/>
        </p:spPr>
        <p:txBody>
          <a:bodyPr/>
          <a:p/>
        </p:txBody>
      </p:sp>
      <p:sp>
        <p:nvSpPr>
          <p:cNvPr id="5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31000">
                <a:srgbClr val="FFFFFF">
                  <a:alpha val="0"/>
                </a:srgbClr>
              </a:gs>
              <a:gs pos="32000">
                <a:srgbClr val="FFFFFF">
                  <a:alpha val="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8629650" y="3810000"/>
            <a:ext cx="2952750" cy="2971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0" b="1">
                <a:solidFill>
                  <a:srgbClr val="C2762B">
                    <a:alpha val="12000"/>
                  </a:srgbClr>
                </a:solidFill>
                <a:latin typeface="Noto Serif SC"/>
                <a:ea typeface="Noto Serif SC"/>
              </a:rPr>
              <a:t>01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85800" y="2000250"/>
            <a:ext cx="10820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375">
                <a:solidFill>
                  <a:srgbClr val="C2762B"/>
                </a:solidFill>
                <a:latin typeface="Microsoft YaHei"/>
                <a:ea typeface="Microsoft YaHei"/>
              </a:rPr>
              <a:t xml:space="preserve">PART 01 · </a:t>
            </a:r>
            <a:r>
              <a:rPr lang="zh-CN" sz="1125" b="1" spc="375">
                <a:solidFill>
                  <a:srgbClr val="C2762B"/>
                </a:solidFill>
                <a:latin typeface="Microsoft YaHei"/>
                <a:ea typeface="Microsoft YaHei"/>
              </a:rPr>
              <a:t>需求洞察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2381250"/>
            <a:ext cx="10820400" cy="1362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300" b="1">
                <a:solidFill>
                  <a:srgbClr val="FFFFFF"/>
                </a:solidFill>
                <a:latin typeface="Noto Serif SC"/>
                <a:ea typeface="Noto Serif SC"/>
              </a:rPr>
              <a:t>每一项伟大的研究背后，</a:t>
            </a:r>
            <a:endParaRPr/>
          </a:p>
          <a:p>
            <a:pPr>
              <a:lnSpc>
                <a:spcPct val="135000"/>
              </a:lnSpc>
            </a:pPr>
            <a:r>
              <a:rPr lang="zh-CN" sz="3300" b="1">
                <a:solidFill>
                  <a:srgbClr val="FFFFFF"/>
                </a:solidFill>
                <a:latin typeface="Noto Serif SC"/>
                <a:ea typeface="Noto Serif SC"/>
              </a:rPr>
              <a:t>都有</a:t>
            </a:r>
            <a:r>
              <a:rPr lang="en-US" sz="3300" b="1">
                <a:solidFill>
                  <a:srgbClr val="FFFFFF"/>
                </a:solidFill>
                <a:latin typeface="Noto Serif SC"/>
                <a:ea typeface="Noto Serif SC"/>
              </a:rPr>
              <a:t xml:space="preserve"> 99% </a:t>
            </a:r>
            <a:r>
              <a:rPr lang="zh-CN" sz="3300" b="1">
                <a:solidFill>
                  <a:srgbClr val="FFFFFF"/>
                </a:solidFill>
                <a:latin typeface="Noto Serif SC"/>
                <a:ea typeface="Noto Serif SC"/>
              </a:rPr>
              <a:t>不为人知的重复劳动。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685800" y="3952875"/>
            <a:ext cx="685800" cy="38100"/>
          </a:xfrm>
          <a:prstGeom prst="roundRect">
            <a:avLst>
              <a:gd name="adj" fmla="val 50000"/>
            </a:avLst>
          </a:prstGeom>
          <a:solidFill>
            <a:srgbClr val="C2762B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85800" y="4200525"/>
            <a:ext cx="10820400" cy="6667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00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科研选题、英文精读、实验设计、论文写作……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机械环节正一点点吞掉本该用于思考的时间。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58" name="" descr="&lt;Slide style={{ padding: 0, background: '#F6F4EE' }}&gt;&#10;  {/* A 标题块 */}&#10;  &lt;Box style={{ flexDirection: 'row', alignItems: 'center', padding: '20px 60px 10px', gap: 14 }}&gt;&#10;    &lt;Box style={{ width: 4, height: 40, background: '#1B7A5E', borderRadius: 2 }} /&gt;&#10;    &lt;Box&gt;&#10;      &lt;Box style={{ flexDirection: 'row', alignItems: 'center', gap: 10 }}&gt;&#10;        &lt;Box style={{ background: '#1B7A5E', borderRadius: 4, padding: '3px 10px' }}&gt;&lt;Text style={{ fontSize: 12, color: '#FFFFFF', fontWeight: 600 }}&gt;PART 01 · 需求洞察&lt;/Text&gt;&lt;/Box&gt;&#10;        &lt;Text style={{ fontSize: 13, color: '#8A948D' }}&gt;八大痛点 · 一一对应解法&lt;/Text&gt;&#10;      &lt;/Box&gt;&#10;      &lt;Text style={{ fontSize: 28, fontWeight: 'bold', color: '#1F2A26', fontFamily: 'Noto Serif SC, Georgia, serif', marginTop: 6 }}&gt;科研痛点 × ScienceX 解法 —— 每条都可量化&lt;/Text&gt;&#10;    &lt;/Box&gt;&#10;  &lt;/Box&gt;&#10;  {/* B 内容区 */}&#10;  &lt;Box style={{ padding: '8px 60px 10px', height: 500 }}&gt;&#10;    &lt;Table&#10;      style={{ width: '100%', height: 412 }}&#10;      defaultTextStyle={{ fontSize: 13.5, textAlign: 'left', color: '#1F2A26' }}&#10;      defaultCellStyle={{&#10;        border: { left: { width: 1, color: '#E6E2D6' }, right: { width: 1, color: '#E6E2D6' }, top: { width: 1, color: '#E6E2D6' }, bottom: { width: 1, color: '#E6E2D6' } },&#10;      }}&#10;      cells={[&#10;        [&#10;          { text: '科研环节', textStyle: { bold: true, color: '#FFFFFF', fontSize: 14 }, cellStyle: { background: { color: '#1B7A5E' } } },&#10;          { text: '😫 真实痛点', textStyle: { bold: true, color: '#FFFFFF', fontSize: 14 }, cellStyle: { background: { color: '#B0413E' } } },&#10;          { text: '✨ ScienceX 的解法', textStyle: { bold: true, color: '#FFFFFF', fontSize: 14 }, cellStyle: { background: { color: '#1B7A5E' } } },&#10;          { text: '量化收益', textStyle: { bold: true, color: '#FFFFFF', fontSize: 14 }, cellStyle: { background: { color: '#C2762B' } } },&#10;        ],&#10;        ['选题', '不知从哪找方向、判断不了可行性', '多源文献检索 + 选题推荐 + 5 维可行性评估 + 一键开题报告', { text: '调研耗时 ↓60%', textStyle: { bold: true, color: '#C2762B' } }],&#10;        ['读文献', '英文阅读慢、读不懂、读了忘', '划词翻译 + 思维导图 + 七段式总结 + 3D 引用图谱', { text: '单篇精读 ↓50%', textStyle: { bold: true, color: '#C2762B' } }],&#10;        [{ text: '实验', cellStyle: { background: { color: '#F0EFE8' } } }, { text: '参数乱记、GPU 抢不到、方案拍脑袋', cellStyle: { background: { color: '#F0EFE8' } } }, { text: '参数看板 + GPU 可视化 + 消融方案矩阵 + SOTA 对标', cellStyle: { background: { color: '#F0EFE8' } } }, { text: '方案设计 ↑40%', textStyle: { bold: true, color: '#C2762B' }, cellStyle: { background: { color: '#F0EFE8' } } }],&#10;        ['数据分析', '不会画图、看不懂结果', '10 类学术图表模板 + AI 图表解读与建议', { text: '出图解读 ↓70%', textStyle: { bold: true, color: '#C2762B' } }],&#10;        [{ text: '写作', cellStyle: { background: { color: '#F0EFE8' } } }, { text: '表达不地道、怕查重、降重难', cellStyle: { background: { color: '#F0EFE8' } } }, { text: '中英互译 + 学术润色 + AI 查重 + 保义降重', cellStyle: { background: { color: '#F0EFE8' } } }, { text: '改稿轮次 ↓50%', textStyle: { bold: true, color: '#C2762B' }, cellStyle: { background: { color: '#F0EFE8' } } }],&#10;        ['投稿', '不了解期刊、错过 deadline', 'CCF 期刊大全 + 投稿倒计时 + 智能匹配推荐', { text: '投稿准备 ↓40%', textStyle: { bold: true, color: '#C2762B' } }],&#10;        [{ text: '协作', cellStyle: { background: { color: '#F0EFE8' } } }, { text: '组会汇报累、导师意见散乱', cellStyle: { background: { color: '#F0EFE8' } } }, { text: 'PPT 一键生成 + 导师建议待办化 + 多智能体评审', cellStyle: { background: { color: '#F0EFE8' } } }, { text: '组会准备 ↓70%', textStyle: { bold: true, color: '#C2762B' }, cellStyle: { background: { color: '#F0EFE8' } } }],&#10;        ['知识', '资料散落各处、无法复用', '课题组空间 + RAG 知识库', { text: '知识复用显著提升', textStyle: { bold: true, color: '#C2762B' } }],&#10;      ]}&#10;    /&gt;&#10;    {/* 底部结论条 */}&#10;    &lt;Box style={{ flexDirection: 'row', alignItems: 'center', marginTop: 14, padding: '12px 18px', background: '#FAF0E1', borderLeft: '4px solid #C2762B', borderRadius: 6, gap: 12 }}&gt;&#10;      &lt;FAIcon name=&quot;lightbulb&quot; style={{ fill: '#C2762B', width: 18, height: 18 }} /&gt;&#10;      &lt;Text style={{ fontSize: 15.5, color: '#4A3A22', lineHeight: 1.6 }}&gt;&lt;span style={{ fontWeight: 'bold' }}&gt;总价值主张：&lt;/span&gt;把科研从「体力活」变成「思考活」——AI 承接 60% 以上重复劳动，让研究者把时间花在&lt;span style={{ fontWeight: 'bold', color: '#1B7A5E' }}&gt;提出好问题&lt;/span&gt;上。&lt;/Text&gt;&#10;    &lt;/Box&gt;&#10;  &lt;/Box&gt;&#10;  {/* C 页脚条 */}&#10;  &lt;Box style={{ flexDirection: 'row', justifyContent: 'space-between', alignItems: 'center', padding: '0 60px', height: 40, marginTop: 10 }}&gt;&#10;    &lt;Text style={{ fontSize: 12, color: '#8A948D' }}&gt;ScienceX · AI 科研工作台&lt;/Text&gt;&#10;    &lt;Text style={{ fontSize: 12, color: '#8A948D' }}&gt;03 / 22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4EE"/>
          </a:solidFill>
          <a:ln/>
        </p:spPr>
        <p:txBody>
          <a:bodyPr/>
          <a:p/>
        </p:txBody>
      </p:sp>
      <p:sp>
        <p:nvSpPr>
          <p:cNvPr id="60" name=""/>
          <p:cNvSpPr/>
          <p:nvPr/>
        </p:nvSpPr>
        <p:spPr>
          <a:xfrm rot="0" flipH="0" flipV="0">
            <a:off x="571500" y="295275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B7A5E"/>
          </a:solidFill>
          <a:ln/>
        </p:spPr>
        <p:txBody>
          <a:bodyPr/>
          <a:p/>
        </p:txBody>
      </p:sp>
      <p:sp>
        <p:nvSpPr>
          <p:cNvPr id="61" name=""/>
          <p:cNvSpPr/>
          <p:nvPr/>
        </p:nvSpPr>
        <p:spPr>
          <a:xfrm rot="0" flipH="0" flipV="0">
            <a:off x="742950" y="190500"/>
            <a:ext cx="1247775" cy="200025"/>
          </a:xfrm>
          <a:prstGeom prst="roundRect">
            <a:avLst>
              <a:gd name="adj" fmla="val 19048"/>
            </a:avLst>
          </a:prstGeom>
          <a:solidFill>
            <a:srgbClr val="1B7A5E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838200" y="219075"/>
            <a:ext cx="1057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PART 01 · </a:t>
            </a: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需求洞察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2085975" y="219075"/>
            <a:ext cx="1343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48D"/>
                </a:solidFill>
                <a:latin typeface="Microsoft YaHei"/>
                <a:ea typeface="Microsoft YaHei"/>
              </a:rPr>
              <a:t>八大痛点</a:t>
            </a:r>
            <a:r>
              <a:rPr lang="en-US" sz="975">
                <a:solidFill>
                  <a:srgbClr val="8A948D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48D"/>
                </a:solidFill>
                <a:latin typeface="Microsoft YaHei"/>
                <a:ea typeface="Microsoft YaHei"/>
              </a:rPr>
              <a:t>一一对应解法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742950" y="447675"/>
            <a:ext cx="54768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F2A26"/>
                </a:solidFill>
                <a:latin typeface="Noto Serif SC"/>
                <a:ea typeface="Noto Serif SC"/>
              </a:rPr>
              <a:t>科研痛点</a:t>
            </a:r>
            <a:r>
              <a:rPr lang="en-US" sz="2100" b="1">
                <a:solidFill>
                  <a:srgbClr val="1F2A26"/>
                </a:solidFill>
                <a:latin typeface="Noto Serif SC"/>
                <a:ea typeface="Noto Serif SC"/>
              </a:rPr>
              <a:t xml:space="preserve"> × ScienceX </a:t>
            </a:r>
            <a:r>
              <a:rPr lang="zh-CN" sz="2100" b="1">
                <a:solidFill>
                  <a:srgbClr val="1F2A26"/>
                </a:solidFill>
                <a:latin typeface="Noto Serif SC"/>
                <a:ea typeface="Noto Serif SC"/>
              </a:rPr>
              <a:t>解法</a:t>
            </a:r>
            <a:r>
              <a:rPr lang="en-US" sz="2100" b="1">
                <a:solidFill>
                  <a:srgbClr val="1F2A26"/>
                </a:solidFill>
                <a:latin typeface="Noto Serif SC"/>
                <a:ea typeface="Noto Serif SC"/>
              </a:rPr>
              <a:t xml:space="preserve"> —— </a:t>
            </a:r>
            <a:r>
              <a:rPr lang="zh-CN" sz="2100" b="1">
                <a:solidFill>
                  <a:srgbClr val="1F2A26"/>
                </a:solidFill>
                <a:latin typeface="Noto Serif SC"/>
                <a:ea typeface="Noto Serif SC"/>
              </a:rPr>
              <a:t>每条都可量化</a:t>
            </a:r>
            <a:endParaRPr/>
          </a:p>
        </p:txBody>
      </p:sp>
      <p:graphicFrame>
        <p:nvGraphicFramePr>
          <p:cNvPr id="65" name=""/>
          <p:cNvGraphicFramePr/>
          <p:nvPr/>
        </p:nvGraphicFramePr>
        <p:xfrm rot="0" flipH="0" flipV="0">
          <a:off x="571500" y="942975"/>
          <a:ext cx="11049000" cy="3924300"/>
        </p:xfrm>
        <a:graphic>
          <a:graphicData uri="http://schemas.openxmlformats.org/drawingml/2006/table">
            <a:tbl>
              <a:tblGrid>
                <a:gridCol w="920516">
                  <a:extLst>
                    <a:ext uri="{9D8B030D-6E8A-4147-A177-3AD203B41FA5}">
                      <a16:colId val="1"/>
                    </a:ext>
                  </a:extLst>
                </a:gridCol>
                <a:gridCol w="3249871">
                  <a:extLst>
                    <a:ext uri="{9D8B030D-6E8A-4147-A177-3AD203B41FA5}">
                      <a16:colId val="2"/>
                    </a:ext>
                  </a:extLst>
                </a:gridCol>
                <a:gridCol w="5228419">
                  <a:extLst>
                    <a:ext uri="{9D8B030D-6E8A-4147-A177-3AD203B41FA5}">
                      <a16:colId val="3"/>
                    </a:ext>
                  </a:extLst>
                </a:gridCol>
                <a:gridCol w="1650194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449078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科研环节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7A5E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😫 真实痛点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0413E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✨ ScienceX 的解法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7A5E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量化收益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2762B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3440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选题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不知从哪找方向、判断不了可行性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多源文献检索 + 选题推荐 + 5 维可行性评估 + 一键开题报告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C2762B"/>
                          </a:solidFill>
                          <a:latin typeface="Microsoft YaHei"/>
                          <a:ea typeface="Microsoft YaHei"/>
                        </a:rPr>
                        <a:t>调研耗时 ↓60%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3440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读文献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英文阅读慢、读不懂、读了忘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划词翻译 + 思维导图 + 七段式总结 + 3D 引用图谱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C2762B"/>
                          </a:solidFill>
                          <a:latin typeface="Microsoft YaHei"/>
                          <a:ea typeface="Microsoft YaHei"/>
                        </a:rPr>
                        <a:t>单篇精读 ↓50%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3440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实验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EFE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参数乱记、GPU 抢不到、方案拍脑袋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EFE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参数看板 + GPU 可视化 + 消融方案矩阵 + SOTA 对标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EFE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C2762B"/>
                          </a:solidFill>
                          <a:latin typeface="Microsoft YaHei"/>
                          <a:ea typeface="Microsoft YaHei"/>
                        </a:rPr>
                        <a:t>方案设计 ↑40%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EFE8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3440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数据分析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不会画图、看不懂结果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10 类学术图表模板 + AI 图表解读与建议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C2762B"/>
                          </a:solidFill>
                          <a:latin typeface="Microsoft YaHei"/>
                          <a:ea typeface="Microsoft YaHei"/>
                        </a:rPr>
                        <a:t>出图解读 ↓70%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3440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写作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EFE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表达不地道、怕查重、降重难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EFE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中英互译 + 学术润色 + AI 查重 + 保义降重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EFE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C2762B"/>
                          </a:solidFill>
                          <a:latin typeface="Microsoft YaHei"/>
                          <a:ea typeface="Microsoft YaHei"/>
                        </a:rPr>
                        <a:t>改稿轮次 ↓50%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EFE8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43440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投稿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不了解期刊、错过 deadline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CCF 期刊大全 + 投稿倒计时 + 智能匹配推荐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C2762B"/>
                          </a:solidFill>
                          <a:latin typeface="Microsoft YaHei"/>
                          <a:ea typeface="Microsoft YaHei"/>
                        </a:rPr>
                        <a:t>投稿准备 ↓40%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43440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协作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EFE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组会汇报累、导师意见散乱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EFE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PPT 一键生成 + 导师建议待办化 + 多智能体评审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EFE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C2762B"/>
                          </a:solidFill>
                          <a:latin typeface="Microsoft YaHei"/>
                          <a:ea typeface="Microsoft YaHei"/>
                        </a:rPr>
                        <a:t>组会准备 ↓70%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EFE8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43440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知识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资料散落各处、无法复用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F2A26"/>
                          </a:solidFill>
                          <a:latin typeface="Microsoft YaHei"/>
                          <a:ea typeface="Microsoft YaHei"/>
                        </a:rPr>
                        <a:t>课题组空间 + RAG 知识库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C2762B"/>
                          </a:solidFill>
                          <a:latin typeface="Microsoft YaHei"/>
                          <a:ea typeface="Microsoft YaHei"/>
                        </a:rPr>
                        <a:t>知识复用显著提升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</a:tbl>
          </a:graphicData>
        </a:graphic>
      </p:graphicFrame>
      <p:sp>
        <p:nvSpPr>
          <p:cNvPr id="66" name=""/>
          <p:cNvSpPr/>
          <p:nvPr/>
        </p:nvSpPr>
        <p:spPr>
          <a:xfrm rot="0" flipH="0" flipV="0">
            <a:off x="609600" y="5000625"/>
            <a:ext cx="11049000" cy="514350"/>
          </a:xfrm>
          <a:prstGeom prst="roundRect">
            <a:avLst>
              <a:gd name="adj" fmla="val 11111"/>
            </a:avLst>
          </a:prstGeom>
          <a:solidFill>
            <a:srgbClr val="FAF0E1"/>
          </a:solidFill>
          <a:ln/>
        </p:spPr>
        <p:txBody>
          <a:bodyPr/>
          <a:p/>
        </p:txBody>
      </p:sp>
      <p:sp>
        <p:nvSpPr>
          <p:cNvPr id="67" name=""/>
          <p:cNvSpPr/>
          <p:nvPr/>
        </p:nvSpPr>
        <p:spPr>
          <a:xfrm rot="0" flipH="0" flipV="0">
            <a:off x="609600" y="5000625"/>
            <a:ext cx="11049000" cy="514350"/>
          </a:xfrm>
          <a:custGeom>
            <a:pathLst>
              <a:path w="1160" h="54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52"/>
                </a:lnTo>
                <a:cubicBezTo>
                  <a:pt x="4" y="53"/>
                  <a:pt x="5" y="54"/>
                  <a:pt x="6" y="54"/>
                </a:cubicBezTo>
                <a:cubicBezTo>
                  <a:pt x="3" y="54"/>
                  <a:pt x="0" y="51"/>
                  <a:pt x="0" y="48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C2762B"/>
          </a:solidFill>
          <a:ln/>
        </p:spPr>
        <p:txBody>
          <a:bodyPr/>
          <a:p/>
        </p:txBody>
      </p:sp>
      <p:pic>
        <p:nvPicPr>
          <p:cNvPr id="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81050" y="5172075"/>
            <a:ext cx="171450" cy="171450"/>
          </a:xfrm>
          <a:prstGeom prst="rect">
            <a:avLst/>
          </a:prstGeom>
          <a:ln/>
        </p:spPr>
      </p:pic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066800" y="5114925"/>
            <a:ext cx="7848600" cy="2857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63" b="1">
                <a:solidFill>
                  <a:srgbClr val="4A3A22"/>
                </a:solidFill>
                <a:latin typeface="Microsoft YaHei"/>
                <a:ea typeface="Microsoft YaHei"/>
              </a:rPr>
              <a:t>总价值主张：</a:t>
            </a:r>
            <a:r>
              <a:rPr lang="zh-CN" sz="1163">
                <a:solidFill>
                  <a:srgbClr val="4A3A22"/>
                </a:solidFill>
                <a:latin typeface="Microsoft YaHei"/>
                <a:ea typeface="Microsoft YaHei"/>
              </a:rPr>
              <a:t>把科研从「体力活」变成「思考活」——</a:t>
            </a:r>
            <a:r>
              <a:rPr lang="en-US" sz="1163">
                <a:solidFill>
                  <a:srgbClr val="4A3A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63">
                <a:solidFill>
                  <a:srgbClr val="4A3A22"/>
                </a:solidFill>
                <a:latin typeface="Microsoft YaHei"/>
                <a:ea typeface="Microsoft YaHei"/>
              </a:rPr>
              <a:t>承接</a:t>
            </a:r>
            <a:r>
              <a:rPr lang="en-US" sz="1163">
                <a:solidFill>
                  <a:srgbClr val="4A3A22"/>
                </a:solidFill>
                <a:latin typeface="Microsoft YaHei"/>
                <a:ea typeface="Microsoft YaHei"/>
              </a:rPr>
              <a:t xml:space="preserve"> 60% </a:t>
            </a:r>
            <a:r>
              <a:rPr lang="zh-CN" sz="1163">
                <a:solidFill>
                  <a:srgbClr val="4A3A22"/>
                </a:solidFill>
                <a:latin typeface="Microsoft YaHei"/>
                <a:ea typeface="Microsoft YaHei"/>
              </a:rPr>
              <a:t>以上重复劳动，让研究者把时间花在</a:t>
            </a:r>
            <a:r>
              <a:rPr lang="zh-CN" sz="1163" b="1">
                <a:solidFill>
                  <a:srgbClr val="1B7A5E"/>
                </a:solidFill>
                <a:latin typeface="Microsoft YaHei"/>
                <a:ea typeface="Microsoft YaHei"/>
              </a:rPr>
              <a:t>提出好问题</a:t>
            </a:r>
            <a:r>
              <a:rPr lang="zh-CN" sz="1163">
                <a:solidFill>
                  <a:srgbClr val="4A3A22"/>
                </a:solidFill>
                <a:latin typeface="Microsoft YaHei"/>
                <a:ea typeface="Microsoft YaHei"/>
              </a:rPr>
              <a:t>上。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571500" y="5848350"/>
            <a:ext cx="13049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48D"/>
                </a:solidFill>
                <a:latin typeface="Microsoft YaHei"/>
                <a:ea typeface="Microsoft YaHei"/>
              </a:rPr>
              <a:t xml:space="preserve">ScienceX · AI </a:t>
            </a:r>
            <a:r>
              <a:rPr lang="zh-CN" sz="900">
                <a:solidFill>
                  <a:srgbClr val="8A948D"/>
                </a:solidFill>
                <a:latin typeface="Microsoft YaHei"/>
                <a:ea typeface="Microsoft YaHei"/>
              </a:rPr>
              <a:t>科研工作台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11229975" y="584835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48D"/>
                </a:solidFill>
                <a:latin typeface="Microsoft YaHei"/>
                <a:ea typeface="Microsoft YaHei"/>
              </a:rPr>
              <a:t>03 / 22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72" name="" descr="&lt;Slide style={{ padding: 0, background: '#0E4A37' }}&gt;&#10;  &lt;Box style={{ width: '100%', height: '100%', position: 'relative', justifyContent: 'center', padding: '0 72px' }}&gt;&#10;    &lt;Box style={{ position: 'absolute', top: 0, left: 0, width: '100%', height: '100%', opacity: 0.05, background: 'linear-gradient(0deg, transparent 31px, #FFFFFF 32px), linear-gradient(90deg, transparent 31px, #FFFFFF 32px)', backgroundSize: '32px 32px' }} /&gt;&#10;    &lt;Text style={{ position: 'absolute', right: 64, bottom: 8, fontSize: 260, fontWeight: 'bold', color: '#C2762B', opacity: 0.12, fontFamily: 'Noto Serif SC, Georgia, serif', lineHeight: 1 }}&gt;02&lt;/Text&gt;&#10;    &lt;Box style={{ position: 'relative', zIndex: 1, gap: 22 }}&gt;&#10;      &lt;Text style={{ fontSize: 15, color: '#C2762B', letterSpacing: 5, fontWeight: 600 }}&gt;PART 02 · 团队及产品介绍&lt;/Text&gt;&#10;      &lt;Text style={{ fontSize: 44, fontWeight: 'bold', color: '#FFFFFF', fontFamily: 'Noto Serif SC, Georgia, serif', lineHeight: 1.35 }}&gt;&#10;        对话即工作台，工具即智能体。&lt;br /&gt;把繁复机械交给 AI，让研究者专注创新本身。&#10;      &lt;/Text&gt;&#10;      &lt;Box style={{ width: 72, height: 4, background: '#C2762B', borderRadius: 2 }} /&gt;&#10;      &lt;Text style={{ fontSize: 16, color: 'rgba(255,255,255,0.75)', lineHeight: 1.8 }}&gt;团队画像 · 品牌文案 · 产品定位 · 用户画像 · 功能矩阵 · 竞品差异化 · 评分亮点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4A37"/>
          </a:solidFill>
          <a:ln/>
        </p:spPr>
        <p:txBody>
          <a:bodyPr/>
          <a:p/>
        </p:txBody>
      </p:sp>
      <p:sp>
        <p:nvSpPr>
          <p:cNvPr id="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31000">
                <a:srgbClr val="FFFFFF">
                  <a:alpha val="0"/>
                </a:srgbClr>
              </a:gs>
              <a:gs pos="32000">
                <a:srgbClr val="FFFFFF">
                  <a:alpha val="5000"/>
                </a:srgbClr>
              </a:gs>
            </a:gsLst>
            <a:lin ang="16200000" scaled="1"/>
          </a:gradFill>
          <a:ln/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31000">
                <a:srgbClr val="FFFFFF">
                  <a:alpha val="0"/>
                </a:srgbClr>
              </a:gs>
              <a:gs pos="32000">
                <a:srgbClr val="FFFFFF">
                  <a:alpha val="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8286750" y="3810000"/>
            <a:ext cx="3295650" cy="2971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0" b="1">
                <a:solidFill>
                  <a:srgbClr val="C2762B">
                    <a:alpha val="12000"/>
                  </a:srgbClr>
                </a:solidFill>
                <a:latin typeface="Noto Serif SC"/>
                <a:ea typeface="Noto Serif SC"/>
              </a:rPr>
              <a:t>02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85800" y="2162175"/>
            <a:ext cx="10820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375">
                <a:solidFill>
                  <a:srgbClr val="C2762B"/>
                </a:solidFill>
                <a:latin typeface="Microsoft YaHei"/>
                <a:ea typeface="Microsoft YaHei"/>
              </a:rPr>
              <a:t xml:space="preserve">PART 02 · </a:t>
            </a:r>
            <a:r>
              <a:rPr lang="zh-CN" sz="1125" b="1" spc="375">
                <a:solidFill>
                  <a:srgbClr val="C2762B"/>
                </a:solidFill>
                <a:latin typeface="Microsoft YaHei"/>
                <a:ea typeface="Microsoft YaHei"/>
              </a:rPr>
              <a:t>团队及产品介绍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685800" y="2543175"/>
            <a:ext cx="10820400" cy="1362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300" b="1">
                <a:solidFill>
                  <a:srgbClr val="FFFFFF"/>
                </a:solidFill>
                <a:latin typeface="Noto Serif SC"/>
                <a:ea typeface="Noto Serif SC"/>
              </a:rPr>
              <a:t>对话即工作台，工具即智能体。</a:t>
            </a:r>
            <a:endParaRPr/>
          </a:p>
          <a:p>
            <a:pPr>
              <a:lnSpc>
                <a:spcPct val="135000"/>
              </a:lnSpc>
            </a:pPr>
            <a:r>
              <a:rPr lang="zh-CN" sz="3300" b="1">
                <a:solidFill>
                  <a:srgbClr val="FFFFFF"/>
                </a:solidFill>
                <a:latin typeface="Noto Serif SC"/>
                <a:ea typeface="Noto Serif SC"/>
              </a:rPr>
              <a:t>把繁复机械交给</a:t>
            </a:r>
            <a:r>
              <a:rPr lang="en-US" sz="3300" b="1">
                <a:solidFill>
                  <a:srgbClr val="FFFFFF"/>
                </a:solidFill>
                <a:latin typeface="Noto Serif SC"/>
                <a:ea typeface="Noto Serif SC"/>
              </a:rPr>
              <a:t xml:space="preserve"> AI</a:t>
            </a:r>
            <a:r>
              <a:rPr lang="zh-CN" sz="3300" b="1">
                <a:solidFill>
                  <a:srgbClr val="FFFFFF"/>
                </a:solidFill>
                <a:latin typeface="Noto Serif SC"/>
                <a:ea typeface="Noto Serif SC"/>
              </a:rPr>
              <a:t>，让研究者专注创新本身。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685800" y="4114800"/>
            <a:ext cx="685800" cy="38100"/>
          </a:xfrm>
          <a:prstGeom prst="roundRect">
            <a:avLst>
              <a:gd name="adj" fmla="val 50000"/>
            </a:avLst>
          </a:prstGeom>
          <a:solidFill>
            <a:srgbClr val="C2762B"/>
          </a:solidFill>
          <a:ln/>
        </p:spPr>
        <p:txBody>
          <a:bodyPr/>
          <a:p/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685800" y="4362450"/>
            <a:ext cx="10820400" cy="3333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00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团队画像</a:t>
            </a:r>
            <a:r>
              <a:rPr lang="en-US" sz="1200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品牌文案</a:t>
            </a:r>
            <a:r>
              <a:rPr lang="en-US" sz="1200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产品定位</a:t>
            </a:r>
            <a:r>
              <a:rPr lang="en-US" sz="1200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用户画像</a:t>
            </a:r>
            <a:r>
              <a:rPr lang="en-US" sz="1200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功能矩阵</a:t>
            </a:r>
            <a:r>
              <a:rPr lang="en-US" sz="1200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竞品差异化</a:t>
            </a:r>
            <a:r>
              <a:rPr lang="en-US" sz="1200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评分亮点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padding: 0, background: '#F6F4EE' }}&gt;&#10;  {/* A 标题块 */}&#10;  &lt;Box style={{ flexDirection: 'row', alignItems: 'center', padding: '20px 60px 8px', gap: 14 }}&gt;&#10;    &lt;Box style={{ width: 4, height: 40, background: '#1B7A5E', borderRadius: 2 }} /&gt;&#10;    &lt;Box&gt;&#10;      &lt;Box style={{ flexDirection: 'row', alignItems: 'center', gap: 10 }}&gt;&#10;        &lt;Box style={{ background: '#1B7A5E', borderRadius: 4, padding: '3px 10px' }}&gt;&lt;Text style={{ fontSize: 12, color: '#FFFFFF', fontWeight: 600 }}&gt;PART 02 · 团队及产品&lt;/Text&gt;&lt;/Box&gt;&#10;        &lt;Text style={{ fontSize: 13, color: '#8A948D' }}&gt;产品 × 工程 × 算法三线并置&lt;/Text&gt;&#10;      &lt;/Box&gt;&#10;      &lt;Text style={{ fontSize: 28, fontWeight: 'bold', color: '#1F2A26', fontFamily: 'Noto Serif SC, Georgia, serif', marginTop: 6 }}&gt;一支「懂科研」的跨学科团队&lt;/Text&gt;&#10;    &lt;/Box&gt;&#10;  &lt;/Box&gt;&#10;  {/* B 内容区 */}&#10;  &lt;Box style={{ padding: '6px 60px 0', height: 470 }}&gt;&#10;    &lt;Box style={{ flexDirection: 'row', gap: 24, height: 372, alignItems: 'flex-end', paddingTop: 20 }}&gt;&#10;      {[&#10;        { role: '产品负责人', name: '张 ××', ic: 'user-tie', bar: '#1B7A5E', lift: false, items: ['前沿科研一线经历', '13 大功能模块 · 全流程 PRD 设计', '用户画像与场景深度调研', '定价与商业模式设计'] },&#10;        { role: '全栈开发工程师', name: '李 ××', ic: 'code', bar: '#4A5568', lift: false, items: ['React 18 + TypeScript 前端', 'Node.js + Express 后端', '40+ REST/SSE 接口契约设计', 'HMAC 安全认证与限流治理'] },&#10;        { role: 'Agent 算法工程师', name: '王 ××', ic: 'robot', bar: '#C2762B', lift: true, items: ['灵犀多智能体引擎 · 8 类编排', '三层课题组记忆引擎', 'RAG 检索与提示词工程体系', '五角色专家评审团机制'] },&#10;      ].map((m, i) =&gt; (&#10;        &lt;Box key={i} style={{ flex: 1, height: m.lift ? '100%' : '90%', background: '#FFFFFF', borderRadius: 14, border: m.lift ? '2px solid #C2762B' : '1px solid #E6E2D6', boxShadow: m.lift ? '0 8px 28px rgba(194,118,43,0.14)' : '0 2px 12px rgba(0,0,0,0.06)', padding: '20px 20px 16px', flexDirection: 'column', gap: 12 }}&gt;&#10;          &lt;Box style={{ height: 5, background: m.bar, borderRadius: 3, margin: '-20px -20px 0', borderTopLeftRadius: 14, borderTopRightRadius: 14 }} /&gt;&#10;          &lt;Box style={{ flexDirection: 'row', alignItems: 'center', gap: 14 }}&gt;&#10;            &lt;Box style={{ width: 60, height: 60, borderRadius: '50%', background: m.bar + '18', justifyContent: 'center', alignItems: 'center' }}&gt;&#10;              &lt;FAIcon name={m.ic} style={{ fill: m.bar, width: 26, height: 26 }} /&gt;&#10;            &lt;/Box&gt;&#10;            &lt;Box&gt;&#10;              &lt;Text style={{ fontSize: 19, fontWeight: 'bold', color: '#1F2A26', fontFamily: 'Noto Serif SC, Georgia, serif' }}&gt;{m.name}&lt;/Text&gt;&#10;              &lt;Box style={{ background: '#E3F1EA', borderRadius: 10, padding: '2px 10px', marginTop: 4, alignSelf: 'flex-start' }}&gt;&lt;Text style={{ fontSize: 12, color: '#1B7A5E', fontWeight: 600 }}&gt;{m.role}&lt;/Text&gt;&lt;/Box&gt;&#10;            &lt;/Box&gt;&#10;          &lt;/Box&gt;&#10;          &lt;Box style={{ borderTop: '1px solid #EFECE2', paddingTop: 10, gap: 8, flexDirection: 'column' }}&gt;&#10;            {m.items.map((it, j) =&gt; (&#10;              &lt;Box key={j} style={{ flexDirection: 'row', gap: 8, alignItems: 'flex-start' }}&gt;&#10;                &lt;FAIcon name=&quot;check-circle&quot; style={{ fill: m.bar, width: 14, height: 14 }} /&gt;&#10;                &lt;Text style={{ fontSize: 13.5, color: '#4A554F', lineHeight: 1.5 }}&gt;{it}&lt;/Text&gt;&#10;              &lt;/Box&gt;&#10;            ))}&#10;          &lt;/Box&gt;&#10;        &lt;/Box&gt;&#10;      ))}&#10;    &lt;/Box&gt;&#10;    &lt;Box style={{ flexDirection: 'row', alignItems: 'center', marginTop: 16, padding: '12px 18px', background: '#E3F1EA', borderLeft: '4px solid #1B7A5E', borderRadius: 6, gap: 12 }}&gt;&#10;      &lt;FAIcon name=&quot;quote-left&quot; style={{ fill: '#1B7A5E', width: 18, height: 18 }} /&gt;&#10;      &lt;Text style={{ fontSize: 14.5, color: '#1F2A26', lineHeight: 1.6 }}&gt;我们不只是「给科研做软件的人」，我们本身就是科研流程的亲历者——每一个功能，都来自一次真实的深夜改稿与组会汇报。&lt;/Text&gt;&#10;    &lt;/Box&gt;&#10;  &lt;/Box&gt;&#10;  {/* C 页脚条 */}&#10;  &lt;Box style={{ flexDirection: 'row', justifyContent: 'space-between', alignItems: 'center', padding: '0 60px', height: 40, marginTop: 6 }}&gt;&#10;    &lt;Text style={{ fontSize: 12, color: '#8A948D' }}&gt;ScienceX · AI 科研工作台&lt;/Text&gt;&#10;    &lt;Text style={{ fontSize: 12, color: '#8A948D' }}&gt;05 / 22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4E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571500" y="295275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B7A5E"/>
          </a:solidFill>
          <a:ln/>
        </p:spPr>
        <p:txBody>
          <a:bodyPr/>
          <a:p/>
        </p:txBody>
      </p:sp>
      <p:sp>
        <p:nvSpPr>
          <p:cNvPr id="84" name=""/>
          <p:cNvSpPr/>
          <p:nvPr/>
        </p:nvSpPr>
        <p:spPr>
          <a:xfrm rot="0" flipH="0" flipV="0">
            <a:off x="742950" y="190500"/>
            <a:ext cx="1362075" cy="200025"/>
          </a:xfrm>
          <a:prstGeom prst="roundRect">
            <a:avLst>
              <a:gd name="adj" fmla="val 19048"/>
            </a:avLst>
          </a:prstGeom>
          <a:solidFill>
            <a:srgbClr val="1B7A5E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838200" y="219075"/>
            <a:ext cx="1171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PART 02 · </a:t>
            </a:r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</a:rPr>
              <a:t>团队及产品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200275" y="219075"/>
            <a:ext cx="1571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48D"/>
                </a:solidFill>
                <a:latin typeface="Microsoft YaHei"/>
                <a:ea typeface="Microsoft YaHei"/>
              </a:rPr>
              <a:t>产品</a:t>
            </a:r>
            <a:r>
              <a:rPr lang="en-US" sz="975">
                <a:solidFill>
                  <a:srgbClr val="8A948D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975">
                <a:solidFill>
                  <a:srgbClr val="8A948D"/>
                </a:solidFill>
                <a:latin typeface="Microsoft YaHei"/>
                <a:ea typeface="Microsoft YaHei"/>
              </a:rPr>
              <a:t>工程</a:t>
            </a:r>
            <a:r>
              <a:rPr lang="en-US" sz="975">
                <a:solidFill>
                  <a:srgbClr val="8A948D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975">
                <a:solidFill>
                  <a:srgbClr val="8A948D"/>
                </a:solidFill>
                <a:latin typeface="Microsoft YaHei"/>
                <a:ea typeface="Microsoft YaHei"/>
              </a:rPr>
              <a:t>算法三线并置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742950" y="447675"/>
            <a:ext cx="34671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F2A26"/>
                </a:solidFill>
                <a:latin typeface="Noto Serif SC"/>
                <a:ea typeface="Noto Serif SC"/>
              </a:rPr>
              <a:t>一支「懂科研」的跨学科团队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571500" y="1428750"/>
            <a:ext cx="3533775" cy="3019425"/>
          </a:xfrm>
          <a:prstGeom prst="roundRect">
            <a:avLst>
              <a:gd name="adj" fmla="val 4416"/>
            </a:avLst>
          </a:prstGeom>
          <a:solidFill>
            <a:srgbClr val="FFFFFF"/>
          </a:solidFill>
          <a:ln w="12700">
            <a:solidFill>
              <a:srgbClr val="E6E2D6"/>
            </a:solidFill>
            <a:prstDash val="solid"/>
          </a:ln>
          <a:effectLst>
            <a:outerShdw blurRad="114300" dist="19050" dir="54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9" name=""/>
          <p:cNvSpPr/>
          <p:nvPr/>
        </p:nvSpPr>
        <p:spPr>
          <a:xfrm rot="0" flipH="0" flipV="0">
            <a:off x="571500" y="1428750"/>
            <a:ext cx="3533775" cy="47625"/>
          </a:xfrm>
          <a:custGeom>
            <a:pathLst>
              <a:path w="371" h="5">
                <a:moveTo>
                  <a:pt x="4" y="0"/>
                </a:moveTo>
                <a:lnTo>
                  <a:pt x="367" y="0"/>
                </a:lnTo>
                <a:cubicBezTo>
                  <a:pt x="369" y="0"/>
                  <a:pt x="371" y="2"/>
                  <a:pt x="371" y="4"/>
                </a:cubicBezTo>
                <a:lnTo>
                  <a:pt x="371" y="4"/>
                </a:lnTo>
                <a:cubicBezTo>
                  <a:pt x="371" y="5"/>
                  <a:pt x="371" y="5"/>
                  <a:pt x="370" y="5"/>
                </a:cubicBezTo>
                <a:lnTo>
                  <a:pt x="1" y="5"/>
                </a:lnTo>
                <a:cubicBezTo>
                  <a:pt x="0" y="5"/>
                  <a:pt x="0" y="5"/>
                  <a:pt x="0" y="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1B7A5E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762000" y="1590675"/>
            <a:ext cx="571500" cy="571500"/>
          </a:xfrm>
          <a:custGeom>
            <a:pathLst>
              <a:path w="60" h="60">
                <a:moveTo>
                  <a:pt x="30" y="0"/>
                </a:moveTo>
                <a:lnTo>
                  <a:pt x="30" y="0"/>
                </a:lnTo>
                <a:cubicBezTo>
                  <a:pt x="47" y="0"/>
                  <a:pt x="60" y="13"/>
                  <a:pt x="60" y="30"/>
                </a:cubicBezTo>
                <a:lnTo>
                  <a:pt x="60" y="30"/>
                </a:lnTo>
                <a:cubicBezTo>
                  <a:pt x="60" y="47"/>
                  <a:pt x="47" y="60"/>
                  <a:pt x="30" y="60"/>
                </a:cubicBezTo>
                <a:lnTo>
                  <a:pt x="30" y="60"/>
                </a:lnTo>
                <a:cubicBezTo>
                  <a:pt x="13" y="60"/>
                  <a:pt x="0" y="47"/>
                  <a:pt x="0" y="30"/>
                </a:cubicBezTo>
                <a:lnTo>
                  <a:pt x="0" y="30"/>
                </a:lnTo>
                <a:cubicBezTo>
                  <a:pt x="0" y="13"/>
                  <a:pt x="13" y="0"/>
                  <a:pt x="30" y="0"/>
                </a:cubicBezTo>
                <a:close/>
              </a:path>
            </a:pathLst>
          </a:custGeom>
          <a:solidFill>
            <a:srgbClr val="1B7A5E">
              <a:alpha val="9412"/>
            </a:srgbClr>
          </a:solidFill>
          <a:ln/>
        </p:spPr>
        <p:txBody>
          <a:bodyPr/>
          <a:p/>
        </p:txBody>
      </p:sp>
      <p:pic>
        <p:nvPicPr>
          <p:cNvPr id="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23925" y="1752600"/>
            <a:ext cx="247650" cy="247650"/>
          </a:xfrm>
          <a:prstGeom prst="rect">
            <a:avLst/>
          </a:prstGeom>
          <a:ln/>
        </p:spPr>
      </p:pic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466850" y="1657350"/>
            <a:ext cx="762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F2A26"/>
                </a:solidFill>
                <a:latin typeface="Noto Serif SC"/>
                <a:ea typeface="Noto Serif SC"/>
              </a:rPr>
              <a:t>张</a:t>
            </a:r>
            <a:r>
              <a:rPr lang="en-US" sz="1425" b="1">
                <a:solidFill>
                  <a:srgbClr val="1F2A26"/>
                </a:solidFill>
                <a:latin typeface="Noto Serif SC"/>
                <a:ea typeface="Noto Serif SC"/>
              </a:rPr>
              <a:t xml:space="preserve"> ××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1466850" y="1914525"/>
            <a:ext cx="762000" cy="180975"/>
          </a:xfrm>
          <a:prstGeom prst="roundRect">
            <a:avLst>
              <a:gd name="adj" fmla="val 52632"/>
            </a:avLst>
          </a:prstGeom>
          <a:solidFill>
            <a:srgbClr val="E3F1EA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1562100" y="1933575"/>
            <a:ext cx="571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1B7A5E"/>
                </a:solidFill>
                <a:latin typeface="Microsoft YaHei"/>
                <a:ea typeface="Microsoft YaHei"/>
              </a:rPr>
              <a:t>产品负责人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762000" y="2276475"/>
            <a:ext cx="3152775" cy="1295400"/>
          </a:xfrm>
          <a:custGeom>
            <a:pathLst>
              <a:path w="331" h="136">
                <a:moveTo>
                  <a:pt x="0" y="0"/>
                </a:moveTo>
                <a:lnTo>
                  <a:pt x="331" y="0"/>
                </a:lnTo>
                <a:lnTo>
                  <a:pt x="331" y="1"/>
                </a:lnTo>
                <a:lnTo>
                  <a:pt x="0" y="1"/>
                </a:lnTo>
                <a:close/>
              </a:path>
            </a:pathLst>
          </a:custGeom>
          <a:solidFill>
            <a:srgbClr val="EFECE2"/>
          </a:solidFill>
          <a:ln/>
        </p:spPr>
        <p:txBody>
          <a:bodyPr/>
          <a:p/>
        </p:txBody>
      </p:sp>
      <p:pic>
        <p:nvPicPr>
          <p:cNvPr id="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62000" y="2381250"/>
            <a:ext cx="133350" cy="133350"/>
          </a:xfrm>
          <a:prstGeom prst="rect">
            <a:avLst/>
          </a:prstGeom>
          <a:ln/>
        </p:spPr>
      </p:pic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971550" y="2381250"/>
            <a:ext cx="10287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4F"/>
                </a:solidFill>
                <a:latin typeface="Microsoft YaHei"/>
                <a:ea typeface="Microsoft YaHei"/>
              </a:rPr>
              <a:t>前沿科研一线经历</a:t>
            </a:r>
            <a:endParaRPr/>
          </a:p>
        </p:txBody>
      </p:sp>
      <p:pic>
        <p:nvPicPr>
          <p:cNvPr id="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62000" y="2695575"/>
            <a:ext cx="133350" cy="133350"/>
          </a:xfrm>
          <a:prstGeom prst="rect">
            <a:avLst/>
          </a:prstGeom>
          <a:ln/>
        </p:spPr>
      </p:pic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971550" y="2695575"/>
            <a:ext cx="19240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4F"/>
                </a:solidFill>
                <a:latin typeface="Microsoft YaHei"/>
                <a:ea typeface="Microsoft YaHei"/>
              </a:rPr>
              <a:t xml:space="preserve">13 </a:t>
            </a:r>
            <a:r>
              <a:rPr lang="zh-CN" sz="1013">
                <a:solidFill>
                  <a:srgbClr val="4A554F"/>
                </a:solidFill>
                <a:latin typeface="Microsoft YaHei"/>
                <a:ea typeface="Microsoft YaHei"/>
              </a:rPr>
              <a:t>大功能模块</a:t>
            </a:r>
            <a:r>
              <a:rPr lang="en-US" sz="1013">
                <a:solidFill>
                  <a:srgbClr val="4A554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13">
                <a:solidFill>
                  <a:srgbClr val="4A554F"/>
                </a:solidFill>
                <a:latin typeface="Microsoft YaHei"/>
                <a:ea typeface="Microsoft YaHei"/>
              </a:rPr>
              <a:t>全流程</a:t>
            </a:r>
            <a:r>
              <a:rPr lang="en-US" sz="1013">
                <a:solidFill>
                  <a:srgbClr val="4A554F"/>
                </a:solidFill>
                <a:latin typeface="Microsoft YaHei"/>
                <a:ea typeface="Microsoft YaHei"/>
              </a:rPr>
              <a:t xml:space="preserve"> PRD </a:t>
            </a:r>
            <a:r>
              <a:rPr lang="zh-CN" sz="1013">
                <a:solidFill>
                  <a:srgbClr val="4A554F"/>
                </a:solidFill>
                <a:latin typeface="Microsoft YaHei"/>
                <a:ea typeface="Microsoft YaHei"/>
              </a:rPr>
              <a:t>设计</a:t>
            </a:r>
            <a:endParaRPr/>
          </a:p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62000" y="3009900"/>
            <a:ext cx="133350" cy="133350"/>
          </a:xfrm>
          <a:prstGeom prst="rect">
            <a:avLst/>
          </a:prstGeom>
          <a:ln/>
        </p:spPr>
      </p:pic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971550" y="3009900"/>
            <a:ext cx="141922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4F"/>
                </a:solidFill>
                <a:latin typeface="Microsoft YaHei"/>
                <a:ea typeface="Microsoft YaHei"/>
              </a:rPr>
              <a:t>用户画像与场景深度调研</a:t>
            </a:r>
            <a:endParaRPr/>
          </a:p>
        </p:txBody>
      </p:sp>
      <p:pic>
        <p:nvPicPr>
          <p:cNvPr id="1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62000" y="3324225"/>
            <a:ext cx="133350" cy="133350"/>
          </a:xfrm>
          <a:prstGeom prst="rect">
            <a:avLst/>
          </a:prstGeom>
          <a:ln/>
        </p:spPr>
      </p:pic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971550" y="3324225"/>
            <a:ext cx="11620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4F"/>
                </a:solidFill>
                <a:latin typeface="Microsoft YaHei"/>
                <a:ea typeface="Microsoft YaHei"/>
              </a:rPr>
              <a:t>定价与商业模式设计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4333875" y="1428750"/>
            <a:ext cx="3524250" cy="3019425"/>
          </a:xfrm>
          <a:prstGeom prst="roundRect">
            <a:avLst>
              <a:gd name="adj" fmla="val 4416"/>
            </a:avLst>
          </a:prstGeom>
          <a:solidFill>
            <a:srgbClr val="FFFFFF"/>
          </a:solidFill>
          <a:ln w="12700">
            <a:solidFill>
              <a:srgbClr val="E6E2D6"/>
            </a:solidFill>
            <a:prstDash val="solid"/>
          </a:ln>
          <a:effectLst>
            <a:outerShdw blurRad="114300" dist="19050" dir="54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5" name=""/>
          <p:cNvSpPr/>
          <p:nvPr/>
        </p:nvSpPr>
        <p:spPr>
          <a:xfrm rot="0" flipH="0" flipV="0">
            <a:off x="4333875" y="1428750"/>
            <a:ext cx="3524250" cy="47625"/>
          </a:xfrm>
          <a:custGeom>
            <a:pathLst>
              <a:path w="370" h="5">
                <a:moveTo>
                  <a:pt x="4" y="0"/>
                </a:moveTo>
                <a:lnTo>
                  <a:pt x="366" y="0"/>
                </a:lnTo>
                <a:cubicBezTo>
                  <a:pt x="368" y="0"/>
                  <a:pt x="370" y="2"/>
                  <a:pt x="370" y="4"/>
                </a:cubicBezTo>
                <a:lnTo>
                  <a:pt x="370" y="4"/>
                </a:lnTo>
                <a:cubicBezTo>
                  <a:pt x="370" y="5"/>
                  <a:pt x="370" y="5"/>
                  <a:pt x="369" y="5"/>
                </a:cubicBezTo>
                <a:lnTo>
                  <a:pt x="1" y="5"/>
                </a:lnTo>
                <a:cubicBezTo>
                  <a:pt x="0" y="5"/>
                  <a:pt x="0" y="5"/>
                  <a:pt x="0" y="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4A5568"/>
          </a:solidFill>
          <a:ln/>
        </p:spPr>
        <p:txBody>
          <a:bodyPr/>
          <a:p/>
        </p:txBody>
      </p:sp>
      <p:sp>
        <p:nvSpPr>
          <p:cNvPr id="106" name=""/>
          <p:cNvSpPr/>
          <p:nvPr/>
        </p:nvSpPr>
        <p:spPr>
          <a:xfrm rot="0" flipH="0" flipV="0">
            <a:off x="4524375" y="1590675"/>
            <a:ext cx="571500" cy="571500"/>
          </a:xfrm>
          <a:custGeom>
            <a:pathLst>
              <a:path w="60" h="60">
                <a:moveTo>
                  <a:pt x="30" y="0"/>
                </a:moveTo>
                <a:lnTo>
                  <a:pt x="30" y="0"/>
                </a:lnTo>
                <a:cubicBezTo>
                  <a:pt x="47" y="0"/>
                  <a:pt x="60" y="13"/>
                  <a:pt x="60" y="30"/>
                </a:cubicBezTo>
                <a:lnTo>
                  <a:pt x="60" y="30"/>
                </a:lnTo>
                <a:cubicBezTo>
                  <a:pt x="60" y="47"/>
                  <a:pt x="47" y="60"/>
                  <a:pt x="30" y="60"/>
                </a:cubicBezTo>
                <a:lnTo>
                  <a:pt x="30" y="60"/>
                </a:lnTo>
                <a:cubicBezTo>
                  <a:pt x="13" y="60"/>
                  <a:pt x="0" y="47"/>
                  <a:pt x="0" y="30"/>
                </a:cubicBezTo>
                <a:lnTo>
                  <a:pt x="0" y="30"/>
                </a:lnTo>
                <a:cubicBezTo>
                  <a:pt x="0" y="13"/>
                  <a:pt x="13" y="0"/>
                  <a:pt x="30" y="0"/>
                </a:cubicBezTo>
                <a:close/>
              </a:path>
            </a:pathLst>
          </a:custGeom>
          <a:solidFill>
            <a:srgbClr val="4A5568">
              <a:alpha val="9412"/>
            </a:srgbClr>
          </a:solidFill>
          <a:ln/>
        </p:spPr>
        <p:txBody>
          <a:bodyPr/>
          <a:p/>
        </p:txBody>
      </p:sp>
      <p:pic>
        <p:nvPicPr>
          <p:cNvPr id="1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686300" y="1752600"/>
            <a:ext cx="247650" cy="247650"/>
          </a:xfrm>
          <a:prstGeom prst="rect">
            <a:avLst/>
          </a:prstGeom>
          <a:ln/>
        </p:spPr>
      </p:pic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5229225" y="1657350"/>
            <a:ext cx="990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F2A26"/>
                </a:solidFill>
                <a:latin typeface="Noto Serif SC"/>
                <a:ea typeface="Noto Serif SC"/>
              </a:rPr>
              <a:t>李</a:t>
            </a:r>
            <a:r>
              <a:rPr lang="en-US" sz="1425" b="1">
                <a:solidFill>
                  <a:srgbClr val="1F2A26"/>
                </a:solidFill>
                <a:latin typeface="Noto Serif SC"/>
                <a:ea typeface="Noto Serif SC"/>
              </a:rPr>
              <a:t xml:space="preserve"> ××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5229225" y="1914525"/>
            <a:ext cx="990600" cy="180975"/>
          </a:xfrm>
          <a:prstGeom prst="roundRect">
            <a:avLst>
              <a:gd name="adj" fmla="val 52632"/>
            </a:avLst>
          </a:prstGeom>
          <a:solidFill>
            <a:srgbClr val="E3F1EA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5324475" y="1933575"/>
            <a:ext cx="800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1B7A5E"/>
                </a:solidFill>
                <a:latin typeface="Microsoft YaHei"/>
                <a:ea typeface="Microsoft YaHei"/>
              </a:rPr>
              <a:t>全栈开发工程师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4524375" y="2276475"/>
            <a:ext cx="3143250" cy="1295400"/>
          </a:xfrm>
          <a:custGeom>
            <a:pathLst>
              <a:path w="330" h="136">
                <a:moveTo>
                  <a:pt x="0" y="0"/>
                </a:moveTo>
                <a:lnTo>
                  <a:pt x="330" y="0"/>
                </a:lnTo>
                <a:lnTo>
                  <a:pt x="330" y="1"/>
                </a:lnTo>
                <a:lnTo>
                  <a:pt x="0" y="1"/>
                </a:lnTo>
                <a:close/>
              </a:path>
            </a:pathLst>
          </a:custGeom>
          <a:solidFill>
            <a:srgbClr val="EFECE2"/>
          </a:solidFill>
          <a:ln/>
        </p:spPr>
        <p:txBody>
          <a:bodyPr/>
          <a:p/>
        </p:txBody>
      </p:sp>
      <p:pic>
        <p:nvPicPr>
          <p:cNvPr id="1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4524375" y="2381250"/>
            <a:ext cx="133350" cy="133350"/>
          </a:xfrm>
          <a:prstGeom prst="rect">
            <a:avLst/>
          </a:prstGeom>
          <a:ln/>
        </p:spPr>
      </p:pic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733925" y="2381250"/>
            <a:ext cx="16383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4F"/>
                </a:solidFill>
                <a:latin typeface="Microsoft YaHei"/>
                <a:ea typeface="Microsoft YaHei"/>
              </a:rPr>
              <a:t xml:space="preserve">React 18 + TypeScript </a:t>
            </a:r>
            <a:r>
              <a:rPr lang="zh-CN" sz="1013">
                <a:solidFill>
                  <a:srgbClr val="4A554F"/>
                </a:solidFill>
                <a:latin typeface="Microsoft YaHei"/>
                <a:ea typeface="Microsoft YaHei"/>
              </a:rPr>
              <a:t>前端</a:t>
            </a:r>
            <a:endParaRPr/>
          </a:p>
        </p:txBody>
      </p:sp>
      <p:pic>
        <p:nvPicPr>
          <p:cNvPr id="1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4524375" y="2695575"/>
            <a:ext cx="133350" cy="133350"/>
          </a:xfrm>
          <a:prstGeom prst="rect">
            <a:avLst/>
          </a:prstGeom>
          <a:ln/>
        </p:spPr>
      </p:pic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4733925" y="2695575"/>
            <a:ext cx="13906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4F"/>
                </a:solidFill>
                <a:latin typeface="Microsoft YaHei"/>
                <a:ea typeface="Microsoft YaHei"/>
              </a:rPr>
              <a:t xml:space="preserve">Node.js + Express </a:t>
            </a:r>
            <a:r>
              <a:rPr lang="zh-CN" sz="1013">
                <a:solidFill>
                  <a:srgbClr val="4A554F"/>
                </a:solidFill>
                <a:latin typeface="Microsoft YaHei"/>
                <a:ea typeface="Microsoft YaHei"/>
              </a:rPr>
              <a:t>后端</a:t>
            </a:r>
            <a:endParaRPr/>
          </a:p>
        </p:txBody>
      </p:sp>
      <p:pic>
        <p:nvPicPr>
          <p:cNvPr id="1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4524375" y="3009900"/>
            <a:ext cx="133350" cy="133350"/>
          </a:xfrm>
          <a:prstGeom prst="rect">
            <a:avLst/>
          </a:prstGeom>
          <a:ln/>
        </p:spPr>
      </p:pic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733925" y="3009900"/>
            <a:ext cx="16764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4F"/>
                </a:solidFill>
                <a:latin typeface="Microsoft YaHei"/>
                <a:ea typeface="Microsoft YaHei"/>
              </a:rPr>
              <a:t xml:space="preserve">40+ REST/SSE </a:t>
            </a:r>
            <a:r>
              <a:rPr lang="zh-CN" sz="1013">
                <a:solidFill>
                  <a:srgbClr val="4A554F"/>
                </a:solidFill>
                <a:latin typeface="Microsoft YaHei"/>
                <a:ea typeface="Microsoft YaHei"/>
              </a:rPr>
              <a:t>接口契约设计</a:t>
            </a:r>
            <a:endParaRPr/>
          </a:p>
        </p:txBody>
      </p:sp>
      <p:pic>
        <p:nvPicPr>
          <p:cNvPr id="1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4524375" y="3324225"/>
            <a:ext cx="133350" cy="133350"/>
          </a:xfrm>
          <a:prstGeom prst="rect">
            <a:avLst/>
          </a:prstGeom>
          <a:ln/>
        </p:spPr>
      </p:pic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4733925" y="3324225"/>
            <a:ext cx="1600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4F"/>
                </a:solidFill>
                <a:latin typeface="Microsoft YaHei"/>
                <a:ea typeface="Microsoft YaHei"/>
              </a:rPr>
              <a:t xml:space="preserve">HMAC </a:t>
            </a:r>
            <a:r>
              <a:rPr lang="zh-CN" sz="1013">
                <a:solidFill>
                  <a:srgbClr val="4A554F"/>
                </a:solidFill>
                <a:latin typeface="Microsoft YaHei"/>
                <a:ea typeface="Microsoft YaHei"/>
              </a:rPr>
              <a:t>安全认证与限流治理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8086725" y="1095375"/>
            <a:ext cx="3533775" cy="3352800"/>
          </a:xfrm>
          <a:prstGeom prst="roundRect">
            <a:avLst>
              <a:gd name="adj" fmla="val 3977"/>
            </a:avLst>
          </a:prstGeom>
          <a:solidFill>
            <a:srgbClr val="FFFFFF"/>
          </a:solidFill>
          <a:ln w="25400">
            <a:solidFill>
              <a:srgbClr val="C2762B"/>
            </a:solidFill>
            <a:prstDash val="solid"/>
          </a:ln>
          <a:effectLst>
            <a:outerShdw blurRad="266700" dist="76200" dir="5400000">
              <a:srgbClr val="C2762B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21" name=""/>
          <p:cNvSpPr/>
          <p:nvPr/>
        </p:nvSpPr>
        <p:spPr>
          <a:xfrm rot="0" flipH="0" flipV="0">
            <a:off x="8086725" y="1095375"/>
            <a:ext cx="3533775" cy="47625"/>
          </a:xfrm>
          <a:custGeom>
            <a:pathLst>
              <a:path w="371" h="5">
                <a:moveTo>
                  <a:pt x="4" y="0"/>
                </a:moveTo>
                <a:lnTo>
                  <a:pt x="367" y="0"/>
                </a:lnTo>
                <a:cubicBezTo>
                  <a:pt x="369" y="0"/>
                  <a:pt x="371" y="2"/>
                  <a:pt x="371" y="4"/>
                </a:cubicBezTo>
                <a:lnTo>
                  <a:pt x="371" y="4"/>
                </a:lnTo>
                <a:cubicBezTo>
                  <a:pt x="371" y="5"/>
                  <a:pt x="371" y="5"/>
                  <a:pt x="370" y="5"/>
                </a:cubicBezTo>
                <a:lnTo>
                  <a:pt x="1" y="5"/>
                </a:lnTo>
                <a:cubicBezTo>
                  <a:pt x="0" y="5"/>
                  <a:pt x="0" y="5"/>
                  <a:pt x="0" y="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C2762B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8277225" y="1257300"/>
            <a:ext cx="571500" cy="571500"/>
          </a:xfrm>
          <a:custGeom>
            <a:pathLst>
              <a:path w="60" h="60">
                <a:moveTo>
                  <a:pt x="30" y="0"/>
                </a:moveTo>
                <a:lnTo>
                  <a:pt x="30" y="0"/>
                </a:lnTo>
                <a:cubicBezTo>
                  <a:pt x="47" y="0"/>
                  <a:pt x="60" y="13"/>
                  <a:pt x="60" y="30"/>
                </a:cubicBezTo>
                <a:lnTo>
                  <a:pt x="60" y="30"/>
                </a:lnTo>
                <a:cubicBezTo>
                  <a:pt x="60" y="47"/>
                  <a:pt x="47" y="60"/>
                  <a:pt x="30" y="60"/>
                </a:cubicBezTo>
                <a:lnTo>
                  <a:pt x="30" y="60"/>
                </a:lnTo>
                <a:cubicBezTo>
                  <a:pt x="13" y="60"/>
                  <a:pt x="0" y="47"/>
                  <a:pt x="0" y="30"/>
                </a:cubicBezTo>
                <a:lnTo>
                  <a:pt x="0" y="30"/>
                </a:lnTo>
                <a:cubicBezTo>
                  <a:pt x="0" y="13"/>
                  <a:pt x="13" y="0"/>
                  <a:pt x="30" y="0"/>
                </a:cubicBezTo>
                <a:close/>
              </a:path>
            </a:pathLst>
          </a:custGeom>
          <a:solidFill>
            <a:srgbClr val="C2762B">
              <a:alpha val="9412"/>
            </a:srgbClr>
          </a:solidFill>
          <a:ln/>
        </p:spPr>
        <p:txBody>
          <a:bodyPr/>
          <a:p/>
        </p:txBody>
      </p:sp>
      <p:pic>
        <p:nvPicPr>
          <p:cNvPr id="1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8439150" y="1419225"/>
            <a:ext cx="247650" cy="247650"/>
          </a:xfrm>
          <a:prstGeom prst="rect">
            <a:avLst/>
          </a:prstGeom>
          <a:ln/>
        </p:spPr>
      </p:pic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8982075" y="1323975"/>
            <a:ext cx="1152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F2A26"/>
                </a:solidFill>
                <a:latin typeface="Noto Serif SC"/>
                <a:ea typeface="Noto Serif SC"/>
              </a:rPr>
              <a:t>王</a:t>
            </a:r>
            <a:r>
              <a:rPr lang="en-US" sz="1425" b="1">
                <a:solidFill>
                  <a:srgbClr val="1F2A26"/>
                </a:solidFill>
                <a:latin typeface="Noto Serif SC"/>
                <a:ea typeface="Noto Serif SC"/>
              </a:rPr>
              <a:t xml:space="preserve"> ××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8982075" y="1581150"/>
            <a:ext cx="1152525" cy="180975"/>
          </a:xfrm>
          <a:prstGeom prst="roundRect">
            <a:avLst>
              <a:gd name="adj" fmla="val 52632"/>
            </a:avLst>
          </a:prstGeom>
          <a:solidFill>
            <a:srgbClr val="E3F1EA"/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9077325" y="1600200"/>
            <a:ext cx="9620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B7A5E"/>
                </a:solidFill>
                <a:latin typeface="Microsoft YaHei"/>
                <a:ea typeface="Microsoft YaHei"/>
              </a:rPr>
              <a:t xml:space="preserve">Agent </a:t>
            </a:r>
            <a:r>
              <a:rPr lang="zh-CN" sz="900" b="1">
                <a:solidFill>
                  <a:srgbClr val="1B7A5E"/>
                </a:solidFill>
                <a:latin typeface="Microsoft YaHei"/>
                <a:ea typeface="Microsoft YaHei"/>
              </a:rPr>
              <a:t>算法工程师</a:t>
            </a:r>
            <a:endParaRPr/>
          </a:p>
        </p:txBody>
      </p:sp>
      <p:sp>
        <p:nvSpPr>
          <p:cNvPr id="127" name=""/>
          <p:cNvSpPr/>
          <p:nvPr/>
        </p:nvSpPr>
        <p:spPr>
          <a:xfrm rot="0" flipH="0" flipV="0">
            <a:off x="8277225" y="1943100"/>
            <a:ext cx="3152775" cy="1295400"/>
          </a:xfrm>
          <a:custGeom>
            <a:pathLst>
              <a:path w="331" h="136">
                <a:moveTo>
                  <a:pt x="0" y="0"/>
                </a:moveTo>
                <a:lnTo>
                  <a:pt x="331" y="0"/>
                </a:lnTo>
                <a:lnTo>
                  <a:pt x="331" y="1"/>
                </a:lnTo>
                <a:lnTo>
                  <a:pt x="0" y="1"/>
                </a:lnTo>
                <a:close/>
              </a:path>
            </a:pathLst>
          </a:custGeom>
          <a:solidFill>
            <a:srgbClr val="EFECE2"/>
          </a:solidFill>
          <a:ln/>
        </p:spPr>
        <p:txBody>
          <a:bodyPr/>
          <a:p/>
        </p:txBody>
      </p:sp>
      <p:pic>
        <p:nvPicPr>
          <p:cNvPr id="1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277225" y="2047875"/>
            <a:ext cx="133350" cy="133350"/>
          </a:xfrm>
          <a:prstGeom prst="rect">
            <a:avLst/>
          </a:prstGeom>
          <a:ln/>
        </p:spPr>
      </p:pic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8486775" y="2047875"/>
            <a:ext cx="16383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4F"/>
                </a:solidFill>
                <a:latin typeface="Microsoft YaHei"/>
                <a:ea typeface="Microsoft YaHei"/>
              </a:rPr>
              <a:t>灵犀多智能体引擎</a:t>
            </a:r>
            <a:r>
              <a:rPr lang="en-US" sz="1013">
                <a:solidFill>
                  <a:srgbClr val="4A554F"/>
                </a:solidFill>
                <a:latin typeface="Microsoft YaHei"/>
                <a:ea typeface="Microsoft YaHei"/>
              </a:rPr>
              <a:t xml:space="preserve"> · 8 </a:t>
            </a:r>
            <a:r>
              <a:rPr lang="zh-CN" sz="1013">
                <a:solidFill>
                  <a:srgbClr val="4A554F"/>
                </a:solidFill>
                <a:latin typeface="Microsoft YaHei"/>
                <a:ea typeface="Microsoft YaHei"/>
              </a:rPr>
              <a:t>类编排</a:t>
            </a:r>
            <a:endParaRPr/>
          </a:p>
        </p:txBody>
      </p:sp>
      <p:pic>
        <p:nvPicPr>
          <p:cNvPr id="1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277225" y="2362200"/>
            <a:ext cx="133350" cy="133350"/>
          </a:xfrm>
          <a:prstGeom prst="rect">
            <a:avLst/>
          </a:prstGeom>
          <a:ln/>
        </p:spPr>
      </p:pic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8486775" y="2362200"/>
            <a:ext cx="11620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4F"/>
                </a:solidFill>
                <a:latin typeface="Microsoft YaHei"/>
                <a:ea typeface="Microsoft YaHei"/>
              </a:rPr>
              <a:t>三层课题组记忆引擎</a:t>
            </a:r>
            <a:endParaRPr/>
          </a:p>
        </p:txBody>
      </p:sp>
      <p:pic>
        <p:nvPicPr>
          <p:cNvPr id="1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277225" y="2676525"/>
            <a:ext cx="133350" cy="133350"/>
          </a:xfrm>
          <a:prstGeom prst="rect">
            <a:avLst/>
          </a:prstGeom>
          <a:ln/>
        </p:spPr>
      </p:pic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8486775" y="2676525"/>
            <a:ext cx="1600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4F"/>
                </a:solidFill>
                <a:latin typeface="Microsoft YaHei"/>
                <a:ea typeface="Microsoft YaHei"/>
              </a:rPr>
              <a:t xml:space="preserve">RAG </a:t>
            </a:r>
            <a:r>
              <a:rPr lang="zh-CN" sz="1013">
                <a:solidFill>
                  <a:srgbClr val="4A554F"/>
                </a:solidFill>
                <a:latin typeface="Microsoft YaHei"/>
                <a:ea typeface="Microsoft YaHei"/>
              </a:rPr>
              <a:t>检索与提示词工程体系</a:t>
            </a:r>
            <a:endParaRPr/>
          </a:p>
        </p:txBody>
      </p:sp>
      <p:pic>
        <p:nvPicPr>
          <p:cNvPr id="1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277225" y="2990850"/>
            <a:ext cx="133350" cy="133350"/>
          </a:xfrm>
          <a:prstGeom prst="rect">
            <a:avLst/>
          </a:prstGeom>
          <a:ln/>
        </p:spPr>
      </p:pic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8486775" y="2990850"/>
            <a:ext cx="128587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4F"/>
                </a:solidFill>
                <a:latin typeface="Microsoft YaHei"/>
                <a:ea typeface="Microsoft YaHei"/>
              </a:rPr>
              <a:t>五角色专家评审团机制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609600" y="4600575"/>
            <a:ext cx="11049000" cy="495300"/>
          </a:xfrm>
          <a:prstGeom prst="roundRect">
            <a:avLst>
              <a:gd name="adj" fmla="val 11538"/>
            </a:avLst>
          </a:prstGeom>
          <a:solidFill>
            <a:srgbClr val="E3F1EA"/>
          </a:solidFill>
          <a:ln/>
        </p:spPr>
        <p:txBody>
          <a:bodyPr/>
          <a:p/>
        </p:txBody>
      </p:sp>
      <p:sp>
        <p:nvSpPr>
          <p:cNvPr id="137" name=""/>
          <p:cNvSpPr/>
          <p:nvPr/>
        </p:nvSpPr>
        <p:spPr>
          <a:xfrm rot="0" flipH="0" flipV="0">
            <a:off x="609600" y="4600575"/>
            <a:ext cx="11049000" cy="495300"/>
          </a:xfrm>
          <a:custGeom>
            <a:pathLst>
              <a:path w="1160" h="52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50"/>
                </a:lnTo>
                <a:cubicBezTo>
                  <a:pt x="4" y="51"/>
                  <a:pt x="5" y="52"/>
                  <a:pt x="6" y="52"/>
                </a:cubicBezTo>
                <a:cubicBezTo>
                  <a:pt x="3" y="52"/>
                  <a:pt x="0" y="49"/>
                  <a:pt x="0" y="46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B7A5E"/>
          </a:solidFill>
          <a:ln/>
        </p:spPr>
        <p:txBody>
          <a:bodyPr/>
          <a:p/>
        </p:txBody>
      </p:sp>
      <p:pic>
        <p:nvPicPr>
          <p:cNvPr id="1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7"/>
              </a:ext>
            </a:extLst>
          </a:blip>
          <a:stretch>
            <a:fillRect/>
          </a:stretch>
        </p:blipFill>
        <p:spPr>
          <a:xfrm rot="0" flipH="0" flipV="0">
            <a:off x="781050" y="4762500"/>
            <a:ext cx="171450" cy="171450"/>
          </a:xfrm>
          <a:prstGeom prst="rect">
            <a:avLst/>
          </a:prstGeom>
          <a:ln/>
        </p:spPr>
      </p:pic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1066800" y="4714875"/>
            <a:ext cx="7762875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1F2A26"/>
                </a:solidFill>
                <a:latin typeface="Microsoft YaHei"/>
                <a:ea typeface="Microsoft YaHei"/>
              </a:rPr>
              <a:t>我们不只是「给科研做软件的人」，我们本身就是科研流程的亲历者——每一个功能，都来自一次真实的深夜改稿与组会汇报。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571500" y="5505450"/>
            <a:ext cx="13049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48D"/>
                </a:solidFill>
                <a:latin typeface="Microsoft YaHei"/>
                <a:ea typeface="Microsoft YaHei"/>
              </a:rPr>
              <a:t xml:space="preserve">ScienceX · AI </a:t>
            </a:r>
            <a:r>
              <a:rPr lang="zh-CN" sz="900">
                <a:solidFill>
                  <a:srgbClr val="8A948D"/>
                </a:solidFill>
                <a:latin typeface="Microsoft YaHei"/>
                <a:ea typeface="Microsoft YaHei"/>
              </a:rPr>
              <a:t>科研工作台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11229975" y="550545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48D"/>
                </a:solidFill>
                <a:latin typeface="Microsoft YaHei"/>
                <a:ea typeface="Microsoft YaHei"/>
              </a:rPr>
              <a:t>05 / 22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2026-10-03T17:25:54Z</dcterms:created>
  <dcterms:modified xsi:type="dcterms:W3CDTF">2026-10-03T17:25:54Z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{"AIGC":{"Label":"1","ContentProducer":"00119111010856365494821B355","ProduceID":"01a100f852137e71ac9f635825aefe39","ReservedCode1":"","ContentPropagator":"00119111010856365494821B355","PropagateID":"01a100f852137e71ac9f635825aefe39","ReservedCode2":""}}</vt:lpwstr>
  </property>
</Properties>
</file>