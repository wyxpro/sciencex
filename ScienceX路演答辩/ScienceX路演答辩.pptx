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4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2" Type="http://schemas.openxmlformats.org/officeDocument/2006/relationships/slide" Target="slides/slide2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2" Type="http://schemas.openxmlformats.org/officeDocument/2006/relationships/slide" Target="slides/slide2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4" Type="http://schemas.openxmlformats.org/officeDocument/2006/relationships/image" Target="media/image4.png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38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7.svg" /><Relationship Id="rId1" Type="http://schemas.openxmlformats.org/officeDocument/2006/relationships/image" Target="media/image5.svg" /><Relationship Id="rId4" Type="http://schemas.openxmlformats.org/officeDocument/2006/relationships/image" Target="media/image8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0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4" Type="http://schemas.openxmlformats.org/officeDocument/2006/relationships/image" Target="media/image5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1.svg" /><Relationship Id="rId7" Type="http://schemas.openxmlformats.org/officeDocument/2006/relationships/image" Target="media/image56.svg" /><Relationship Id="rId5" Type="http://schemas.openxmlformats.org/officeDocument/2006/relationships/image" Target="media/image54.svg" /><Relationship Id="rId2" Type="http://schemas.openxmlformats.org/officeDocument/2006/relationships/image" Target="media/image27.svg" /><Relationship Id="rId3" Type="http://schemas.openxmlformats.org/officeDocument/2006/relationships/image" Target="media/image52.svg" /><Relationship Id="rId6" Type="http://schemas.openxmlformats.org/officeDocument/2006/relationships/image" Target="media/image55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5" Type="http://schemas.openxmlformats.org/officeDocument/2006/relationships/image" Target="media/image41.svg" /><Relationship Id="rId4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7.svg" /><Relationship Id="rId10" Type="http://schemas.openxmlformats.org/officeDocument/2006/relationships/image" Target="media/image10.svg" /><Relationship Id="rId11" Type="http://schemas.openxmlformats.org/officeDocument/2006/relationships/image" Target="media/image61.svg" /><Relationship Id="rId2" Type="http://schemas.openxmlformats.org/officeDocument/2006/relationships/image" Target="media/image58.svg" /><Relationship Id="rId3" Type="http://schemas.openxmlformats.org/officeDocument/2006/relationships/image" Target="media/image59.svg" /><Relationship Id="rId6" Type="http://schemas.openxmlformats.org/officeDocument/2006/relationships/image" Target="media/image24.svg" /><Relationship Id="rId7" Type="http://schemas.openxmlformats.org/officeDocument/2006/relationships/image" Target="media/image7.svg" /><Relationship Id="rId8" Type="http://schemas.openxmlformats.org/officeDocument/2006/relationships/image" Target="media/image60.svg" /><Relationship Id="rId9" Type="http://schemas.openxmlformats.org/officeDocument/2006/relationships/image" Target="media/image9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2.svg" /><Relationship Id="rId3" Type="http://schemas.openxmlformats.org/officeDocument/2006/relationships/image" Target="media/image63.svg" /><Relationship Id="rId2" Type="http://schemas.openxmlformats.org/officeDocument/2006/relationships/image" Target="media/image47.svg" /><Relationship Id="rId4" Type="http://schemas.openxmlformats.org/officeDocument/2006/relationships/image" Target="media/image64.svg" /></Relationships>
</file>

<file path=ppt/slides/_rels/slide10.xml.rels><?xml version="1.0" encoding="UTF-8" standalone="yes"?><Relationships xmlns="http://schemas.openxmlformats.org/package/2006/relationships"><Relationship Id="rId11" Type="http://schemas.openxmlformats.org/officeDocument/2006/relationships/image" Target="media/image14.svg" /><Relationship Id="rId10" Type="http://schemas.openxmlformats.org/officeDocument/2006/relationships/image" Target="media/image13.svg" /><Relationship Id="rId0" Type="http://schemas.openxmlformats.org/officeDocument/2006/relationships/slideLayout" Target="../slideLayouts/slideLayout1.xml" /><Relationship Id="rId5" Type="http://schemas.openxmlformats.org/officeDocument/2006/relationships/image" Target="media/image9.svg" /><Relationship Id="rId1" Type="http://schemas.openxmlformats.org/officeDocument/2006/relationships/image" Target="media/image5.svg" /><Relationship Id="rId3" Type="http://schemas.openxmlformats.org/officeDocument/2006/relationships/image" Target="media/image7.svg" /><Relationship Id="rId2" Type="http://schemas.openxmlformats.org/officeDocument/2006/relationships/image" Target="media/image6.svg" /><Relationship Id="rId4" Type="http://schemas.openxmlformats.org/officeDocument/2006/relationships/image" Target="media/image8.svg" /><Relationship Id="rId6" Type="http://schemas.openxmlformats.org/officeDocument/2006/relationships/image" Target="media/image10.svg" /><Relationship Id="rId7" Type="http://schemas.openxmlformats.org/officeDocument/2006/relationships/image" Target="media/image11.svg" /><Relationship Id="rId8" Type="http://schemas.openxmlformats.org/officeDocument/2006/relationships/image" Target="media/image12.svg" /><Relationship Id="rId9" Type="http://schemas.openxmlformats.org/officeDocument/2006/relationships/image" Target="media/image1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8.svg" /><Relationship Id="rId1" Type="http://schemas.openxmlformats.org/officeDocument/2006/relationships/image" Target="media/image16.svg" /><Relationship Id="rId2" Type="http://schemas.openxmlformats.org/officeDocument/2006/relationships/image" Target="media/image17.svg" /><Relationship Id="rId6" Type="http://schemas.openxmlformats.org/officeDocument/2006/relationships/image" Target="media/image21.svg" /><Relationship Id="rId5" Type="http://schemas.openxmlformats.org/officeDocument/2006/relationships/image" Target="media/image20.svg" /><Relationship Id="rId4" Type="http://schemas.openxmlformats.org/officeDocument/2006/relationships/image" Target="media/image19.svg" /></Relationships>
</file>

<file path=ppt/slides/_rels/slide16.xml.rels><?xml version="1.0" encoding="UTF-8" standalone="yes"?><Relationships xmlns="http://schemas.openxmlformats.org/package/2006/relationships"><Relationship Id="rId5" Type="http://schemas.openxmlformats.org/officeDocument/2006/relationships/image" Target="media/image7.svg" /><Relationship Id="rId3" Type="http://schemas.openxmlformats.org/officeDocument/2006/relationships/image" Target="media/image23.svg" /><Relationship Id="rId10" Type="http://schemas.openxmlformats.org/officeDocument/2006/relationships/image" Target="media/image27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22.svg" /><Relationship Id="rId4" Type="http://schemas.openxmlformats.org/officeDocument/2006/relationships/image" Target="media/image6.svg" /><Relationship Id="rId6" Type="http://schemas.openxmlformats.org/officeDocument/2006/relationships/image" Target="media/image24.svg" /><Relationship Id="rId7" Type="http://schemas.openxmlformats.org/officeDocument/2006/relationships/image" Target="media/image10.svg" /><Relationship Id="rId8" Type="http://schemas.openxmlformats.org/officeDocument/2006/relationships/image" Target="media/image25.svg" /><Relationship Id="rId9" Type="http://schemas.openxmlformats.org/officeDocument/2006/relationships/image" Target="media/image26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5" Type="http://schemas.openxmlformats.org/officeDocument/2006/relationships/image" Target="media/image32.svg" /><Relationship Id="rId1" Type="http://schemas.openxmlformats.org/officeDocument/2006/relationships/image" Target="media/image28.svg" /><Relationship Id="rId2" Type="http://schemas.openxmlformats.org/officeDocument/2006/relationships/image" Target="media/image29.svg" /><Relationship Id="rId3" Type="http://schemas.openxmlformats.org/officeDocument/2006/relationships/image" Target="media/image30.svg" /><Relationship Id="rId4" Type="http://schemas.openxmlformats.org/officeDocument/2006/relationships/image" Target="media/image31.svg" /><Relationship Id="rId6" Type="http://schemas.openxmlformats.org/officeDocument/2006/relationships/image" Target="media/image33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4.svg" /><Relationship Id="rId2" Type="http://schemas.openxmlformats.org/officeDocument/2006/relationships/image" Target="media/image35.svg" /><Relationship Id="rId3" Type="http://schemas.openxmlformats.org/officeDocument/2006/relationships/image" Target="media/image36.svg" /><Relationship Id="rId4" Type="http://schemas.openxmlformats.org/officeDocument/2006/relationships/image" Target="media/image1.svg" /><Relationship Id="rId5" Type="http://schemas.openxmlformats.org/officeDocument/2006/relationships/image" Target="media/image14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3" Type="http://schemas.openxmlformats.org/officeDocument/2006/relationships/image" Target="media/image40.svg" /><Relationship Id="rId1" Type="http://schemas.openxmlformats.org/officeDocument/2006/relationships/slideLayout" Target="../slideLayouts/slideLayout1.xml" /><Relationship Id="rId6" Type="http://schemas.openxmlformats.org/officeDocument/2006/relationships/image" Target="media/image43.svg" /><Relationship Id="rId2" Type="http://schemas.openxmlformats.org/officeDocument/2006/relationships/image" Target="media/image39.svg" /><Relationship Id="rId4" Type="http://schemas.openxmlformats.org/officeDocument/2006/relationships/image" Target="media/image41.svg" /><Relationship Id="rId7" Type="http://schemas.openxmlformats.org/officeDocument/2006/relationships/image" Target="media/image44.svg" /><Relationship Id="rId5" Type="http://schemas.openxmlformats.org/officeDocument/2006/relationships/image" Target="media/image42.svg" /></Relationships>
</file>

<file path=ppt/slides/_rels/slide21.xml.rels><?xml version="1.0" encoding="UTF-8" standalone="yes"?><Relationships xmlns="http://schemas.openxmlformats.org/package/2006/relationships"><Relationship Id="rId2" Type="http://schemas.openxmlformats.org/officeDocument/2006/relationships/image" Target="media/image46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5.svg" /><Relationship Id="rId3" Type="http://schemas.openxmlformats.org/officeDocument/2006/relationships/image" Target="media/image47.svg" /><Relationship Id="rId4" Type="http://schemas.openxmlformats.org/officeDocument/2006/relationships/image" Target="media/image48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9.png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提升幅度 %</c:v>
                </c:pt>
              </c:strCache>
            </c:strRef>
          </c:tx>
          <c:spPr>
            <a:solidFill>
              <a:srgbClr val="1B7A5E"/>
            </a:solidFill>
          </c:spPr>
          <c:dLbls>
            <c:txPr>
              <a:bodyPr/>
              <a:p>
                <a:pPr>
                  <a:defRPr sz="750">
                    <a:solidFill>
                      <a:srgbClr val="0E4A37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7"/>
                <c:pt idx="0">
                  <c:v>选题调研耗时</c:v>
                </c:pt>
                <c:pt idx="1">
                  <c:v>单篇精读耗时</c:v>
                </c:pt>
                <c:pt idx="2">
                  <c:v>数据出图+解读耗时</c:v>
                </c:pt>
                <c:pt idx="3">
                  <c:v>组会准备耗时</c:v>
                </c:pt>
                <c:pt idx="4">
                  <c:v>实验方案设计效率</c:v>
                </c:pt>
                <c:pt idx="5">
                  <c:v>论文改稿轮次</c:v>
                </c:pt>
                <c:pt idx="6">
                  <c:v>投稿准备耗时</c:v>
                </c:pt>
              </c:strCache>
            </c:strRef>
          </c:cat>
          <c:val>
            <c:numRef>
              <c:numCache>
                <c:formatCode>General</c:formatCode>
                <c:ptCount val="7"/>
                <c:pt idx="0">
                  <c:v>60</c:v>
                </c:pt>
                <c:pt idx="1">
                  <c:v>50</c:v>
                </c:pt>
                <c:pt idx="2">
                  <c:v>70</c:v>
                </c:pt>
                <c:pt idx="3">
                  <c:v>70</c:v>
                </c:pt>
                <c:pt idx="4">
                  <c:v>40</c:v>
                </c:pt>
                <c:pt idx="5">
                  <c:v>50</c:v>
                </c:pt>
                <c:pt idx="6">
                  <c:v>40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A948D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A948D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padding: 0, background: '#F6F4EE' }}&gt;&#10;  &lt;Box style={{ flexDirection: 'row', width: '100%', height: '100%' }}&gt;&#10;    {/* 左侧 55% 文字区 */}&#10;    &lt;Box style={{ width: '55%', height: '100%', padding: '64px 24px 48px 64px', justifyContent: 'center', gap: 18 }}&gt;&#10;      &lt;Text style={{ fontSize: 13, color: '#8A948D', letterSpacing: 3, fontWeight: 600 }}&gt;YOUR NEXT DISCOVERY STARTS HERE&lt;/Text&gt;&#10;      &lt;Text style={{ fontSize: 56, fontWeight: 'bold', color: '#1F2A26', fontFamily: 'Noto Serif SC, Georgia, serif', lineHeight: 1.2 }}&gt;&#10;        让科研更简单，&lt;br /&gt;一站式科研 AI 搭子&#10;      &lt;/Text&gt;&#10;      &lt;Text style={{ fontSize: 20, color: '#4A554F', lineHeight: 1.6 }}&gt;&#10;        &lt;span style={{ fontWeight: 'bold', color: '#1B7A5E' }}&gt;ScienceX · AI 科研工作台&lt;/span&gt;&lt;br /&gt;&#10;        覆盖「选题 → 文献 → 复现 → 实验 → 分析 → 写作 → 投稿 → 协作」&lt;br /&gt;全生命周期的下一代 AI 科研生产力中枢&#10;      &lt;/Text&gt;&#10;      &lt;Box style={{ flexDirection: 'row', gap: 10, marginTop: 8 }}&gt;&#10;        &lt;Box style={{ background: '#E3F1EA', borderRadius: 16, padding: '6px 14px', flexDirection: 'row', alignItems: 'center', gap: 6 }}&gt;&#10;          &lt;FAIcon name=&quot;check&quot; style={{ fill: '#1B7A5E', width: 14, height: 14 }} /&gt;&#10;          &lt;Text style={{ fontSize: 14, color: '#1B7A5E', fontWeight: 600 }}&gt;免费开始&lt;/Text&gt;&#10;        &lt;/Box&gt;&#10;        &lt;Box style={{ background: '#E3F1EA', borderRadius: 16, padding: '6px 14px', flexDirection: 'row', alignItems: 'center', gap: 6 }}&gt;&#10;          &lt;FAIcon name=&quot;lock&quot; style={{ fill: '#1B7A5E', width: 14, height: 14 }} /&gt;&#10;          &lt;Text style={{ fontSize: 14, color: '#1B7A5E', fontWeight: 600 }}&gt;数据私有可控&lt;/Text&gt;&#10;        &lt;/Box&gt;&#10;        &lt;Box style={{ background: '#E3F1EA', borderRadius: 16, padding: '6px 14px', flexDirection: 'row', alignItems: 'center', gap: 6 }}&gt;&#10;          &lt;FAIcon name=&quot;plug&quot; style={{ fill: '#1B7A5E', width: 14, height: 14 }} /&gt;&#10;          &lt;Text style={{ fontSize: 14, color: '#1B7A5E', fontWeight: 600 }}&gt;接入任意大模型&lt;/Text&gt;&#10;        &lt;/Box&gt;&#10;      &lt;/Box&gt;&#10;      &lt;Text style={{ fontSize: 13, color: '#8A948D', marginTop: 16 }}&gt;XX 团队 · 2026.10&lt;/Text&gt;&#10;    &lt;/Box&gt;&#10;    {/* 右侧 45% 满版产品视觉 */}&#10;    &lt;Box style={{ width: '45%', height: '100%', position: 'relative', justifyContent: 'center', alignItems: 'center', background: 'linear-gradient(160deg, #F0EDE4 0%, #E7EFEA 55%, #F5EFE3 100%)' }}&gt;&#10;      &lt;Box style={{ position: 'absolute', top: 0, right: 0, width: 240, height: 240, borderRadius: '50%', background: '#1B7A5E', opacity: 0.08 }} /&gt;&#10;      &lt;Box style={{ position: 'absolute', bottom: 0, left: 0, width: 190, height: 190, borderRadius: '50%', background: '#C2762B', opacity: 0.10 }} /&gt;&#10;      &lt;Image src=&quot;assets/hero.png&quot; style={{ width: 470, height: 470, objectFit: 'contain', position: 'relative', zIndex: 1 }} /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586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225">
                <a:solidFill>
                  <a:srgbClr val="8A948D"/>
                </a:solidFill>
                <a:latin typeface="Microsoft YaHei"/>
                <a:ea typeface="Microsoft YaHei"/>
              </a:rPr>
              <a:t>YOUR NEXT DISCOVERY STARTS HERE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1581150"/>
            <a:ext cx="5867400" cy="15430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1F2A26"/>
                </a:solidFill>
                <a:latin typeface="Noto Serif SC"/>
                <a:ea typeface="Noto Serif SC"/>
              </a:rPr>
              <a:t>让科研更简单，</a:t>
            </a:r>
            <a:endParaRPr/>
          </a:p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1F2A26"/>
                </a:solidFill>
                <a:latin typeface="Noto Serif SC"/>
                <a:ea typeface="Noto Serif SC"/>
              </a:rPr>
              <a:t>一站式科研</a:t>
            </a:r>
            <a:r>
              <a:rPr lang="en-US" sz="420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AI </a:t>
            </a:r>
            <a:r>
              <a:rPr lang="zh-CN" sz="4200" b="1">
                <a:solidFill>
                  <a:srgbClr val="1F2A26"/>
                </a:solidFill>
                <a:latin typeface="Noto Serif SC"/>
                <a:ea typeface="Noto Serif SC"/>
              </a:rPr>
              <a:t>搭子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3295650"/>
            <a:ext cx="58674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 b="1">
                <a:solidFill>
                  <a:srgbClr val="1B7A5E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1500" b="1">
                <a:solidFill>
                  <a:srgbClr val="1B7A5E"/>
                </a:solidFill>
                <a:latin typeface="Microsoft YaHei"/>
                <a:ea typeface="Microsoft YaHei"/>
              </a:rPr>
              <a:t>科研工作台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覆盖「选题</a:t>
            </a:r>
            <a:r>
              <a:rPr lang="en-US" sz="15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文献</a:t>
            </a:r>
            <a:r>
              <a:rPr lang="en-US" sz="15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复现</a:t>
            </a:r>
            <a:r>
              <a:rPr lang="en-US" sz="15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实验</a:t>
            </a:r>
            <a:r>
              <a:rPr lang="en-US" sz="15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分析</a:t>
            </a:r>
            <a:r>
              <a:rPr lang="en-US" sz="15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写作</a:t>
            </a:r>
            <a:r>
              <a:rPr lang="en-US" sz="15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投稿</a:t>
            </a:r>
            <a:r>
              <a:rPr lang="en-US" sz="15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协作」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全生命周期的下一代</a:t>
            </a:r>
            <a:r>
              <a:rPr lang="en-US" sz="1500">
                <a:solidFill>
                  <a:srgbClr val="4A554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4A554F"/>
                </a:solidFill>
                <a:latin typeface="Microsoft YaHei"/>
                <a:ea typeface="Microsoft YaHei"/>
              </a:rPr>
              <a:t>科研生产力中枢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5010150"/>
            <a:ext cx="990600" cy="276225"/>
          </a:xfrm>
          <a:prstGeom prst="roundRect">
            <a:avLst>
              <a:gd name="adj" fmla="val 55172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5086350"/>
            <a:ext cx="133350" cy="133350"/>
          </a:xfrm>
          <a:prstGeom prst="rect">
            <a:avLst/>
          </a:prstGeom>
          <a:ln/>
        </p:spPr>
      </p:pic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33450" y="5067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7A5E"/>
                </a:solidFill>
                <a:latin typeface="Microsoft YaHei"/>
                <a:ea typeface="Microsoft YaHei"/>
              </a:rPr>
              <a:t>免费开始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1695450" y="5010150"/>
            <a:ext cx="1257300" cy="276225"/>
          </a:xfrm>
          <a:prstGeom prst="roundRect">
            <a:avLst>
              <a:gd name="adj" fmla="val 55172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828800" y="5086350"/>
            <a:ext cx="133350" cy="133350"/>
          </a:xfrm>
          <a:prstGeom prst="rect">
            <a:avLst/>
          </a:prstGeom>
          <a:ln/>
        </p:spPr>
      </p:pic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019300" y="50673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7A5E"/>
                </a:solidFill>
                <a:latin typeface="Microsoft YaHei"/>
                <a:ea typeface="Microsoft YaHei"/>
              </a:rPr>
              <a:t>数据私有可控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048000" y="5010150"/>
            <a:ext cx="1390650" cy="276225"/>
          </a:xfrm>
          <a:prstGeom prst="roundRect">
            <a:avLst>
              <a:gd name="adj" fmla="val 55172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181350" y="5086350"/>
            <a:ext cx="133350" cy="133350"/>
          </a:xfrm>
          <a:prstGeom prst="rect">
            <a:avLst/>
          </a:prstGeom>
          <a:ln/>
        </p:spPr>
      </p:pic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371850" y="50673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7A5E"/>
                </a:solidFill>
                <a:latin typeface="Microsoft YaHei"/>
                <a:ea typeface="Microsoft YaHei"/>
              </a:rPr>
              <a:t>接入任意大模型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5610225"/>
            <a:ext cx="586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XX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团队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705600" y="0"/>
            <a:ext cx="5486400" cy="6858000"/>
          </a:xfrm>
          <a:prstGeom prst="rect">
            <a:avLst/>
          </a:prstGeom>
          <a:gradFill>
            <a:gsLst>
              <a:gs pos="0">
                <a:srgbClr val="F0EDE4"/>
              </a:gs>
              <a:gs pos="55000">
                <a:srgbClr val="E7EFEA"/>
              </a:gs>
              <a:gs pos="100000">
                <a:srgbClr val="F5EFE3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9906000" y="0"/>
            <a:ext cx="2286000" cy="2286000"/>
          </a:xfrm>
          <a:custGeom>
            <a:pathLst>
              <a:path w="240" h="240">
                <a:moveTo>
                  <a:pt x="120" y="0"/>
                </a:moveTo>
                <a:lnTo>
                  <a:pt x="120" y="0"/>
                </a:lnTo>
                <a:cubicBezTo>
                  <a:pt x="186" y="0"/>
                  <a:pt x="240" y="54"/>
                  <a:pt x="240" y="120"/>
                </a:cubicBezTo>
                <a:lnTo>
                  <a:pt x="240" y="120"/>
                </a:lnTo>
                <a:cubicBezTo>
                  <a:pt x="240" y="186"/>
                  <a:pt x="186" y="240"/>
                  <a:pt x="120" y="240"/>
                </a:cubicBezTo>
                <a:lnTo>
                  <a:pt x="120" y="240"/>
                </a:lnTo>
                <a:cubicBezTo>
                  <a:pt x="54" y="240"/>
                  <a:pt x="0" y="186"/>
                  <a:pt x="0" y="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solidFill>
            <a:srgbClr val="1B7A5E">
              <a:alpha val="8000"/>
            </a:srgbClr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705600" y="5048250"/>
            <a:ext cx="1809750" cy="1809750"/>
          </a:xfrm>
          <a:custGeom>
            <a:pathLst>
              <a:path w="190" h="190">
                <a:moveTo>
                  <a:pt x="95" y="0"/>
                </a:moveTo>
                <a:lnTo>
                  <a:pt x="95" y="0"/>
                </a:lnTo>
                <a:cubicBezTo>
                  <a:pt x="147" y="0"/>
                  <a:pt x="190" y="43"/>
                  <a:pt x="190" y="95"/>
                </a:cubicBezTo>
                <a:lnTo>
                  <a:pt x="190" y="95"/>
                </a:lnTo>
                <a:cubicBezTo>
                  <a:pt x="190" y="147"/>
                  <a:pt x="147" y="190"/>
                  <a:pt x="95" y="190"/>
                </a:cubicBezTo>
                <a:lnTo>
                  <a:pt x="95" y="190"/>
                </a:lnTo>
                <a:cubicBezTo>
                  <a:pt x="43" y="190"/>
                  <a:pt x="0" y="147"/>
                  <a:pt x="0" y="95"/>
                </a:cubicBezTo>
                <a:lnTo>
                  <a:pt x="0" y="95"/>
                </a:lnTo>
                <a:cubicBezTo>
                  <a:pt x="0" y="43"/>
                  <a:pt x="43" y="0"/>
                  <a:pt x="95" y="0"/>
                </a:cubicBezTo>
                <a:close/>
              </a:path>
            </a:pathLst>
          </a:custGeom>
          <a:solidFill>
            <a:srgbClr val="C2762B">
              <a:alpha val="10000"/>
            </a:srgbClr>
          </a:solidFill>
          <a:ln/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0" flipH="0" flipV="0">
            <a:off x="7210425" y="1190625"/>
            <a:ext cx="4476750" cy="447675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1" name="" descr="&lt;Slide style={{ padding: 0, background: '#F6F4EE' }}&gt;&#10;  &lt;Box style={{ flexDirection: 'row', width: '100%', height: '100%' }}&gt;&#10;    {/* 左侧竖排 CONTENTS */}&#10;    &lt;Box style={{ width: '34%', height: '100%', padding: '72px 24px 64px 64px', justifyContent: 'space-between' }}&gt;&#10;      &lt;Box&gt;&#10;        &lt;Text style={{ fontSize: 15, color: '#C2762B', letterSpacing: 4, fontWeight: 600 }}&gt;CONTENTS&lt;/Text&gt;&#10;        &lt;Text style={{ fontSize: 40, fontWeight: 'bold', color: '#1F2A26', fontFamily: 'Noto Serif SC, Georgia, serif', marginTop: 12, lineHeight: 1.2 }}&gt;目录&lt;/Text&gt;&#10;        &lt;Box style={{ width: 56, height: 4, background: '#1B7A5E', marginTop: 18, borderRadius: 2 }} /&gt;&#10;      &lt;/Box&gt;&#10;      &lt;Text style={{ fontSize: 13, color: '#8A948D', lineHeight: 1.7 }}&gt;四个章节，&lt;br /&gt;由需求到价值，&lt;br /&gt;层层递进。&lt;/Text&gt;&#10;    &lt;/Box&gt;&#10;    {/* 右侧四个章节条目 */}&#10;    &lt;Box style={{ width: '66%', height: '100%', padding: '72px 64px 64px 24px', justifyContent: 'center', gap: 4 }}&gt;&#10;      {[&#10;        { n: '01', t: '需求洞察', d: '科研人的真实痛点，与我们给出的答案', ic: 'lightbulb' },&#10;        { n: '02', t: '团队及产品介绍', d: '我们是谁 · 产品是什么 · 凭什么是我们', ic: 'users' },&#10;        { n: '03', t: '技术解析及亮点', d: '前端 / 后端 / AI 能力的深度拆解', ic: 'cog' },&#10;        { n: '04', t: '商业模式及创新', d: '成本 / 收益 / 市场 / 行业价值 / 公益计划', ic: 'chart-line' },&#10;      ].map((it, i) =&gt; (&#10;        &lt;Box key={i} style={{ flexDirection: 'row', alignItems: 'center', padding: '20px 8px', borderBottom: i &lt; 3 ? '1px solid #E6E2D6' : 'none', gap: 24 }}&gt;&#10;          &lt;Text style={{ fontSize: 52, fontWeight: 'bold', color: '#C2762B', fontFamily: 'Noto Serif SC, Georgia, serif', width: 92, lineHeight: 1 }}&gt;{it.n}&lt;/Text&gt;&#10;          &lt;Box style={{ flex: 1 }}&gt;&#10;            &lt;Text style={{ fontSize: 22, fontWeight: 'bold', color: '#1F2A26', fontFamily: 'Noto Serif SC, Georgia, serif' }}&gt;{it.t}&lt;/Text&gt;&#10;            &lt;Text style={{ fontSize: 14, color: '#8A948D', marginTop: 4 }}&gt;{it.d}&lt;/Text&gt;&#10;          &lt;/Box&gt;&#10;          &lt;Box style={{ width: 46, height: 46, borderRadius: 12, background: '#E3F1EA', justifyContent: 'center', alignItems: 'center' }}&gt;&#10;            &lt;FAIcon name={it.ic} style={{ fill: '#1B7A5E', width: 20, height: 20 }} /&gt;&#10;          &lt;/Box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09600" y="685800"/>
            <a:ext cx="3305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00">
                <a:solidFill>
                  <a:srgbClr val="C2762B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09600" y="971550"/>
            <a:ext cx="330517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F2A26"/>
                </a:solidFill>
                <a:latin typeface="Noto Serif SC"/>
                <a:ea typeface="Noto Serif SC"/>
              </a:rPr>
              <a:t>目录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609600" y="16954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5486400"/>
            <a:ext cx="3305175" cy="7620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四个章节，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由需求到价值，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层层递进。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4371975" y="1438275"/>
            <a:ext cx="7210425" cy="1000125"/>
          </a:xfrm>
          <a:custGeom>
            <a:pathLst>
              <a:path w="757" h="105">
                <a:moveTo>
                  <a:pt x="0" y="104"/>
                </a:moveTo>
                <a:lnTo>
                  <a:pt x="757" y="104"/>
                </a:lnTo>
                <a:lnTo>
                  <a:pt x="757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E6E2D6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4448175" y="1628775"/>
            <a:ext cx="876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C2762B"/>
                </a:solidFill>
                <a:latin typeface="Noto Serif SC"/>
                <a:ea typeface="Noto Serif SC"/>
              </a:rPr>
              <a:t>01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553075" y="1704975"/>
            <a:ext cx="5286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26"/>
                </a:solidFill>
                <a:latin typeface="Noto Serif SC"/>
                <a:ea typeface="Noto Serif SC"/>
              </a:rPr>
              <a:t>需求洞察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5553075" y="2000250"/>
            <a:ext cx="528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科研人的真实痛点，与我们给出的答案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11068050" y="1714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5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91875" y="1838325"/>
            <a:ext cx="190500" cy="190500"/>
          </a:xfrm>
          <a:prstGeom prst="rect">
            <a:avLst/>
          </a:prstGeom>
          <a:ln/>
        </p:spPr>
      </p:pic>
      <p:sp>
        <p:nvSpPr>
          <p:cNvPr id="523" name=""/>
          <p:cNvSpPr/>
          <p:nvPr/>
        </p:nvSpPr>
        <p:spPr>
          <a:xfrm rot="0" flipH="0" flipV="0">
            <a:off x="4371975" y="2466975"/>
            <a:ext cx="7210425" cy="1000125"/>
          </a:xfrm>
          <a:custGeom>
            <a:pathLst>
              <a:path w="757" h="105">
                <a:moveTo>
                  <a:pt x="0" y="104"/>
                </a:moveTo>
                <a:lnTo>
                  <a:pt x="757" y="104"/>
                </a:lnTo>
                <a:lnTo>
                  <a:pt x="757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E6E2D6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448175" y="2657475"/>
            <a:ext cx="876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C2762B"/>
                </a:solidFill>
                <a:latin typeface="Noto Serif SC"/>
                <a:ea typeface="Noto Serif SC"/>
              </a:rPr>
              <a:t>02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553075" y="2733675"/>
            <a:ext cx="5286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26"/>
                </a:solidFill>
                <a:latin typeface="Noto Serif SC"/>
                <a:ea typeface="Noto Serif SC"/>
              </a:rPr>
              <a:t>团队及产品介绍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553075" y="3028950"/>
            <a:ext cx="528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我们是谁</a:t>
            </a:r>
            <a:r>
              <a:rPr lang="en-US" sz="1050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产品是什么</a:t>
            </a:r>
            <a:r>
              <a:rPr lang="en-US" sz="1050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凭什么是我们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11068050" y="27432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91875" y="2867025"/>
            <a:ext cx="190500" cy="190500"/>
          </a:xfrm>
          <a:prstGeom prst="rect">
            <a:avLst/>
          </a:prstGeom>
          <a:ln/>
        </p:spPr>
      </p:pic>
      <p:sp>
        <p:nvSpPr>
          <p:cNvPr id="529" name=""/>
          <p:cNvSpPr/>
          <p:nvPr/>
        </p:nvSpPr>
        <p:spPr>
          <a:xfrm rot="0" flipH="0" flipV="0">
            <a:off x="4371975" y="3495675"/>
            <a:ext cx="7210425" cy="1000125"/>
          </a:xfrm>
          <a:custGeom>
            <a:pathLst>
              <a:path w="757" h="105">
                <a:moveTo>
                  <a:pt x="0" y="104"/>
                </a:moveTo>
                <a:lnTo>
                  <a:pt x="757" y="104"/>
                </a:lnTo>
                <a:lnTo>
                  <a:pt x="757" y="105"/>
                </a:lnTo>
                <a:lnTo>
                  <a:pt x="0" y="105"/>
                </a:lnTo>
                <a:close/>
              </a:path>
            </a:pathLst>
          </a:custGeom>
          <a:solidFill>
            <a:srgbClr val="E6E2D6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448175" y="3686175"/>
            <a:ext cx="876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C2762B"/>
                </a:solidFill>
                <a:latin typeface="Noto Serif SC"/>
                <a:ea typeface="Noto Serif SC"/>
              </a:rPr>
              <a:t>03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5553075" y="3762375"/>
            <a:ext cx="5286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26"/>
                </a:solidFill>
                <a:latin typeface="Noto Serif SC"/>
                <a:ea typeface="Noto Serif SC"/>
              </a:rPr>
              <a:t>技术解析及亮点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553075" y="4057650"/>
            <a:ext cx="528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前端</a:t>
            </a:r>
            <a:r>
              <a:rPr lang="en-US" sz="1050">
                <a:solidFill>
                  <a:srgbClr val="8A948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后端</a:t>
            </a:r>
            <a:r>
              <a:rPr lang="en-US" sz="1050">
                <a:solidFill>
                  <a:srgbClr val="8A948D"/>
                </a:solidFill>
                <a:latin typeface="Microsoft YaHei"/>
                <a:ea typeface="Microsoft YaHei"/>
              </a:rPr>
              <a:t xml:space="preserve"> / AI </a:t>
            </a: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能力的深度拆解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11068050" y="37719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5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1191875" y="3895725"/>
            <a:ext cx="190500" cy="190500"/>
          </a:xfrm>
          <a:prstGeom prst="rect">
            <a:avLst/>
          </a:prstGeom>
          <a:ln/>
        </p:spPr>
      </p:pic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4448175" y="4714875"/>
            <a:ext cx="876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C2762B"/>
                </a:solidFill>
                <a:latin typeface="Noto Serif SC"/>
                <a:ea typeface="Noto Serif SC"/>
              </a:rPr>
              <a:t>04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553075" y="4791075"/>
            <a:ext cx="5286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26"/>
                </a:solidFill>
                <a:latin typeface="Noto Serif SC"/>
                <a:ea typeface="Noto Serif SC"/>
              </a:rPr>
              <a:t>商业模式及创新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5553075" y="5086350"/>
            <a:ext cx="5286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成本</a:t>
            </a:r>
            <a:r>
              <a:rPr lang="en-US" sz="1050">
                <a:solidFill>
                  <a:srgbClr val="8A948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收益</a:t>
            </a:r>
            <a:r>
              <a:rPr lang="en-US" sz="1050">
                <a:solidFill>
                  <a:srgbClr val="8A948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市场</a:t>
            </a:r>
            <a:r>
              <a:rPr lang="en-US" sz="1050">
                <a:solidFill>
                  <a:srgbClr val="8A948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行业价值</a:t>
            </a:r>
            <a:r>
              <a:rPr lang="en-US" sz="1050">
                <a:solidFill>
                  <a:srgbClr val="8A948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8A948D"/>
                </a:solidFill>
                <a:latin typeface="Microsoft YaHei"/>
                <a:ea typeface="Microsoft YaHei"/>
              </a:rPr>
              <a:t>公益计划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11068050" y="48006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5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191875" y="4924425"/>
            <a:ext cx="190500" cy="1905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49" name="" descr="&lt;Slide style={{ padding: 0, background: '#0E4A37' }}&gt;&#10;  &lt;Box style={{ width: '100%', height: '100%', position: 'relative', justifyContent: 'center', padding: '0 72px' }}&gt;&#10;    {/* 背景网格纹理 */}&#10;    &lt;Box style={{ position: 'absolute', top: 0, left: 0, width: '100%', height: '100%', opacity: 0.05, background: 'linear-gradient(0deg, transparent 31px, #FFFFFF 32px), linear-gradient(90deg, transparent 31px, #FFFFFF 32px)', backgroundSize: '32px 32px' }} /&gt;&#10;    {/* 超大半透明章节数字 */}&#10;    &lt;Text style={{ position: 'absolute', right: 64, bottom: 8, fontSize: 260, fontWeight: 'bold', color: '#C2762B', opacity: 0.12, fontFamily: 'Noto Serif SC, Georgia, serif', lineHeight: 1 }}&gt;01&lt;/Text&gt;&#10;    &lt;Box style={{ position: 'relative', zIndex: 1, gap: 22 }}&gt;&#10;      &lt;Text style={{ fontSize: 15, color: '#C2762B', letterSpacing: 5, fontWeight: 600 }}&gt;PART 01 · 需求洞察&lt;/Text&gt;&#10;      &lt;Text style={{ fontSize: 44, fontWeight: 'bold', color: '#FFFFFF', fontFamily: 'Noto Serif SC, Georgia, serif', lineHeight: 1.35 }}&gt;&#10;        每一项伟大的研究背后，&lt;br /&gt;都有 99% 不为人知的重复劳动。&#10;      &lt;/Text&gt;&#10;      &lt;Box style={{ width: 72, height: 4, background: '#C2762B', borderRadius: 2 }} /&gt;&#10;      &lt;Text style={{ fontSize: 16, color: 'rgba(255,255,255,0.75)', lineHeight: 1.8 }}&gt;科研选题、英文精读、实验设计、论文写作……&lt;br /&gt;机械环节正一点点吞掉本该用于思考的时间。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4A37"/>
          </a:solidFill>
          <a:ln/>
        </p:spPr>
        <p:txBody>
          <a:bodyPr/>
          <a:p/>
        </p:txBody>
      </p:sp>
      <p:sp>
        <p:nvSpPr>
          <p:cNvPr id="6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FFFFFF">
                  <a:alpha val="0"/>
                </a:srgbClr>
              </a:gs>
              <a:gs pos="32000">
                <a:srgbClr val="FFFFFF">
                  <a:alpha val="500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6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FFFFFF">
                  <a:alpha val="0"/>
                </a:srgbClr>
              </a:gs>
              <a:gs pos="32000">
                <a:srgbClr val="FFFFFF">
                  <a:alpha val="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629650" y="3810000"/>
            <a:ext cx="295275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C2762B">
                    <a:alpha val="12000"/>
                  </a:srgbClr>
                </a:solidFill>
                <a:latin typeface="Noto Serif SC"/>
                <a:ea typeface="Noto Serif SC"/>
              </a:rPr>
              <a:t>01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85800" y="200025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C2762B"/>
                </a:solidFill>
                <a:latin typeface="Microsoft YaHei"/>
                <a:ea typeface="Microsoft YaHei"/>
              </a:rPr>
              <a:t xml:space="preserve">PART 01 · </a:t>
            </a:r>
            <a:r>
              <a:rPr lang="zh-CN" sz="1125" b="1" spc="375">
                <a:solidFill>
                  <a:srgbClr val="C2762B"/>
                </a:solidFill>
                <a:latin typeface="Microsoft YaHei"/>
                <a:ea typeface="Microsoft YaHei"/>
              </a:rPr>
              <a:t>需求洞察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85800" y="2381250"/>
            <a:ext cx="10820400" cy="1362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300" b="1">
                <a:solidFill>
                  <a:srgbClr val="FFFFFF"/>
                </a:solidFill>
                <a:latin typeface="Noto Serif SC"/>
                <a:ea typeface="Noto Serif SC"/>
              </a:rPr>
              <a:t>每一项伟大的研究背后，</a:t>
            </a:r>
            <a:endParaRPr/>
          </a:p>
          <a:p>
            <a:pPr>
              <a:lnSpc>
                <a:spcPct val="135000"/>
              </a:lnSpc>
            </a:pPr>
            <a:r>
              <a:rPr lang="zh-CN" sz="3300" b="1">
                <a:solidFill>
                  <a:srgbClr val="FFFFFF"/>
                </a:solidFill>
                <a:latin typeface="Noto Serif SC"/>
                <a:ea typeface="Noto Serif SC"/>
              </a:rPr>
              <a:t>都有</a:t>
            </a:r>
            <a:r>
              <a:rPr lang="en-US" sz="3300" b="1">
                <a:solidFill>
                  <a:srgbClr val="FFFFFF"/>
                </a:solidFill>
                <a:latin typeface="Noto Serif SC"/>
                <a:ea typeface="Noto Serif SC"/>
              </a:rPr>
              <a:t xml:space="preserve"> 99% </a:t>
            </a:r>
            <a:r>
              <a:rPr lang="zh-CN" sz="3300" b="1">
                <a:solidFill>
                  <a:srgbClr val="FFFFFF"/>
                </a:solidFill>
                <a:latin typeface="Noto Serif SC"/>
                <a:ea typeface="Noto Serif SC"/>
              </a:rPr>
              <a:t>不为人知的重复劳动。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85800" y="395287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85800" y="4200525"/>
            <a:ext cx="10820400" cy="6667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科研选题、英文精读、实验设计、论文写作……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机械环节正一点点吞掉本该用于思考的时间。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658" name="" descr="&lt;Slide style={{ padding: 0, background: '#F6F4EE' }}&gt;&#10;  {/* A 标题块 */}&#10;  &lt;Box style={{ flexDirection: 'row', alignItems: 'center', padding: '20px 60px 10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1 · 需求洞察&lt;/Text&gt;&lt;/Box&gt;&#10;        &lt;Text style={{ fontSize: 13, color: '#8A948D' }}&gt;八大痛点 · 一一对应解法&lt;/Text&gt;&#10;      &lt;/Box&gt;&#10;      &lt;Text style={{ fontSize: 28, fontWeight: 'bold', color: '#1F2A26', fontFamily: 'Noto Serif SC, Georgia, serif', marginTop: 6 }}&gt;科研痛点 × ScienceX 解法 —— 每条都可量化&lt;/Text&gt;&#10;    &lt;/Box&gt;&#10;  &lt;/Box&gt;&#10;  {/* B 内容区 */}&#10;  &lt;Box style={{ padding: '8px 60px 10px', height: 500 }}&gt;&#10;    &lt;Table&#10;      style={{ width: '100%', height: 412 }}&#10;      defaultTextStyle={{ fontSize: 13.5, textAlign: 'left', color: '#1F2A26' }}&#10;      defaultCellStyle={{&#10;        border: { left: { width: 1, color: '#E6E2D6' }, right: { width: 1, color: '#E6E2D6' }, top: { width: 1, color: '#E6E2D6' }, bottom: { width: 1, color: '#E6E2D6' } },&#10;      }}&#10;      cells={[&#10;        [&#10;          { text: '科研环节', textStyle: { bold: true, color: '#FFFFFF', fontSize: 14 }, cellStyle: { background: { color: '#1B7A5E' } } },&#10;          { text: '😫 真实痛点', textStyle: { bold: true, color: '#FFFFFF', fontSize: 14 }, cellStyle: { background: { color: '#B0413E' } } },&#10;          { text: '✨ ScienceX 的解法', textStyle: { bold: true, color: '#FFFFFF', fontSize: 14 }, cellStyle: { background: { color: '#1B7A5E' } } },&#10;          { text: '量化收益', textStyle: { bold: true, color: '#FFFFFF', fontSize: 14 }, cellStyle: { background: { color: '#C2762B' } } },&#10;        ],&#10;        ['选题', '不知从哪找方向、判断不了可行性', '多源文献检索 + 选题推荐 + 5 维可行性评估 + 一键开题报告', { text: '调研耗时 ↓60%', textStyle: { bold: true, color: '#C2762B' } }],&#10;        ['读文献', '英文阅读慢、读不懂、读了忘', '划词翻译 + 思维导图 + 七段式总结 + 3D 引用图谱', { text: '单篇精读 ↓50%', textStyle: { bold: true, color: '#C2762B' } }],&#10;        [{ text: '实验', cellStyle: { background: { color: '#F0EFE8' } } }, { text: '参数乱记、GPU 抢不到、方案拍脑袋', cellStyle: { background: { color: '#F0EFE8' } } }, { text: '参数看板 + GPU 可视化 + 消融方案矩阵 + SOTA 对标', cellStyle: { background: { color: '#F0EFE8' } } }, { text: '方案设计 ↑40%', textStyle: { bold: true, color: '#C2762B' }, cellStyle: { background: { color: '#F0EFE8' } } }],&#10;        ['数据分析', '不会画图、看不懂结果', '10 类学术图表模板 + AI 图表解读与建议', { text: '出图解读 ↓70%', textStyle: { bold: true, color: '#C2762B' } }],&#10;        [{ text: '写作', cellStyle: { background: { color: '#F0EFE8' } } }, { text: '表达不地道、怕查重、降重难', cellStyle: { background: { color: '#F0EFE8' } } }, { text: '中英互译 + 学术润色 + AI 查重 + 保义降重', cellStyle: { background: { color: '#F0EFE8' } } }, { text: '改稿轮次 ↓50%', textStyle: { bold: true, color: '#C2762B' }, cellStyle: { background: { color: '#F0EFE8' } } }],&#10;        ['投稿', '不了解期刊、错过 deadline', 'CCF 期刊大全 + 投稿倒计时 + 智能匹配推荐', { text: '投稿准备 ↓40%', textStyle: { bold: true, color: '#C2762B' } }],&#10;        [{ text: '协作', cellStyle: { background: { color: '#F0EFE8' } } }, { text: '组会汇报累、导师意见散乱', cellStyle: { background: { color: '#F0EFE8' } } }, { text: 'PPT 一键生成 + 导师建议待办化 + 多智能体评审', cellStyle: { background: { color: '#F0EFE8' } } }, { text: '组会准备 ↓70%', textStyle: { bold: true, color: '#C2762B' }, cellStyle: { background: { color: '#F0EFE8' } } }],&#10;        ['知识', '资料散落各处、无法复用', '课题组空间 + RAG 知识库', { text: '知识复用显著提升', textStyle: { bold: true, color: '#C2762B' } }],&#10;      ]}&#10;    /&gt;&#10;    {/* 底部结论条 */}&#10;    &lt;Box style={{ flexDirection: 'row', alignItems: 'center', marginTop: 14, padding: '12px 18px', background: '#FAF0E1', borderLeft: '4px solid #C2762B', borderRadius: 6, gap: 12 }}&gt;&#10;      &lt;FAIcon name=&quot;lightbulb&quot; style={{ fill: '#C2762B', width: 18, height: 18 }} /&gt;&#10;      &lt;Text style={{ fontSize: 15.5, color: '#4A3A22', lineHeight: 1.6 }}&gt;&lt;span style={{ fontWeight: 'bold' }}&gt;总价值主张：&lt;/span&gt;把科研从「体力活」变成「思考活」——AI 承接 60% 以上重复劳动，让研究者把时间花在&lt;span style={{ fontWeight: 'bold', color: '#1B7A5E' }}&gt;提出好问题&lt;/span&gt;上。&lt;/Text&gt;&#10;    &lt;/Box&gt;&#10;  &lt;/Box&gt;&#10;  {/* C 页脚条 */}&#10;  &lt;Box style={{ flexDirection: 'row', justifyContent: 'space-between', alignItems: 'center', padding: '0 60px', height: 40, marginTop: 10 }}&gt;&#10;    &lt;Text style={{ fontSize: 12, color: '#8A948D' }}&gt;ScienceX · AI 科研工作台&lt;/Text&gt;&#10;    &lt;Text style={{ fontSize: 12, color: '#8A948D' }}&gt;03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660" name=""/>
          <p:cNvSpPr/>
          <p:nvPr/>
        </p:nvSpPr>
        <p:spPr>
          <a:xfrm rot="0" flipH="0" flipV="0">
            <a:off x="571500" y="2952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661" name=""/>
          <p:cNvSpPr/>
          <p:nvPr/>
        </p:nvSpPr>
        <p:spPr>
          <a:xfrm rot="0" flipH="0" flipV="0">
            <a:off x="742950" y="19050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38200" y="2190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01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需求洞察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2085975" y="219075"/>
            <a:ext cx="1343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八大痛点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一一对应解法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742950" y="447675"/>
            <a:ext cx="5476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科研痛点</a:t>
            </a:r>
            <a:r>
              <a:rPr lang="en-US" sz="210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× ScienceX </a:t>
            </a: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解法</a:t>
            </a:r>
            <a:r>
              <a:rPr lang="en-US" sz="210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—— </a:t>
            </a: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每条都可量化</a:t>
            </a:r>
            <a:endParaRPr/>
          </a:p>
        </p:txBody>
      </p:sp>
      <p:graphicFrame>
        <p:nvGraphicFramePr>
          <p:cNvPr id="665" name=""/>
          <p:cNvGraphicFramePr/>
          <p:nvPr/>
        </p:nvGraphicFramePr>
        <p:xfrm rot="0" flipH="0" flipV="0">
          <a:off x="571500" y="942975"/>
          <a:ext cx="11049000" cy="3924300"/>
        </p:xfrm>
        <a:graphic>
          <a:graphicData uri="http://schemas.openxmlformats.org/drawingml/2006/table">
            <a:tbl>
              <a:tblGrid>
                <a:gridCol w="920516">
                  <a:extLst>
                    <a:ext uri="{9D8B030D-6E8A-4147-A177-3AD203B41FA5}">
                      <a16:colId val="1"/>
                    </a:ext>
                  </a:extLst>
                </a:gridCol>
                <a:gridCol w="3249871">
                  <a:extLst>
                    <a:ext uri="{9D8B030D-6E8A-4147-A177-3AD203B41FA5}">
                      <a16:colId val="2"/>
                    </a:ext>
                  </a:extLst>
                </a:gridCol>
                <a:gridCol w="5228419">
                  <a:extLst>
                    <a:ext uri="{9D8B030D-6E8A-4147-A177-3AD203B41FA5}">
                      <a16:colId val="3"/>
                    </a:ext>
                  </a:extLst>
                </a:gridCol>
                <a:gridCol w="1650194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4907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科研环节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7A5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😫 真实痛点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0413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✨ ScienceX 的解法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7A5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量化收益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762B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34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选题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不知从哪找方向、判断不了可行性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多源文献检索 + 选题推荐 + 5 维可行性评估 + 一键开题报告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2762B"/>
                          </a:solidFill>
                          <a:latin typeface="Microsoft YaHei"/>
                          <a:ea typeface="Microsoft YaHei"/>
                        </a:rPr>
                        <a:t>调研耗时 ↓60%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34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读文献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英文阅读慢、读不懂、读了忘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划词翻译 + 思维导图 + 七段式总结 + 3D 引用图谱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2762B"/>
                          </a:solidFill>
                          <a:latin typeface="Microsoft YaHei"/>
                          <a:ea typeface="Microsoft YaHei"/>
                        </a:rPr>
                        <a:t>单篇精读 ↓50%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34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实验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参数乱记、GPU 抢不到、方案拍脑袋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参数看板 + GPU 可视化 + 消融方案矩阵 + SOTA 对标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2762B"/>
                          </a:solidFill>
                          <a:latin typeface="Microsoft YaHei"/>
                          <a:ea typeface="Microsoft YaHei"/>
                        </a:rPr>
                        <a:t>方案设计 ↑40%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34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数据分析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不会画图、看不懂结果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10 类学术图表模板 + AI 图表解读与建议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2762B"/>
                          </a:solidFill>
                          <a:latin typeface="Microsoft YaHei"/>
                          <a:ea typeface="Microsoft YaHei"/>
                        </a:rPr>
                        <a:t>出图解读 ↓70%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34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写作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表达不地道、怕查重、降重难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中英互译 + 学术润色 + AI 查重 + 保义降重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2762B"/>
                          </a:solidFill>
                          <a:latin typeface="Microsoft YaHei"/>
                          <a:ea typeface="Microsoft YaHei"/>
                        </a:rPr>
                        <a:t>改稿轮次 ↓50%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34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投稿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不了解期刊、错过 deadline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CCF 期刊大全 + 投稿倒计时 + 智能匹配推荐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2762B"/>
                          </a:solidFill>
                          <a:latin typeface="Microsoft YaHei"/>
                          <a:ea typeface="Microsoft YaHei"/>
                        </a:rPr>
                        <a:t>投稿准备 ↓40%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34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协作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组会汇报累、导师意见散乱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PPT 一键生成 + 导师建议待办化 + 多智能体评审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2762B"/>
                          </a:solidFill>
                          <a:latin typeface="Microsoft YaHei"/>
                          <a:ea typeface="Microsoft YaHei"/>
                        </a:rPr>
                        <a:t>组会准备 ↓70%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3440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知识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资料散落各处、无法复用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课题组空间 + RAG 知识库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C2762B"/>
                          </a:solidFill>
                          <a:latin typeface="Microsoft YaHei"/>
                          <a:ea typeface="Microsoft YaHei"/>
                        </a:rPr>
                        <a:t>知识复用显著提升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666" name=""/>
          <p:cNvSpPr/>
          <p:nvPr/>
        </p:nvSpPr>
        <p:spPr>
          <a:xfrm rot="0" flipH="0" flipV="0">
            <a:off x="609600" y="5000625"/>
            <a:ext cx="11049000" cy="514350"/>
          </a:xfrm>
          <a:prstGeom prst="roundRect">
            <a:avLst>
              <a:gd name="adj" fmla="val 11111"/>
            </a:avLst>
          </a:prstGeom>
          <a:solidFill>
            <a:srgbClr val="FAF0E1"/>
          </a:solidFill>
          <a:ln/>
        </p:spPr>
        <p:txBody>
          <a:bodyPr/>
          <a:p/>
        </p:txBody>
      </p:sp>
      <p:sp>
        <p:nvSpPr>
          <p:cNvPr id="667" name=""/>
          <p:cNvSpPr/>
          <p:nvPr/>
        </p:nvSpPr>
        <p:spPr>
          <a:xfrm rot="0" flipH="0" flipV="0">
            <a:off x="609600" y="5000625"/>
            <a:ext cx="11049000" cy="514350"/>
          </a:xfrm>
          <a:custGeom>
            <a:pathLst>
              <a:path w="1160" h="54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52"/>
                </a:lnTo>
                <a:cubicBezTo>
                  <a:pt x="4" y="53"/>
                  <a:pt x="5" y="54"/>
                  <a:pt x="6" y="54"/>
                </a:cubicBezTo>
                <a:cubicBezTo>
                  <a:pt x="3" y="54"/>
                  <a:pt x="0" y="51"/>
                  <a:pt x="0" y="4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pic>
        <p:nvPicPr>
          <p:cNvPr id="6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5172075"/>
            <a:ext cx="171450" cy="171450"/>
          </a:xfrm>
          <a:prstGeom prst="rect">
            <a:avLst/>
          </a:prstGeom>
          <a:ln/>
        </p:spPr>
      </p:pic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066800" y="5114925"/>
            <a:ext cx="78486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 b="1">
                <a:solidFill>
                  <a:srgbClr val="4A3A22"/>
                </a:solidFill>
                <a:latin typeface="Microsoft YaHei"/>
                <a:ea typeface="Microsoft YaHei"/>
              </a:rPr>
              <a:t>总价值主张：</a:t>
            </a:r>
            <a:r>
              <a:rPr lang="zh-CN" sz="1163">
                <a:solidFill>
                  <a:srgbClr val="4A3A22"/>
                </a:solidFill>
                <a:latin typeface="Microsoft YaHei"/>
                <a:ea typeface="Microsoft YaHei"/>
              </a:rPr>
              <a:t>把科研从「体力活」变成「思考活」——</a:t>
            </a:r>
            <a:r>
              <a:rPr lang="en-US" sz="1163">
                <a:solidFill>
                  <a:srgbClr val="4A3A22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63">
                <a:solidFill>
                  <a:srgbClr val="4A3A22"/>
                </a:solidFill>
                <a:latin typeface="Microsoft YaHei"/>
                <a:ea typeface="Microsoft YaHei"/>
              </a:rPr>
              <a:t>承接</a:t>
            </a:r>
            <a:r>
              <a:rPr lang="en-US" sz="1163">
                <a:solidFill>
                  <a:srgbClr val="4A3A22"/>
                </a:solidFill>
                <a:latin typeface="Microsoft YaHei"/>
                <a:ea typeface="Microsoft YaHei"/>
              </a:rPr>
              <a:t xml:space="preserve"> 60% </a:t>
            </a:r>
            <a:r>
              <a:rPr lang="zh-CN" sz="1163">
                <a:solidFill>
                  <a:srgbClr val="4A3A22"/>
                </a:solidFill>
                <a:latin typeface="Microsoft YaHei"/>
                <a:ea typeface="Microsoft YaHei"/>
              </a:rPr>
              <a:t>以上重复劳动，让研究者把时间花在</a:t>
            </a:r>
            <a:r>
              <a:rPr lang="zh-CN" sz="1163" b="1">
                <a:solidFill>
                  <a:srgbClr val="1B7A5E"/>
                </a:solidFill>
                <a:latin typeface="Microsoft YaHei"/>
                <a:ea typeface="Microsoft YaHei"/>
              </a:rPr>
              <a:t>提出好问题</a:t>
            </a:r>
            <a:r>
              <a:rPr lang="zh-CN" sz="1163">
                <a:solidFill>
                  <a:srgbClr val="4A3A22"/>
                </a:solidFill>
                <a:latin typeface="Microsoft YaHei"/>
                <a:ea typeface="Microsoft YaHei"/>
              </a:rPr>
              <a:t>上。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71500" y="584835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11229975" y="58483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03 / 22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72" name="" descr="&lt;Slide style={{ padding: 0, background: '#0E4A37' }}&gt;&#10;  &lt;Box style={{ width: '100%', height: '100%', position: 'relative', justifyContent: 'center', padding: '0 72px' }}&gt;&#10;    &lt;Box style={{ position: 'absolute', top: 0, left: 0, width: '100%', height: '100%', opacity: 0.05, background: 'linear-gradient(0deg, transparent 31px, #FFFFFF 32px), linear-gradient(90deg, transparent 31px, #FFFFFF 32px)', backgroundSize: '32px 32px' }} /&gt;&#10;    &lt;Text style={{ position: 'absolute', right: 64, bottom: 8, fontSize: 260, fontWeight: 'bold', color: '#C2762B', opacity: 0.12, fontFamily: 'Noto Serif SC, Georgia, serif', lineHeight: 1 }}&gt;02&lt;/Text&gt;&#10;    &lt;Box style={{ position: 'relative', zIndex: 1, gap: 22 }}&gt;&#10;      &lt;Text style={{ fontSize: 15, color: '#C2762B', letterSpacing: 5, fontWeight: 600 }}&gt;PART 02 · 团队及产品介绍&lt;/Text&gt;&#10;      &lt;Text style={{ fontSize: 44, fontWeight: 'bold', color: '#FFFFFF', fontFamily: 'Noto Serif SC, Georgia, serif', lineHeight: 1.35 }}&gt;&#10;        对话即工作台，工具即智能体。&lt;br /&gt;把繁复机械交给 AI，让研究者专注创新本身。&#10;      &lt;/Text&gt;&#10;      &lt;Box style={{ width: 72, height: 4, background: '#C2762B', borderRadius: 2 }} /&gt;&#10;      &lt;Text style={{ fontSize: 16, color: 'rgba(255,255,255,0.75)', lineHeight: 1.8 }}&gt;团队画像 · 品牌文案 · 产品定位 · 用户画像 · 功能矩阵 · 竞品差异化 · 评分亮点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4A37"/>
          </a:solidFill>
          <a:ln/>
        </p:spPr>
        <p:txBody>
          <a:bodyPr/>
          <a:p/>
        </p:txBody>
      </p:sp>
      <p:sp>
        <p:nvSpPr>
          <p:cNvPr id="6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FFFFFF">
                  <a:alpha val="0"/>
                </a:srgbClr>
              </a:gs>
              <a:gs pos="32000">
                <a:srgbClr val="FFFFFF">
                  <a:alpha val="500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FFFFFF">
                  <a:alpha val="0"/>
                </a:srgbClr>
              </a:gs>
              <a:gs pos="32000">
                <a:srgbClr val="FFFFFF">
                  <a:alpha val="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286750" y="3810000"/>
            <a:ext cx="329565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C2762B">
                    <a:alpha val="12000"/>
                  </a:srgbClr>
                </a:solidFill>
                <a:latin typeface="Noto Serif SC"/>
                <a:ea typeface="Noto Serif SC"/>
              </a:rPr>
              <a:t>02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C2762B"/>
                </a:solidFill>
                <a:latin typeface="Microsoft YaHei"/>
                <a:ea typeface="Microsoft YaHei"/>
              </a:rPr>
              <a:t xml:space="preserve">PART 02 · </a:t>
            </a:r>
            <a:r>
              <a:rPr lang="zh-CN" sz="1125" b="1" spc="375">
                <a:solidFill>
                  <a:srgbClr val="C2762B"/>
                </a:solidFill>
                <a:latin typeface="Microsoft YaHei"/>
                <a:ea typeface="Microsoft YaHei"/>
              </a:rPr>
              <a:t>团队及产品介绍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85800" y="2543175"/>
            <a:ext cx="10820400" cy="1362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300" b="1">
                <a:solidFill>
                  <a:srgbClr val="FFFFFF"/>
                </a:solidFill>
                <a:latin typeface="Noto Serif SC"/>
                <a:ea typeface="Noto Serif SC"/>
              </a:rPr>
              <a:t>对话即工作台，工具即智能体。</a:t>
            </a:r>
            <a:endParaRPr/>
          </a:p>
          <a:p>
            <a:pPr>
              <a:lnSpc>
                <a:spcPct val="135000"/>
              </a:lnSpc>
            </a:pPr>
            <a:r>
              <a:rPr lang="zh-CN" sz="3300" b="1">
                <a:solidFill>
                  <a:srgbClr val="FFFFFF"/>
                </a:solidFill>
                <a:latin typeface="Noto Serif SC"/>
                <a:ea typeface="Noto Serif SC"/>
              </a:rPr>
              <a:t>把繁复机械交给</a:t>
            </a:r>
            <a:r>
              <a:rPr lang="en-US" sz="3300" b="1">
                <a:solidFill>
                  <a:srgbClr val="FFFFFF"/>
                </a:solidFill>
                <a:latin typeface="Noto Serif SC"/>
                <a:ea typeface="Noto Serif SC"/>
              </a:rPr>
              <a:t xml:space="preserve"> AI</a:t>
            </a:r>
            <a:r>
              <a:rPr lang="zh-CN" sz="3300" b="1">
                <a:solidFill>
                  <a:srgbClr val="FFFFFF"/>
                </a:solidFill>
                <a:latin typeface="Noto Serif SC"/>
                <a:ea typeface="Noto Serif SC"/>
              </a:rPr>
              <a:t>，让研究者专注创新本身。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85800" y="41148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685800" y="43624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团队画像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品牌文案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产品定位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用户画像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功能矩阵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竞品差异化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评分亮点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1" name="" descr="&lt;Slide style={{ padding: 0, background: '#F6F4EE' }}&gt;&#10;  {/* A 标题块 */}&#10;  &lt;Box style={{ flexDirection: 'row', alignItems: 'center', padding: '20px 60px 8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2 · 团队及产品&lt;/Text&gt;&lt;/Box&gt;&#10;        &lt;Text style={{ fontSize: 13, color: '#8A948D' }}&gt;产品 × 工程 × 算法三线并置&lt;/Text&gt;&#10;      &lt;/Box&gt;&#10;      &lt;Text style={{ fontSize: 28, fontWeight: 'bold', color: '#1F2A26', fontFamily: 'Noto Serif SC, Georgia, serif', marginTop: 6 }}&gt;一支「懂科研」的跨学科团队&lt;/Text&gt;&#10;    &lt;/Box&gt;&#10;  &lt;/Box&gt;&#10;  {/* B 内容区 */}&#10;  &lt;Box style={{ padding: '6px 60px 0', height: 470 }}&gt;&#10;    &lt;Box style={{ flexDirection: 'row', gap: 24, height: 372, alignItems: 'flex-end', paddingTop: 20 }}&gt;&#10;      {[&#10;        { role: '产品负责人', name: '张 ××', ic: 'user-tie', bar: '#1B7A5E', lift: false, items: ['前沿科研一线经历', '13 大功能模块 · 全流程 PRD 设计', '用户画像与场景深度调研', '定价与商业模式设计'] },&#10;        { role: '全栈开发工程师', name: '李 ××', ic: 'code', bar: '#4A5568', lift: false, items: ['React 18 + TypeScript 前端', 'Node.js + Express 后端', '40+ REST/SSE 接口契约设计', 'HMAC 安全认证与限流治理'] },&#10;        { role: 'Agent 算法工程师', name: '王 ××', ic: 'robot', bar: '#C2762B', lift: true, items: ['灵犀多智能体引擎 · 8 类编排', '三层课题组记忆引擎', 'RAG 检索与提示词工程体系', '五角色专家评审团机制'] },&#10;      ].map((m, i) =&gt; (&#10;        &lt;Box key={i} style={{ flex: 1, height: m.lift ? '100%' : '90%', background: '#FFFFFF', borderRadius: 14, border: m.lift ? '2px solid #C2762B' : '1px solid #E6E2D6', boxShadow: m.lift ? '0 8px 28px rgba(194,118,43,0.14)' : '0 2px 12px rgba(0,0,0,0.06)', padding: '20px 20px 16px', flexDirection: 'column', gap: 12 }}&gt;&#10;          &lt;Box style={{ height: 5, background: m.bar, borderRadius: 3, margin: '-20px -20px 0', borderTopLeftRadius: 14, borderTopRightRadius: 14 }} /&gt;&#10;          &lt;Box style={{ flexDirection: 'row', alignItems: 'center', gap: 14 }}&gt;&#10;            &lt;Box style={{ width: 60, height: 60, borderRadius: '50%', background: m.bar + '18', justifyContent: 'center', alignItems: 'center' }}&gt;&#10;              &lt;FAIcon name={m.ic} style={{ fill: m.bar, width: 26, height: 26 }} /&gt;&#10;            &lt;/Box&gt;&#10;            &lt;Box&gt;&#10;              &lt;Text style={{ fontSize: 19, fontWeight: 'bold', color: '#1F2A26', fontFamily: 'Noto Serif SC, Georgia, serif' }}&gt;{m.name}&lt;/Text&gt;&#10;              &lt;Box style={{ background: '#E3F1EA', borderRadius: 10, padding: '2px 10px', marginTop: 4, alignSelf: 'flex-start' }}&gt;&lt;Text style={{ fontSize: 12, color: '#1B7A5E', fontWeight: 600 }}&gt;{m.role}&lt;/Text&gt;&lt;/Box&gt;&#10;            &lt;/Box&gt;&#10;          &lt;/Box&gt;&#10;          &lt;Box style={{ borderTop: '1px solid #EFECE2', paddingTop: 10, gap: 8, flexDirection: 'column' }}&gt;&#10;            {m.items.map((it, j) =&gt; (&#10;              &lt;Box key={j} style={{ flexDirection: 'row', gap: 8, alignItems: 'flex-start' }}&gt;&#10;                &lt;FAIcon name=&quot;check-circle&quot; style={{ fill: m.bar, width: 14, height: 14 }} /&gt;&#10;                &lt;Text style={{ fontSize: 13.5, color: '#4A554F', lineHeight: 1.5 }}&gt;{it}&lt;/Text&gt;&#10;              &lt;/Box&gt;&#10;            ))}&#10;          &lt;/Box&gt;&#10;        &lt;/Box&gt;&#10;      ))}&#10;    &lt;/Box&gt;&#10;    &lt;Box style={{ flexDirection: 'row', alignItems: 'center', marginTop: 16, padding: '12px 18px', background: '#E3F1EA', borderLeft: '4px solid #1B7A5E', borderRadius: 6, gap: 12 }}&gt;&#10;      &lt;FAIcon name=&quot;quote-left&quot; style={{ fill: '#1B7A5E', width: 18, height: 18 }} /&gt;&#10;      &lt;Text style={{ fontSize: 14.5, color: '#1F2A26', lineHeight: 1.6 }}&gt;我们不只是「给科研做软件的人」，我们本身就是科研流程的亲历者——每一个功能，都来自一次真实的深夜改稿与组会汇报。&lt;/Text&gt;&#10;    &lt;/Box&gt;&#10;  &lt;/Box&gt;&#10;  {/* C 页脚条 */}&#10;  &lt;Box style={{ flexDirection: 'row', justifyContent: 'space-between', alignItems: 'center', padding: '0 60px', height: 40, marginTop: 6 }}&gt;&#10;    &lt;Text style={{ fontSize: 12, color: '#8A948D' }}&gt;ScienceX · AI 科研工作台&lt;/Text&gt;&#10;    &lt;Text style={{ fontSize: 12, color: '#8A948D' }}&gt;05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683" name=""/>
          <p:cNvSpPr/>
          <p:nvPr/>
        </p:nvSpPr>
        <p:spPr>
          <a:xfrm rot="0" flipH="0" flipV="0">
            <a:off x="571500" y="2952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684" name=""/>
          <p:cNvSpPr/>
          <p:nvPr/>
        </p:nvSpPr>
        <p:spPr>
          <a:xfrm rot="0" flipH="0" flipV="0">
            <a:off x="742950" y="190500"/>
            <a:ext cx="13620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838200" y="219075"/>
            <a:ext cx="1171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02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团队及产品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2200275" y="219075"/>
            <a:ext cx="1571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产品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工程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算法三线并置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742950" y="447675"/>
            <a:ext cx="3467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一支「懂科研」的跨学科团队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571500" y="1428750"/>
            <a:ext cx="3533775" cy="3019425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689" name=""/>
          <p:cNvSpPr/>
          <p:nvPr/>
        </p:nvSpPr>
        <p:spPr>
          <a:xfrm rot="0" flipH="0" flipV="0">
            <a:off x="571500" y="1428750"/>
            <a:ext cx="3533775" cy="47625"/>
          </a:xfrm>
          <a:custGeom>
            <a:pathLst>
              <a:path w="371" h="5">
                <a:moveTo>
                  <a:pt x="4" y="0"/>
                </a:moveTo>
                <a:lnTo>
                  <a:pt x="367" y="0"/>
                </a:lnTo>
                <a:cubicBezTo>
                  <a:pt x="369" y="0"/>
                  <a:pt x="371" y="2"/>
                  <a:pt x="371" y="4"/>
                </a:cubicBezTo>
                <a:lnTo>
                  <a:pt x="371" y="4"/>
                </a:lnTo>
                <a:cubicBezTo>
                  <a:pt x="371" y="5"/>
                  <a:pt x="371" y="5"/>
                  <a:pt x="370" y="5"/>
                </a:cubicBezTo>
                <a:lnTo>
                  <a:pt x="1" y="5"/>
                </a:lnTo>
                <a:cubicBezTo>
                  <a:pt x="0" y="5"/>
                  <a:pt x="0" y="5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690" name=""/>
          <p:cNvSpPr/>
          <p:nvPr/>
        </p:nvSpPr>
        <p:spPr>
          <a:xfrm rot="0" flipH="0" flipV="0">
            <a:off x="762000" y="1590675"/>
            <a:ext cx="571500" cy="571500"/>
          </a:xfrm>
          <a:custGeom>
            <a:pathLst>
              <a:path w="60" h="60">
                <a:moveTo>
                  <a:pt x="30" y="0"/>
                </a:moveTo>
                <a:lnTo>
                  <a:pt x="30" y="0"/>
                </a:lnTo>
                <a:cubicBezTo>
                  <a:pt x="47" y="0"/>
                  <a:pt x="60" y="13"/>
                  <a:pt x="60" y="30"/>
                </a:cubicBezTo>
                <a:lnTo>
                  <a:pt x="60" y="30"/>
                </a:lnTo>
                <a:cubicBezTo>
                  <a:pt x="60" y="47"/>
                  <a:pt x="47" y="60"/>
                  <a:pt x="30" y="60"/>
                </a:cubicBezTo>
                <a:lnTo>
                  <a:pt x="30" y="60"/>
                </a:lnTo>
                <a:cubicBezTo>
                  <a:pt x="13" y="60"/>
                  <a:pt x="0" y="47"/>
                  <a:pt x="0" y="30"/>
                </a:cubicBezTo>
                <a:lnTo>
                  <a:pt x="0" y="30"/>
                </a:lnTo>
                <a:cubicBezTo>
                  <a:pt x="0" y="13"/>
                  <a:pt x="13" y="0"/>
                  <a:pt x="30" y="0"/>
                </a:cubicBezTo>
                <a:close/>
              </a:path>
            </a:pathLst>
          </a:custGeom>
          <a:solidFill>
            <a:srgbClr val="1B7A5E">
              <a:alpha val="9412"/>
            </a:srgbClr>
          </a:solidFill>
          <a:ln/>
        </p:spPr>
        <p:txBody>
          <a:bodyPr/>
          <a:p/>
        </p:txBody>
      </p:sp>
      <p:pic>
        <p:nvPicPr>
          <p:cNvPr id="6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1752600"/>
            <a:ext cx="247650" cy="247650"/>
          </a:xfrm>
          <a:prstGeom prst="rect">
            <a:avLst/>
          </a:prstGeom>
          <a:ln/>
        </p:spPr>
      </p:pic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1466850" y="1657350"/>
            <a:ext cx="762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26"/>
                </a:solidFill>
                <a:latin typeface="Noto Serif SC"/>
                <a:ea typeface="Noto Serif SC"/>
              </a:rPr>
              <a:t>张</a:t>
            </a:r>
            <a:r>
              <a:rPr lang="en-US" sz="14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××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1466850" y="1914525"/>
            <a:ext cx="762000" cy="180975"/>
          </a:xfrm>
          <a:prstGeom prst="roundRect">
            <a:avLst>
              <a:gd name="adj" fmla="val 52632"/>
            </a:avLst>
          </a:prstGeom>
          <a:solidFill>
            <a:srgbClr val="E3F1EA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562100" y="19335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B7A5E"/>
                </a:solidFill>
                <a:latin typeface="Microsoft YaHei"/>
                <a:ea typeface="Microsoft YaHei"/>
              </a:rPr>
              <a:t>产品负责人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762000" y="2276475"/>
            <a:ext cx="3152775" cy="1295400"/>
          </a:xfrm>
          <a:custGeom>
            <a:pathLst>
              <a:path w="331" h="136">
                <a:moveTo>
                  <a:pt x="0" y="0"/>
                </a:moveTo>
                <a:lnTo>
                  <a:pt x="331" y="0"/>
                </a:lnTo>
                <a:lnTo>
                  <a:pt x="331" y="1"/>
                </a:lnTo>
                <a:lnTo>
                  <a:pt x="0" y="1"/>
                </a:lnTo>
                <a:close/>
              </a:path>
            </a:pathLst>
          </a:custGeom>
          <a:solidFill>
            <a:srgbClr val="EFECE2"/>
          </a:solidFill>
          <a:ln/>
        </p:spPr>
        <p:txBody>
          <a:bodyPr/>
          <a:p/>
        </p:txBody>
      </p:sp>
      <p:pic>
        <p:nvPicPr>
          <p:cNvPr id="6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2381250"/>
            <a:ext cx="133350" cy="133350"/>
          </a:xfrm>
          <a:prstGeom prst="rect">
            <a:avLst/>
          </a:prstGeom>
          <a:ln/>
        </p:spPr>
      </p:pic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971550" y="2381250"/>
            <a:ext cx="10287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前沿科研一线经历</a:t>
            </a:r>
            <a:endParaRPr/>
          </a:p>
        </p:txBody>
      </p:sp>
      <p:pic>
        <p:nvPicPr>
          <p:cNvPr id="6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2695575"/>
            <a:ext cx="133350" cy="133350"/>
          </a:xfrm>
          <a:prstGeom prst="rect">
            <a:avLst/>
          </a:prstGeom>
          <a:ln/>
        </p:spPr>
      </p:pic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71550" y="2695575"/>
            <a:ext cx="1924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大功能模块</a:t>
            </a: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全流程</a:t>
            </a: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 PRD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pic>
        <p:nvPicPr>
          <p:cNvPr id="7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3009900"/>
            <a:ext cx="133350" cy="133350"/>
          </a:xfrm>
          <a:prstGeom prst="rect">
            <a:avLst/>
          </a:prstGeom>
          <a:ln/>
        </p:spPr>
      </p:pic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971550" y="3009900"/>
            <a:ext cx="14192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用户画像与场景深度调研</a:t>
            </a:r>
            <a:endParaRPr/>
          </a:p>
        </p:txBody>
      </p:sp>
      <p:pic>
        <p:nvPicPr>
          <p:cNvPr id="7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2000" y="3324225"/>
            <a:ext cx="133350" cy="133350"/>
          </a:xfrm>
          <a:prstGeom prst="rect">
            <a:avLst/>
          </a:prstGeom>
          <a:ln/>
        </p:spPr>
      </p:pic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971550" y="3324225"/>
            <a:ext cx="1162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定价与商业模式设计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4333875" y="1428750"/>
            <a:ext cx="3524250" cy="3019425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4333875" y="1428750"/>
            <a:ext cx="3524250" cy="47625"/>
          </a:xfrm>
          <a:custGeom>
            <a:pathLst>
              <a:path w="370" h="5">
                <a:moveTo>
                  <a:pt x="4" y="0"/>
                </a:moveTo>
                <a:lnTo>
                  <a:pt x="366" y="0"/>
                </a:lnTo>
                <a:cubicBezTo>
                  <a:pt x="368" y="0"/>
                  <a:pt x="370" y="2"/>
                  <a:pt x="370" y="4"/>
                </a:cubicBezTo>
                <a:lnTo>
                  <a:pt x="370" y="4"/>
                </a:lnTo>
                <a:cubicBezTo>
                  <a:pt x="370" y="5"/>
                  <a:pt x="370" y="5"/>
                  <a:pt x="369" y="5"/>
                </a:cubicBezTo>
                <a:lnTo>
                  <a:pt x="1" y="5"/>
                </a:lnTo>
                <a:cubicBezTo>
                  <a:pt x="0" y="5"/>
                  <a:pt x="0" y="5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4524375" y="1590675"/>
            <a:ext cx="571500" cy="571500"/>
          </a:xfrm>
          <a:custGeom>
            <a:pathLst>
              <a:path w="60" h="60">
                <a:moveTo>
                  <a:pt x="30" y="0"/>
                </a:moveTo>
                <a:lnTo>
                  <a:pt x="30" y="0"/>
                </a:lnTo>
                <a:cubicBezTo>
                  <a:pt x="47" y="0"/>
                  <a:pt x="60" y="13"/>
                  <a:pt x="60" y="30"/>
                </a:cubicBezTo>
                <a:lnTo>
                  <a:pt x="60" y="30"/>
                </a:lnTo>
                <a:cubicBezTo>
                  <a:pt x="60" y="47"/>
                  <a:pt x="47" y="60"/>
                  <a:pt x="30" y="60"/>
                </a:cubicBezTo>
                <a:lnTo>
                  <a:pt x="30" y="60"/>
                </a:lnTo>
                <a:cubicBezTo>
                  <a:pt x="13" y="60"/>
                  <a:pt x="0" y="47"/>
                  <a:pt x="0" y="30"/>
                </a:cubicBezTo>
                <a:lnTo>
                  <a:pt x="0" y="30"/>
                </a:lnTo>
                <a:cubicBezTo>
                  <a:pt x="0" y="13"/>
                  <a:pt x="13" y="0"/>
                  <a:pt x="30" y="0"/>
                </a:cubicBezTo>
                <a:close/>
              </a:path>
            </a:pathLst>
          </a:custGeom>
          <a:solidFill>
            <a:srgbClr val="4A5568">
              <a:alpha val="9412"/>
            </a:srgbClr>
          </a:solidFill>
          <a:ln/>
        </p:spPr>
        <p:txBody>
          <a:bodyPr/>
          <a:p/>
        </p:txBody>
      </p:sp>
      <p:pic>
        <p:nvPicPr>
          <p:cNvPr id="7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686300" y="1752600"/>
            <a:ext cx="247650" cy="247650"/>
          </a:xfrm>
          <a:prstGeom prst="rect">
            <a:avLst/>
          </a:prstGeom>
          <a:ln/>
        </p:spPr>
      </p:pic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5229225" y="1657350"/>
            <a:ext cx="990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26"/>
                </a:solidFill>
                <a:latin typeface="Noto Serif SC"/>
                <a:ea typeface="Noto Serif SC"/>
              </a:rPr>
              <a:t>李</a:t>
            </a:r>
            <a:r>
              <a:rPr lang="en-US" sz="14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××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5229225" y="1914525"/>
            <a:ext cx="990600" cy="180975"/>
          </a:xfrm>
          <a:prstGeom prst="roundRect">
            <a:avLst>
              <a:gd name="adj" fmla="val 52632"/>
            </a:avLst>
          </a:prstGeom>
          <a:solidFill>
            <a:srgbClr val="E3F1EA"/>
          </a:solidFill>
          <a:ln/>
        </p:spPr>
        <p:txBody>
          <a:bodyPr/>
          <a:p/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5324475" y="193357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B7A5E"/>
                </a:solidFill>
                <a:latin typeface="Microsoft YaHei"/>
                <a:ea typeface="Microsoft YaHei"/>
              </a:rPr>
              <a:t>全栈开发工程师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4524375" y="2276475"/>
            <a:ext cx="3143250" cy="1295400"/>
          </a:xfrm>
          <a:custGeom>
            <a:pathLst>
              <a:path w="330" h="136">
                <a:moveTo>
                  <a:pt x="0" y="0"/>
                </a:moveTo>
                <a:lnTo>
                  <a:pt x="330" y="0"/>
                </a:lnTo>
                <a:lnTo>
                  <a:pt x="330" y="1"/>
                </a:lnTo>
                <a:lnTo>
                  <a:pt x="0" y="1"/>
                </a:lnTo>
                <a:close/>
              </a:path>
            </a:pathLst>
          </a:custGeom>
          <a:solidFill>
            <a:srgbClr val="EFECE2"/>
          </a:solidFill>
          <a:ln/>
        </p:spPr>
        <p:txBody>
          <a:bodyPr/>
          <a:p/>
        </p:txBody>
      </p:sp>
      <p:pic>
        <p:nvPicPr>
          <p:cNvPr id="7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24375" y="2381250"/>
            <a:ext cx="133350" cy="133350"/>
          </a:xfrm>
          <a:prstGeom prst="rect">
            <a:avLst/>
          </a:prstGeom>
          <a:ln/>
        </p:spPr>
      </p:pic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4733925" y="2381250"/>
            <a:ext cx="16383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React 18 + TypeScript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pic>
        <p:nvPicPr>
          <p:cNvPr id="7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24375" y="2695575"/>
            <a:ext cx="133350" cy="133350"/>
          </a:xfrm>
          <a:prstGeom prst="rect">
            <a:avLst/>
          </a:prstGeom>
          <a:ln/>
        </p:spPr>
      </p:pic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4733925" y="2695575"/>
            <a:ext cx="13906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Node.js + Express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后端</a:t>
            </a:r>
            <a:endParaRPr/>
          </a:p>
        </p:txBody>
      </p:sp>
      <p:pic>
        <p:nvPicPr>
          <p:cNvPr id="7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24375" y="3009900"/>
            <a:ext cx="133350" cy="133350"/>
          </a:xfrm>
          <a:prstGeom prst="rect">
            <a:avLst/>
          </a:prstGeom>
          <a:ln/>
        </p:spPr>
      </p:pic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4733925" y="3009900"/>
            <a:ext cx="16764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40+ REST/SSE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接口契约设计</a:t>
            </a:r>
            <a:endParaRPr/>
          </a:p>
        </p:txBody>
      </p:sp>
      <p:pic>
        <p:nvPicPr>
          <p:cNvPr id="7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524375" y="3324225"/>
            <a:ext cx="133350" cy="133350"/>
          </a:xfrm>
          <a:prstGeom prst="rect">
            <a:avLst/>
          </a:prstGeom>
          <a:ln/>
        </p:spPr>
      </p:pic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4733925" y="3324225"/>
            <a:ext cx="16002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HMAC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安全认证与限流治理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8086725" y="1095375"/>
            <a:ext cx="3533775" cy="335280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25400">
            <a:solidFill>
              <a:srgbClr val="C2762B"/>
            </a:solidFill>
            <a:prstDash val="solid"/>
          </a:ln>
          <a:effectLst>
            <a:outerShdw blurRad="266700" dist="76200" dir="5400000">
              <a:srgbClr val="C2762B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21" name=""/>
          <p:cNvSpPr/>
          <p:nvPr/>
        </p:nvSpPr>
        <p:spPr>
          <a:xfrm rot="0" flipH="0" flipV="0">
            <a:off x="8086725" y="1095375"/>
            <a:ext cx="3533775" cy="47625"/>
          </a:xfrm>
          <a:custGeom>
            <a:pathLst>
              <a:path w="371" h="5">
                <a:moveTo>
                  <a:pt x="4" y="0"/>
                </a:moveTo>
                <a:lnTo>
                  <a:pt x="367" y="0"/>
                </a:lnTo>
                <a:cubicBezTo>
                  <a:pt x="369" y="0"/>
                  <a:pt x="371" y="2"/>
                  <a:pt x="371" y="4"/>
                </a:cubicBezTo>
                <a:lnTo>
                  <a:pt x="371" y="4"/>
                </a:lnTo>
                <a:cubicBezTo>
                  <a:pt x="371" y="5"/>
                  <a:pt x="371" y="5"/>
                  <a:pt x="370" y="5"/>
                </a:cubicBezTo>
                <a:lnTo>
                  <a:pt x="1" y="5"/>
                </a:lnTo>
                <a:cubicBezTo>
                  <a:pt x="0" y="5"/>
                  <a:pt x="0" y="5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8277225" y="1257300"/>
            <a:ext cx="571500" cy="571500"/>
          </a:xfrm>
          <a:custGeom>
            <a:pathLst>
              <a:path w="60" h="60">
                <a:moveTo>
                  <a:pt x="30" y="0"/>
                </a:moveTo>
                <a:lnTo>
                  <a:pt x="30" y="0"/>
                </a:lnTo>
                <a:cubicBezTo>
                  <a:pt x="47" y="0"/>
                  <a:pt x="60" y="13"/>
                  <a:pt x="60" y="30"/>
                </a:cubicBezTo>
                <a:lnTo>
                  <a:pt x="60" y="30"/>
                </a:lnTo>
                <a:cubicBezTo>
                  <a:pt x="60" y="47"/>
                  <a:pt x="47" y="60"/>
                  <a:pt x="30" y="60"/>
                </a:cubicBezTo>
                <a:lnTo>
                  <a:pt x="30" y="60"/>
                </a:lnTo>
                <a:cubicBezTo>
                  <a:pt x="13" y="60"/>
                  <a:pt x="0" y="47"/>
                  <a:pt x="0" y="30"/>
                </a:cubicBezTo>
                <a:lnTo>
                  <a:pt x="0" y="30"/>
                </a:lnTo>
                <a:cubicBezTo>
                  <a:pt x="0" y="13"/>
                  <a:pt x="13" y="0"/>
                  <a:pt x="30" y="0"/>
                </a:cubicBezTo>
                <a:close/>
              </a:path>
            </a:pathLst>
          </a:custGeom>
          <a:solidFill>
            <a:srgbClr val="C2762B">
              <a:alpha val="9412"/>
            </a:srgbClr>
          </a:solidFill>
          <a:ln/>
        </p:spPr>
        <p:txBody>
          <a:bodyPr/>
          <a:p/>
        </p:txBody>
      </p:sp>
      <p:pic>
        <p:nvPicPr>
          <p:cNvPr id="7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439150" y="1419225"/>
            <a:ext cx="247650" cy="247650"/>
          </a:xfrm>
          <a:prstGeom prst="rect">
            <a:avLst/>
          </a:prstGeom>
          <a:ln/>
        </p:spPr>
      </p:pic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8982075" y="1323975"/>
            <a:ext cx="1152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26"/>
                </a:solidFill>
                <a:latin typeface="Noto Serif SC"/>
                <a:ea typeface="Noto Serif SC"/>
              </a:rPr>
              <a:t>王</a:t>
            </a:r>
            <a:r>
              <a:rPr lang="en-US" sz="14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××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8982075" y="1581150"/>
            <a:ext cx="1152525" cy="180975"/>
          </a:xfrm>
          <a:prstGeom prst="roundRect">
            <a:avLst>
              <a:gd name="adj" fmla="val 52632"/>
            </a:avLst>
          </a:prstGeom>
          <a:solidFill>
            <a:srgbClr val="E3F1EA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9077325" y="1600200"/>
            <a:ext cx="962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B7A5E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 b="1">
                <a:solidFill>
                  <a:srgbClr val="1B7A5E"/>
                </a:solidFill>
                <a:latin typeface="Microsoft YaHei"/>
                <a:ea typeface="Microsoft YaHei"/>
              </a:rPr>
              <a:t>算法工程师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8277225" y="1943100"/>
            <a:ext cx="3152775" cy="1295400"/>
          </a:xfrm>
          <a:custGeom>
            <a:pathLst>
              <a:path w="331" h="136">
                <a:moveTo>
                  <a:pt x="0" y="0"/>
                </a:moveTo>
                <a:lnTo>
                  <a:pt x="331" y="0"/>
                </a:lnTo>
                <a:lnTo>
                  <a:pt x="331" y="1"/>
                </a:lnTo>
                <a:lnTo>
                  <a:pt x="0" y="1"/>
                </a:lnTo>
                <a:close/>
              </a:path>
            </a:pathLst>
          </a:custGeom>
          <a:solidFill>
            <a:srgbClr val="EFECE2"/>
          </a:solidFill>
          <a:ln/>
        </p:spPr>
        <p:txBody>
          <a:bodyPr/>
          <a:p/>
        </p:txBody>
      </p:sp>
      <p:pic>
        <p:nvPicPr>
          <p:cNvPr id="7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277225" y="2047875"/>
            <a:ext cx="133350" cy="133350"/>
          </a:xfrm>
          <a:prstGeom prst="rect">
            <a:avLst/>
          </a:prstGeom>
          <a:ln/>
        </p:spPr>
      </p:pic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8486775" y="2047875"/>
            <a:ext cx="16383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灵犀多智能体引擎</a:t>
            </a: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8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类编排</a:t>
            </a:r>
            <a:endParaRPr/>
          </a:p>
        </p:txBody>
      </p:sp>
      <p:pic>
        <p:nvPicPr>
          <p:cNvPr id="7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277225" y="2362200"/>
            <a:ext cx="133350" cy="133350"/>
          </a:xfrm>
          <a:prstGeom prst="rect">
            <a:avLst/>
          </a:prstGeom>
          <a:ln/>
        </p:spPr>
      </p:pic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486775" y="2362200"/>
            <a:ext cx="1162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三层课题组记忆引擎</a:t>
            </a:r>
            <a:endParaRPr/>
          </a:p>
        </p:txBody>
      </p:sp>
      <p:pic>
        <p:nvPicPr>
          <p:cNvPr id="7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277225" y="2676525"/>
            <a:ext cx="133350" cy="133350"/>
          </a:xfrm>
          <a:prstGeom prst="rect">
            <a:avLst/>
          </a:prstGeom>
          <a:ln/>
        </p:spPr>
      </p:pic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8486775" y="2676525"/>
            <a:ext cx="16002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4A554F"/>
                </a:solidFill>
                <a:latin typeface="Microsoft YaHei"/>
                <a:ea typeface="Microsoft YaHei"/>
              </a:rPr>
              <a:t xml:space="preserve">RAG </a:t>
            </a: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检索与提示词工程体系</a:t>
            </a:r>
            <a:endParaRPr/>
          </a:p>
        </p:txBody>
      </p:sp>
      <p:pic>
        <p:nvPicPr>
          <p:cNvPr id="7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277225" y="2990850"/>
            <a:ext cx="133350" cy="133350"/>
          </a:xfrm>
          <a:prstGeom prst="rect">
            <a:avLst/>
          </a:prstGeom>
          <a:ln/>
        </p:spPr>
      </p:pic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8486775" y="2990850"/>
            <a:ext cx="12858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4A554F"/>
                </a:solidFill>
                <a:latin typeface="Microsoft YaHei"/>
                <a:ea typeface="Microsoft YaHei"/>
              </a:rPr>
              <a:t>五角色专家评审团机制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609600" y="4600575"/>
            <a:ext cx="11049000" cy="495300"/>
          </a:xfrm>
          <a:prstGeom prst="roundRect">
            <a:avLst>
              <a:gd name="adj" fmla="val 11538"/>
            </a:avLst>
          </a:prstGeom>
          <a:solidFill>
            <a:srgbClr val="E3F1EA"/>
          </a:solidFill>
          <a:ln/>
        </p:spPr>
        <p:txBody>
          <a:bodyPr/>
          <a:p/>
        </p:txBody>
      </p:sp>
      <p:sp>
        <p:nvSpPr>
          <p:cNvPr id="737" name=""/>
          <p:cNvSpPr/>
          <p:nvPr/>
        </p:nvSpPr>
        <p:spPr>
          <a:xfrm rot="0" flipH="0" flipV="0">
            <a:off x="609600" y="4600575"/>
            <a:ext cx="11049000" cy="495300"/>
          </a:xfrm>
          <a:custGeom>
            <a:pathLst>
              <a:path w="1160" h="52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50"/>
                </a:lnTo>
                <a:cubicBezTo>
                  <a:pt x="4" y="51"/>
                  <a:pt x="5" y="52"/>
                  <a:pt x="6" y="52"/>
                </a:cubicBezTo>
                <a:cubicBezTo>
                  <a:pt x="3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pic>
        <p:nvPicPr>
          <p:cNvPr id="7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81050" y="4762500"/>
            <a:ext cx="171450" cy="171450"/>
          </a:xfrm>
          <a:prstGeom prst="rect">
            <a:avLst/>
          </a:prstGeom>
          <a:ln/>
        </p:spPr>
      </p:pic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1066800" y="4714875"/>
            <a:ext cx="7762875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1F2A26"/>
                </a:solidFill>
                <a:latin typeface="Microsoft YaHei"/>
                <a:ea typeface="Microsoft YaHei"/>
              </a:rPr>
              <a:t>我们不只是「给科研做软件的人」，我们本身就是科研流程的亲历者——每一个功能，都来自一次真实的深夜改稿与组会汇报。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571500" y="550545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1229975" y="55054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05 / 22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42" name="" descr="&lt;Slide style={{ padding: 0, background: '#F6F4EE' }}&gt;&#10;  &lt;Box style={{ flexDirection: 'row', alignItems: 'center', padding: '20px 60px 8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2 · 品牌文案&lt;/Text&gt;&lt;/Box&gt;&#10;        &lt;Text style={{ fontSize: 13, color: '#8A948D' }}&gt;「不是 X，而是 X」×「帮助我们 X」&lt;/Text&gt;&#10;      &lt;/Box&gt;&#10;      &lt;Text style={{ fontSize: 28, fontWeight: 'bold', color: '#1F2A26', fontFamily: 'Noto Serif SC, Georgia, serif', marginTop: 6 }}&gt;两种句式，让品牌被记住&lt;/Text&gt;&#10;    &lt;/Box&gt;&#10;  &lt;/Box&gt;&#10;  &lt;Box style={{ padding: '4px 60px 0', height: 470, gap: 14 }}&gt;&#10;    {/* 上半区：两大句式卡片 */}&#10;    &lt;Box style={{ flexDirection: 'row', gap: 24, height: 248 }}&gt;&#10;      &lt;Box style={{ flex: 1, background: '#FFFFFF', borderRadius: 14, border: '1px solid #E6E2D6', boxShadow: '0 2px 12px rgba(0,0,0,0.06)', padding: '16px 20px', borderTop: '5px solid #1B7A5E' }}&gt;&#10;        &lt;Text style={{ fontSize: 22, fontWeight: 'bold', color: '#1B7A5E', fontFamily: 'Noto Serif SC, Georgia, serif' }}&gt;句式一 ·「不是 X，而是 X」&lt;/Text&gt;&#10;        &lt;Text style={{ fontSize: 12.5, color: '#8A948D', marginBottom: 8 }}&gt;重定义认知，制造差异记忆点&lt;/Text&gt;&#10;        {[&#10;          '不是单点工具的堆砌，而是科研全流程的闭环工作台。',&#10;          '不是让 AI 替你做科研，而是让 AI 成为你的科研搭档。',&#10;          'AI 不只是「写内容」，而是理解→检索→分析→生成→校验→协作的全链路。',&#10;        ].map((t, i) =&gt; (&#10;          &lt;Box key={i} style={{ flexDirection: 'row', gap: 8, marginTop: 8, alignItems: 'flex-start' }}&gt;&#10;            &lt;Text style={{ fontSize: 14, color: '#C2762B', fontWeight: 'bold' }}&gt;✦&lt;/Text&gt;&#10;            &lt;Text style={{ fontSize: 14, color: '#4A554F', lineHeight: 1.55 }}&gt;{t}&lt;/Text&gt;&#10;          &lt;/Box&gt;&#10;        ))}&#10;      &lt;/Box&gt;&#10;      &lt;Box style={{ flex: 1, background: '#FFFFFF', borderRadius: 14, border: '1px solid #E6E2D6', boxShadow: '0 2px 12px rgba(0,0,0,0.06)', padding: '16px 20px', borderTop: '5px solid #C2762B' }}&gt;&#10;        &lt;Text style={{ fontSize: 22, fontWeight: 'bold', color: '#C2762B', fontFamily: 'Noto Serif SC, Georgia, serif' }}&gt;句式二 ·「帮助我们 X」&lt;/Text&gt;&#10;        &lt;Text style={{ fontSize: 12.5, color: '#8A948D', marginBottom: 8 }}&gt;强调协作立场，AI 是搭档&lt;/Text&gt;&#10;        {[&#10;          '帮我们把重复劳动交给 AI，让我们专注提出好问题。',&#10;          '帮我们读懂每一篇英文文献，从第一篇走到下一次突破。',&#10;          '帮我们在投稿前先「过一遍审」，避免 3 个月大修拒稿风险。',&#10;        ].map((t, i) =&gt; (&#10;          &lt;Box key={i} style={{ flexDirection: 'row', gap: 8, marginTop: 8, alignItems: 'flex-start' }}&gt;&#10;            &lt;Text style={{ fontSize: 14, color: '#1B7A5E', fontWeight: 'bold' }}&gt;✦&lt;/Text&gt;&#10;            &lt;Text style={{ fontSize: 14, color: '#4A554F', lineHeight: 1.55 }}&gt;{t}&lt;/Text&gt;&#10;          &lt;/Box&gt;&#10;        ))}&#10;      &lt;/Box&gt;&#10;    &lt;/Box&gt;&#10;    {/* 下半区：金句瀑布 */}&#10;    &lt;Box style={{ gap: 10 }}&gt;&#10;      {[&#10;        { t: '「对话即工作台，工具即智能体。」', s: '产品形态主张', c: '#1B7A5E' },&#10;        { t: '「把散落的工具，连接成连贯的研究体验。」', s: '竞争差异化', c: '#C2762B' },&#10;        { t: '「让个人的发现，成为团队的积累。」', s: '课题组协作价值', c: '#1B7A5E' },&#10;        { t: '「让科研更简单，一站式科研 AI 搭子。」', s: '品牌终极愿景', c: '#C2762B' },&#10;      ].map((q, i) =&gt; (&#10;        &lt;Box key={i} style={{ flexDirection: 'row', alignItems: 'center', background: '#FFFFFF', borderRadius: 10, border: '1px solid #EFECE2', borderLeft: `4px solid ${q.c}`, padding: '9px 16px', gap: 14 }}&gt;&#10;          &lt;Text style={{ fontSize: 16, fontWeight: 'bold', color: '#1F2A26', fontFamily: 'Noto Serif SC, Georgia, serif' }}&gt;{q.t}&lt;/Text&gt;&#10;          &lt;Text style={{ fontSize: 12, color: '#8A948D', marginLeft: 'auto' }}&gt;— {q.s}&lt;/Text&gt;&#10;        &lt;/Box&gt;&#10;      ))}&#10;    &lt;/Box&gt;&#10;  &lt;/Box&gt;&#10;  &lt;Box style={{ flexDirection: 'row', justifyContent: 'space-between', alignItems: 'center', padding: '0 60px', height: 40, marginTop: 6 }}&gt;&#10;    &lt;Text style={{ fontSize: 12, color: '#8A948D' }}&gt;ScienceX · AI 科研工作台&lt;/Text&gt;&#10;    &lt;Text style={{ fontSize: 12, color: '#8A948D' }}&gt;06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744" name=""/>
          <p:cNvSpPr/>
          <p:nvPr/>
        </p:nvSpPr>
        <p:spPr>
          <a:xfrm rot="0" flipH="0" flipV="0">
            <a:off x="571500" y="2952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745" name=""/>
          <p:cNvSpPr/>
          <p:nvPr/>
        </p:nvSpPr>
        <p:spPr>
          <a:xfrm rot="0" flipH="0" flipV="0">
            <a:off x="742950" y="19050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838200" y="2190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02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品牌文案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2085975" y="219075"/>
            <a:ext cx="2057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「不是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X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，而是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X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」×「帮助我们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X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42950" y="447675"/>
            <a:ext cx="34004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两种句式，让品牌被记住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571500" y="933450"/>
            <a:ext cx="5410200" cy="23622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50" name=""/>
          <p:cNvSpPr/>
          <p:nvPr/>
        </p:nvSpPr>
        <p:spPr>
          <a:xfrm rot="0" flipH="0" flipV="0">
            <a:off x="571500" y="933450"/>
            <a:ext cx="5410200" cy="2362200"/>
          </a:xfrm>
          <a:custGeom>
            <a:pathLst>
              <a:path w="568" h="248">
                <a:moveTo>
                  <a:pt x="555" y="0"/>
                </a:moveTo>
                <a:cubicBezTo>
                  <a:pt x="561" y="0"/>
                  <a:pt x="567" y="5"/>
                  <a:pt x="568" y="11"/>
                </a:cubicBezTo>
                <a:cubicBezTo>
                  <a:pt x="566" y="8"/>
                  <a:pt x="563" y="5"/>
                  <a:pt x="559" y="5"/>
                </a:cubicBezTo>
                <a:lnTo>
                  <a:pt x="9" y="5"/>
                </a:lnTo>
                <a:cubicBezTo>
                  <a:pt x="5" y="5"/>
                  <a:pt x="1" y="8"/>
                  <a:pt x="0" y="12"/>
                </a:cubicBezTo>
                <a:cubicBezTo>
                  <a:pt x="1" y="5"/>
                  <a:pt x="7" y="0"/>
                  <a:pt x="14" y="0"/>
                </a:cubicBezTo>
                <a:lnTo>
                  <a:pt x="554" y="0"/>
                </a:ln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62000" y="1085850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7A5E"/>
                </a:solidFill>
                <a:latin typeface="Noto Serif SC"/>
                <a:ea typeface="Noto Serif SC"/>
              </a:rPr>
              <a:t>句式一</a:t>
            </a:r>
            <a:r>
              <a:rPr lang="en-US" sz="1650" b="1">
                <a:solidFill>
                  <a:srgbClr val="1B7A5E"/>
                </a:solidFill>
                <a:latin typeface="Noto Serif SC"/>
                <a:ea typeface="Noto Serif SC"/>
              </a:rPr>
              <a:t xml:space="preserve"> ·</a:t>
            </a:r>
            <a:r>
              <a:rPr lang="zh-CN" sz="1650" b="1">
                <a:solidFill>
                  <a:srgbClr val="1B7A5E"/>
                </a:solidFill>
                <a:latin typeface="Noto Serif SC"/>
                <a:ea typeface="Noto Serif SC"/>
              </a:rPr>
              <a:t>「不是</a:t>
            </a:r>
            <a:r>
              <a:rPr lang="en-US" sz="1650" b="1">
                <a:solidFill>
                  <a:srgbClr val="1B7A5E"/>
                </a:solidFill>
                <a:latin typeface="Noto Serif SC"/>
                <a:ea typeface="Noto Serif SC"/>
              </a:rPr>
              <a:t xml:space="preserve"> X</a:t>
            </a:r>
            <a:r>
              <a:rPr lang="zh-CN" sz="1650" b="1">
                <a:solidFill>
                  <a:srgbClr val="1B7A5E"/>
                </a:solidFill>
                <a:latin typeface="Noto Serif SC"/>
                <a:ea typeface="Noto Serif SC"/>
              </a:rPr>
              <a:t>，而是</a:t>
            </a:r>
            <a:r>
              <a:rPr lang="en-US" sz="1650" b="1">
                <a:solidFill>
                  <a:srgbClr val="1B7A5E"/>
                </a:solidFill>
                <a:latin typeface="Noto Serif SC"/>
                <a:ea typeface="Noto Serif SC"/>
              </a:rPr>
              <a:t xml:space="preserve"> X</a:t>
            </a:r>
            <a:r>
              <a:rPr lang="zh-CN" sz="1650" b="1">
                <a:solidFill>
                  <a:srgbClr val="1B7A5E"/>
                </a:solidFill>
                <a:latin typeface="Noto Serif SC"/>
                <a:ea typeface="Noto Serif SC"/>
              </a:rPr>
              <a:t>」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62000" y="1343025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A948D"/>
                </a:solidFill>
                <a:latin typeface="Microsoft YaHei"/>
                <a:ea typeface="Microsoft YaHei"/>
              </a:rPr>
              <a:t>重定义认知，制造差异记忆点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62000" y="16383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2762B"/>
                </a:solidFill>
                <a:latin typeface="Microsoft YaHei"/>
                <a:ea typeface="Microsoft YaHei"/>
              </a:rPr>
              <a:t>✦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971550" y="163830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不是单点工具的堆砌，而是科研全流程的闭环工作台。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762000" y="19716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2762B"/>
                </a:solidFill>
                <a:latin typeface="Microsoft YaHei"/>
                <a:ea typeface="Microsoft YaHei"/>
              </a:rPr>
              <a:t>✦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971550" y="1971675"/>
            <a:ext cx="32289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不是让</a:t>
            </a:r>
            <a:r>
              <a:rPr lang="en-US" sz="1050">
                <a:solidFill>
                  <a:srgbClr val="4A554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替你做科研，而是让</a:t>
            </a:r>
            <a:r>
              <a:rPr lang="en-US" sz="1050">
                <a:solidFill>
                  <a:srgbClr val="4A554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成为你的科研搭档。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762000" y="23050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C2762B"/>
                </a:solidFill>
                <a:latin typeface="Microsoft YaHei"/>
                <a:ea typeface="Microsoft YaHei"/>
              </a:rPr>
              <a:t>✦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971550" y="2305050"/>
            <a:ext cx="45815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4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不只是「写内容」，而是理解→检索→分析→生成→校验→协作的全链路。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6210300" y="933450"/>
            <a:ext cx="5410200" cy="2362200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60" name=""/>
          <p:cNvSpPr/>
          <p:nvPr/>
        </p:nvSpPr>
        <p:spPr>
          <a:xfrm rot="0" flipH="0" flipV="0">
            <a:off x="6210300" y="933450"/>
            <a:ext cx="5410200" cy="2362200"/>
          </a:xfrm>
          <a:custGeom>
            <a:pathLst>
              <a:path w="568" h="248">
                <a:moveTo>
                  <a:pt x="555" y="0"/>
                </a:moveTo>
                <a:cubicBezTo>
                  <a:pt x="561" y="0"/>
                  <a:pt x="567" y="5"/>
                  <a:pt x="568" y="11"/>
                </a:cubicBezTo>
                <a:cubicBezTo>
                  <a:pt x="566" y="8"/>
                  <a:pt x="563" y="5"/>
                  <a:pt x="559" y="5"/>
                </a:cubicBezTo>
                <a:lnTo>
                  <a:pt x="9" y="5"/>
                </a:lnTo>
                <a:cubicBezTo>
                  <a:pt x="5" y="5"/>
                  <a:pt x="1" y="8"/>
                  <a:pt x="0" y="12"/>
                </a:cubicBezTo>
                <a:cubicBezTo>
                  <a:pt x="1" y="5"/>
                  <a:pt x="7" y="0"/>
                  <a:pt x="14" y="0"/>
                </a:cubicBezTo>
                <a:lnTo>
                  <a:pt x="554" y="0"/>
                </a:ln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6400800" y="1085850"/>
            <a:ext cx="5029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2762B"/>
                </a:solidFill>
                <a:latin typeface="Noto Serif SC"/>
                <a:ea typeface="Noto Serif SC"/>
              </a:rPr>
              <a:t>句式二</a:t>
            </a:r>
            <a:r>
              <a:rPr lang="en-US" sz="1650" b="1">
                <a:solidFill>
                  <a:srgbClr val="C2762B"/>
                </a:solidFill>
                <a:latin typeface="Noto Serif SC"/>
                <a:ea typeface="Noto Serif SC"/>
              </a:rPr>
              <a:t xml:space="preserve"> ·</a:t>
            </a:r>
            <a:r>
              <a:rPr lang="zh-CN" sz="1650" b="1">
                <a:solidFill>
                  <a:srgbClr val="C2762B"/>
                </a:solidFill>
                <a:latin typeface="Noto Serif SC"/>
                <a:ea typeface="Noto Serif SC"/>
              </a:rPr>
              <a:t>「帮助我们</a:t>
            </a:r>
            <a:r>
              <a:rPr lang="en-US" sz="1650" b="1">
                <a:solidFill>
                  <a:srgbClr val="C2762B"/>
                </a:solidFill>
                <a:latin typeface="Noto Serif SC"/>
                <a:ea typeface="Noto Serif SC"/>
              </a:rPr>
              <a:t xml:space="preserve"> X</a:t>
            </a:r>
            <a:r>
              <a:rPr lang="zh-CN" sz="1650" b="1">
                <a:solidFill>
                  <a:srgbClr val="C2762B"/>
                </a:solidFill>
                <a:latin typeface="Noto Serif SC"/>
                <a:ea typeface="Noto Serif SC"/>
              </a:rPr>
              <a:t>」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6400800" y="1343025"/>
            <a:ext cx="5029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A948D"/>
                </a:solidFill>
                <a:latin typeface="Microsoft YaHei"/>
                <a:ea typeface="Microsoft YaHei"/>
              </a:rPr>
              <a:t>强调协作立场，</a:t>
            </a:r>
            <a:r>
              <a:rPr lang="en-US" sz="938">
                <a:solidFill>
                  <a:srgbClr val="8A948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38">
                <a:solidFill>
                  <a:srgbClr val="8A948D"/>
                </a:solidFill>
                <a:latin typeface="Microsoft YaHei"/>
                <a:ea typeface="Microsoft YaHei"/>
              </a:rPr>
              <a:t>是搭档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6400800" y="16383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1B7A5E"/>
                </a:solidFill>
                <a:latin typeface="Microsoft YaHei"/>
                <a:ea typeface="Microsoft YaHei"/>
              </a:rPr>
              <a:t>✦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6610350" y="1638300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帮我们把重复劳动交给</a:t>
            </a:r>
            <a:r>
              <a:rPr lang="en-US" sz="1050">
                <a:solidFill>
                  <a:srgbClr val="4A554F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，让我们专注提出好问题。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6400800" y="19716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1B7A5E"/>
                </a:solidFill>
                <a:latin typeface="Microsoft YaHei"/>
                <a:ea typeface="Microsoft YaHei"/>
              </a:rPr>
              <a:t>✦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6610350" y="1971675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帮我们读懂每一篇英文文献，从第一篇走到下一次突破。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400800" y="230505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 b="1">
                <a:solidFill>
                  <a:srgbClr val="1B7A5E"/>
                </a:solidFill>
                <a:latin typeface="Microsoft YaHei"/>
                <a:ea typeface="Microsoft YaHei"/>
              </a:rPr>
              <a:t>✦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6610350" y="2305050"/>
            <a:ext cx="362902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帮我们在投稿前先「过一遍审」，避免</a:t>
            </a:r>
            <a:r>
              <a:rPr lang="en-US" sz="1050">
                <a:solidFill>
                  <a:srgbClr val="4A554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4A554F"/>
                </a:solidFill>
                <a:latin typeface="Microsoft YaHei"/>
                <a:ea typeface="Microsoft YaHei"/>
              </a:rPr>
              <a:t>个月大修拒稿风险。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609600" y="3381375"/>
            <a:ext cx="1104900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0" name=""/>
          <p:cNvSpPr/>
          <p:nvPr/>
        </p:nvSpPr>
        <p:spPr>
          <a:xfrm rot="0" flipH="0" flipV="0">
            <a:off x="609600" y="3381375"/>
            <a:ext cx="11049000" cy="361950"/>
          </a:xfrm>
          <a:custGeom>
            <a:pathLst>
              <a:path w="1160" h="3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2"/>
                </a:lnTo>
                <a:cubicBezTo>
                  <a:pt x="4" y="35"/>
                  <a:pt x="6" y="37"/>
                  <a:pt x="9" y="38"/>
                </a:cubicBezTo>
                <a:cubicBezTo>
                  <a:pt x="4" y="37"/>
                  <a:pt x="0" y="33"/>
                  <a:pt x="0" y="2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762000" y="34671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「对话即工作台，工具即智能体。」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10620375" y="3495675"/>
            <a:ext cx="84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产品形态主张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609600" y="3838575"/>
            <a:ext cx="1104900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4" name=""/>
          <p:cNvSpPr/>
          <p:nvPr/>
        </p:nvSpPr>
        <p:spPr>
          <a:xfrm rot="0" flipH="0" flipV="0">
            <a:off x="609600" y="3838575"/>
            <a:ext cx="11049000" cy="361950"/>
          </a:xfrm>
          <a:custGeom>
            <a:pathLst>
              <a:path w="1160" h="3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2"/>
                </a:lnTo>
                <a:cubicBezTo>
                  <a:pt x="4" y="35"/>
                  <a:pt x="6" y="37"/>
                  <a:pt x="9" y="38"/>
                </a:cubicBezTo>
                <a:cubicBezTo>
                  <a:pt x="4" y="37"/>
                  <a:pt x="0" y="33"/>
                  <a:pt x="0" y="2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762000" y="39243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「把散落的工具，连接成连贯的研究体验。」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10734675" y="3952875"/>
            <a:ext cx="733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竞争差异化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609600" y="4295775"/>
            <a:ext cx="1104900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8" name=""/>
          <p:cNvSpPr/>
          <p:nvPr/>
        </p:nvSpPr>
        <p:spPr>
          <a:xfrm rot="0" flipH="0" flipV="0">
            <a:off x="609600" y="4295775"/>
            <a:ext cx="11049000" cy="361950"/>
          </a:xfrm>
          <a:custGeom>
            <a:pathLst>
              <a:path w="1160" h="3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2"/>
                </a:lnTo>
                <a:cubicBezTo>
                  <a:pt x="4" y="35"/>
                  <a:pt x="6" y="37"/>
                  <a:pt x="9" y="38"/>
                </a:cubicBezTo>
                <a:cubicBezTo>
                  <a:pt x="4" y="37"/>
                  <a:pt x="0" y="33"/>
                  <a:pt x="0" y="2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62000" y="438150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「让个人的发现，成为团队的积累。」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10506075" y="4410075"/>
            <a:ext cx="962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课题组协作价值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609600" y="4752975"/>
            <a:ext cx="1104900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2" name=""/>
          <p:cNvSpPr/>
          <p:nvPr/>
        </p:nvSpPr>
        <p:spPr>
          <a:xfrm rot="0" flipH="0" flipV="0">
            <a:off x="609600" y="4752975"/>
            <a:ext cx="11049000" cy="361950"/>
          </a:xfrm>
          <a:custGeom>
            <a:pathLst>
              <a:path w="1160" h="3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2"/>
                </a:lnTo>
                <a:cubicBezTo>
                  <a:pt x="4" y="35"/>
                  <a:pt x="6" y="37"/>
                  <a:pt x="9" y="38"/>
                </a:cubicBezTo>
                <a:cubicBezTo>
                  <a:pt x="4" y="37"/>
                  <a:pt x="0" y="33"/>
                  <a:pt x="0" y="2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62000" y="483870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「让科研更简单，一站式科研</a:t>
            </a:r>
            <a:r>
              <a:rPr lang="en-US" sz="120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AI </a:t>
            </a: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搭子。」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10620375" y="4867275"/>
            <a:ext cx="84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品牌终极愿景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571500" y="550545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1229975" y="55054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06 / 22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87" name="" descr="&lt;Slide style={{ padding: 0, background: '#F6F4EE' }}&gt;&#10;  &lt;Box style={{ flexDirection: 'row', alignItems: 'center', padding: '20px 60px 8px', gap: 14 }}&gt;&#10;    &lt;Box style={{ width: 4, height: 40, background: '#1B7A5E', borderRadius: 2 }} /&gt;&#10;    &lt;Box style={{ flex: 1 }}&gt;&#10;      &lt;Box style={{ flexDirection: 'row', alignItems: 'center', gap: 10 }}&gt;&#10;        &lt;Box style={{ background: '#1B7A5E', borderRadius: 4, padding: '3px 10px' }}&gt;&lt;Text style={{ fontSize: 12, color: '#FFFFFF', fontWeight: 600 }}&gt;PART 02 · 项目简介&lt;/Text&gt;&lt;/Box&gt;&#10;        &lt;Text style={{ fontSize: 13, color: '#8A948D' }}&gt;名称 · 定位 · 价值&lt;/Text&gt;&#10;      &lt;/Box&gt;&#10;      &lt;Text style={{ fontSize: 28, fontWeight: 'bold', color: '#1F2A26', fontFamily: 'Noto Serif SC, Georgia, serif', marginTop: 6 }}&gt;一个覆盖科研全流程的 AI 工作台&lt;/Text&gt;&#10;    &lt;/Box&gt;&#10;    &lt;Box style={{ background: '#E3F1EA', borderRadius: 8, padding: '8px 14px', border: '1px solid #CDE4D8' }}&gt;&#10;      &lt;Text style={{ fontSize: 12, color: '#1B7A5E', fontWeight: 700, fontFamily: 'Consolas, monospace' }}&gt;13 模块 · 40+ API · 8 类 Agent&lt;/Text&gt;&#10;    &lt;/Box&gt;&#10;  &lt;/Box&gt;&#10;  &lt;Box style={{ padding: '4px 60px 0', height: 470, gap: 16 }}&gt;&#10;    &lt;Text style={{ fontSize: 15.5, color: '#4A554F', lineHeight: 1.6 }}&gt;把重复、琐碎、耗时的环节交给 AI 智能体，让研究者专注创新本身——&lt;span style={{ fontWeight: 'bold', color: '#1B7A5E' }}&gt;数据在各环节间无缝流转，杜绝信息孤岛&lt;/span&gt;。&lt;/Text&gt;&#10;    {/* 三列价值卡 */}&#10;    &lt;Box style={{ flexDirection: 'row', gap: 20 }}&gt;&#10;      {[&#10;        { ic: 'sync-alt', t: '全流程闭环', d: '数据在选题→文献→复现→实验→分析→写作→投稿→协作间无缝流转', c: '#1B7A5E' },&#10;        { ic: 'plug', t: '模型中立', d: '内置 DeepSeek V4.1 Flash，支持接入任意 OpenAI 兼容大模型与 MCP 工具', c: '#4A5568' },&#10;        { ic: 'users', t: '智能体协同', d: '8 类 Agent 编排 + 三层课题组记忆引擎，首创五角色专家评审团机制', c: '#C2762B' },&#10;      ].map((v, i) =&gt; (&#10;        &lt;Box key={i} style={{ flex: 1, background: '#FFFFFF', borderRadius: 12, border: '1px solid #E6E2D6', boxShadow: '0 2px 12px rgba(0,0,0,0.06)', padding: '16px 18px', borderTop: `4px solid ${v.c}` }}&gt;&#10;          &lt;Box style={{ width: 42, height: 42, borderRadius: 10, background: v.c + '16', justifyContent: 'center', alignItems: 'center', marginBottom: 10 }}&gt;&#10;            &lt;FAIcon name={v.ic} style={{ fill: v.c, width: 20, height: 20 }} /&gt;&#10;          &lt;/Box&gt;&#10;          &lt;Text style={{ fontSize: 19, fontWeight: 'bold', color: '#1F2A26', fontFamily: 'Noto Serif SC, Georgia, serif', marginBottom: 6 }}&gt;{v.t}&lt;/Text&gt;&#10;          &lt;Text style={{ fontSize: 13, color: '#4A554F', lineHeight: 1.6 }}&gt;{v.d}&lt;/Text&gt;&#10;        &lt;/Box&gt;&#10;      ))}&#10;    &lt;/Box&gt;&#10;    {/* 底部流程链条 */}&#10;    &lt;Box style={{ background: '#FFFFFF', borderRadius: 12, border: '1px solid #E6E2D6', padding: '18px 20px', boxShadow: '0 2px 12px rgba(0,0,0,0.06)' }}&gt;&#10;      &lt;Text style={{ fontSize: 13, color: '#8A948D', marginBottom: 12, fontWeight: 600 }}&gt;全流程闭环 · 数据自动沉淀到「我的项目」空间&lt;/Text&gt;&#10;      &lt;Box style={{ flexDirection: 'row', alignItems: 'center', justifyContent: 'space-between' }}&gt;&#10;        {[&#10;          { t: '选题', ic: 'lightbulb' }, { t: '文献', ic: 'book' }, { t: '复现', ic: 'redo' }, { t: '实验', ic: 'flask' },&#10;          { t: '分析', ic: 'chart-bar' }, { t: '写作', ic: 'pen' }, { t: '投稿', ic: 'paper-plane' }, { t: '协作', ic: 'users' },&#10;        ].map((s, i) =&gt; (&#10;          &lt;Box key={i} style={{ flexDirection: 'row', alignItems: 'center' }}&gt;&#10;            &lt;Box style={{ flexDirection: 'column', alignItems: 'center', gap: 6 }}&gt;&#10;              &lt;Box style={{ width: 52, height: 52, borderRadius: '50%', background: i === 7 ? '#1B7A5E' : '#E3F1EA', justifyContent: 'center', alignItems: 'center' }}&gt;&#10;                &lt;FAIcon name={s.ic} style={{ fill: i === 7 ? '#FFFFFF' : '#1B7A5E', width: 22, height: 22 }} /&gt;&#10;              &lt;/Box&gt;&#10;              &lt;Text style={{ fontSize: 13, color: '#1F2A26', fontWeight: 600 }}&gt;{s.t}&lt;/Text&gt;&#10;            &lt;/Box&gt;&#10;            {i &lt; 7 &amp;&amp; &lt;Box style={{ width: 30, height: 2, background: '#1B7A5E', opacity: 0.5, margin: '0 4px', marginBottom: 22 }} /&gt;}&#10;          &lt;/Box&gt;&#10;        ))}&#10;      &lt;/Box&gt;&#10;    &lt;/Box&gt;&#10;  &lt;/Box&gt;&#10;  &lt;Box style={{ flexDirection: 'row', justifyContent: 'space-between', alignItems: 'center', padding: '0 60px', height: 40, marginTop: 6 }}&gt;&#10;    &lt;Text style={{ fontSize: 12, color: '#8A948D' }}&gt;ScienceX · AI 科研工作台&lt;/Text&gt;&#10;    &lt;Text style={{ fontSize: 12, color: '#8A948D' }}&gt;07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789" name=""/>
          <p:cNvSpPr/>
          <p:nvPr/>
        </p:nvSpPr>
        <p:spPr>
          <a:xfrm rot="0" flipH="0" flipV="0">
            <a:off x="571500" y="2952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790" name=""/>
          <p:cNvSpPr/>
          <p:nvPr/>
        </p:nvSpPr>
        <p:spPr>
          <a:xfrm rot="0" flipH="0" flipV="0">
            <a:off x="742950" y="19050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838200" y="2190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02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项目简介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2085975" y="219075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名称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定位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价值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742950" y="447675"/>
            <a:ext cx="86201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一个覆盖科研全流程的</a:t>
            </a:r>
            <a:r>
              <a:rPr lang="en-US" sz="210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AI </a:t>
            </a: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工作台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9496425" y="333375"/>
            <a:ext cx="2124075" cy="295275"/>
          </a:xfrm>
          <a:prstGeom prst="roundRect">
            <a:avLst>
              <a:gd name="adj" fmla="val 25806"/>
            </a:avLst>
          </a:prstGeom>
          <a:solidFill>
            <a:srgbClr val="E3F1EA"/>
          </a:solidFill>
          <a:ln w="12700">
            <a:solidFill>
              <a:srgbClr val="CDE4D8"/>
            </a:solidFill>
            <a:prstDash val="solid"/>
          </a:ln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9629775" y="409575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B7A5E"/>
                </a:solidFill>
                <a:latin typeface="Consolas"/>
                <a:ea typeface="Consolas"/>
              </a:rPr>
              <a:t xml:space="preserve">13 </a:t>
            </a:r>
            <a:r>
              <a:rPr lang="zh-CN" sz="900" b="1">
                <a:solidFill>
                  <a:srgbClr val="1B7A5E"/>
                </a:solidFill>
                <a:latin typeface="Consolas"/>
                <a:ea typeface="Consolas"/>
              </a:rPr>
              <a:t>模块</a:t>
            </a:r>
            <a:r>
              <a:rPr lang="en-US" sz="900" b="1">
                <a:solidFill>
                  <a:srgbClr val="1B7A5E"/>
                </a:solidFill>
                <a:latin typeface="Consolas"/>
                <a:ea typeface="Consolas"/>
              </a:rPr>
              <a:t xml:space="preserve"> · 40+ API · 8 </a:t>
            </a:r>
            <a:r>
              <a:rPr lang="zh-CN" sz="900" b="1">
                <a:solidFill>
                  <a:srgbClr val="1B7A5E"/>
                </a:solidFill>
                <a:latin typeface="Consolas"/>
                <a:ea typeface="Consolas"/>
              </a:rPr>
              <a:t>类</a:t>
            </a:r>
            <a:r>
              <a:rPr lang="en-US" sz="900" b="1">
                <a:solidFill>
                  <a:srgbClr val="1B7A5E"/>
                </a:solidFill>
                <a:latin typeface="Consolas"/>
                <a:ea typeface="Consolas"/>
              </a:rPr>
              <a:t xml:space="preserve"> Agent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571500" y="885825"/>
            <a:ext cx="110490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>
                <a:solidFill>
                  <a:srgbClr val="4A554F"/>
                </a:solidFill>
                <a:latin typeface="Microsoft YaHei"/>
                <a:ea typeface="Microsoft YaHei"/>
              </a:rPr>
              <a:t>把重复、琐碎、耗时的环节交给</a:t>
            </a:r>
            <a:r>
              <a:rPr lang="en-US" sz="1163">
                <a:solidFill>
                  <a:srgbClr val="4A554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63">
                <a:solidFill>
                  <a:srgbClr val="4A554F"/>
                </a:solidFill>
                <a:latin typeface="Microsoft YaHei"/>
                <a:ea typeface="Microsoft YaHei"/>
              </a:rPr>
              <a:t>智能体，让研究者专注创新本身——</a:t>
            </a:r>
            <a:r>
              <a:rPr lang="zh-CN" sz="1163" b="1">
                <a:solidFill>
                  <a:srgbClr val="1B7A5E"/>
                </a:solidFill>
                <a:latin typeface="Microsoft YaHei"/>
                <a:ea typeface="Microsoft YaHei"/>
              </a:rPr>
              <a:t>数据在各环节间无缝流转，杜绝信息孤岛</a:t>
            </a:r>
            <a:r>
              <a:rPr lang="zh-CN" sz="1163">
                <a:solidFill>
                  <a:srgbClr val="4A554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571500" y="1362075"/>
            <a:ext cx="3552825" cy="1590675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571500" y="1362075"/>
            <a:ext cx="3552825" cy="1590675"/>
          </a:xfrm>
          <a:custGeom>
            <a:pathLst>
              <a:path w="373" h="167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799" name=""/>
          <p:cNvSpPr/>
          <p:nvPr/>
        </p:nvSpPr>
        <p:spPr>
          <a:xfrm rot="0" flipH="0" flipV="0">
            <a:off x="742950" y="15144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B7A5E">
              <a:alpha val="8627"/>
            </a:srgbClr>
          </a:solidFill>
          <a:ln/>
        </p:spPr>
        <p:txBody>
          <a:bodyPr/>
          <a:p/>
        </p:txBody>
      </p:sp>
      <p:pic>
        <p:nvPicPr>
          <p:cNvPr id="8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47725" y="1619250"/>
            <a:ext cx="190500" cy="190500"/>
          </a:xfrm>
          <a:prstGeom prst="rect">
            <a:avLst/>
          </a:prstGeom>
          <a:ln/>
        </p:spPr>
      </p:pic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742950" y="2009775"/>
            <a:ext cx="3209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26"/>
                </a:solidFill>
                <a:latin typeface="Noto Serif SC"/>
                <a:ea typeface="Noto Serif SC"/>
              </a:rPr>
              <a:t>全流程闭环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742950" y="2286000"/>
            <a:ext cx="320992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数据在选题→文献→复现→实验→分析→写作→投稿→协作间无缝流转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4314825" y="1362075"/>
            <a:ext cx="3562350" cy="1590675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4314825" y="1362075"/>
            <a:ext cx="3562350" cy="1590675"/>
          </a:xfrm>
          <a:custGeom>
            <a:pathLst>
              <a:path w="374" h="167">
                <a:moveTo>
                  <a:pt x="363" y="0"/>
                </a:moveTo>
                <a:cubicBezTo>
                  <a:pt x="368" y="0"/>
                  <a:pt x="373" y="4"/>
                  <a:pt x="374" y="10"/>
                </a:cubicBezTo>
                <a:cubicBezTo>
                  <a:pt x="373" y="6"/>
                  <a:pt x="370" y="4"/>
                  <a:pt x="366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sp>
        <p:nvSpPr>
          <p:cNvPr id="805" name=""/>
          <p:cNvSpPr/>
          <p:nvPr/>
        </p:nvSpPr>
        <p:spPr>
          <a:xfrm rot="0" flipH="0" flipV="0">
            <a:off x="4486275" y="15144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4A5568">
              <a:alpha val="8627"/>
            </a:srgbClr>
          </a:solidFill>
          <a:ln/>
        </p:spPr>
        <p:txBody>
          <a:bodyPr/>
          <a:p/>
        </p:txBody>
      </p:sp>
      <p:pic>
        <p:nvPicPr>
          <p:cNvPr id="8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91050" y="1619250"/>
            <a:ext cx="190500" cy="190500"/>
          </a:xfrm>
          <a:prstGeom prst="rect">
            <a:avLst/>
          </a:prstGeom>
          <a:ln/>
        </p:spPr>
      </p:pic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4486275" y="200977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26"/>
                </a:solidFill>
                <a:latin typeface="Noto Serif SC"/>
                <a:ea typeface="Noto Serif SC"/>
              </a:rPr>
              <a:t>模型中立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4486275" y="2286000"/>
            <a:ext cx="32194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内置</a:t>
            </a:r>
            <a:r>
              <a:rPr lang="en-US" sz="975">
                <a:solidFill>
                  <a:srgbClr val="4A554F"/>
                </a:solidFill>
                <a:latin typeface="Microsoft YaHei"/>
                <a:ea typeface="Microsoft YaHei"/>
              </a:rPr>
              <a:t xml:space="preserve"> DeepSeek V4.1 Flash</a:t>
            </a: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，支持接入任意</a:t>
            </a:r>
            <a:r>
              <a:rPr lang="en-US" sz="975">
                <a:solidFill>
                  <a:srgbClr val="4A554F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兼容大模型与</a:t>
            </a:r>
            <a:r>
              <a:rPr lang="en-US" sz="975">
                <a:solidFill>
                  <a:srgbClr val="4A554F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8067675" y="1362075"/>
            <a:ext cx="3552825" cy="1590675"/>
          </a:xfrm>
          <a:prstGeom prst="roundRect">
            <a:avLst>
              <a:gd name="adj" fmla="val 7186"/>
            </a:avLst>
          </a:prstGeom>
          <a:solidFill>
            <a:srgbClr val="FFFFFF"/>
          </a:solidFill>
          <a:ln/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8067675" y="1362075"/>
            <a:ext cx="3552825" cy="1590675"/>
          </a:xfrm>
          <a:custGeom>
            <a:pathLst>
              <a:path w="373" h="167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811" name=""/>
          <p:cNvSpPr/>
          <p:nvPr/>
        </p:nvSpPr>
        <p:spPr>
          <a:xfrm rot="0" flipH="0" flipV="0">
            <a:off x="8239125" y="151447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C2762B">
              <a:alpha val="8627"/>
            </a:srgbClr>
          </a:solidFill>
          <a:ln/>
        </p:spPr>
        <p:txBody>
          <a:bodyPr/>
          <a:p/>
        </p:txBody>
      </p:sp>
      <p:pic>
        <p:nvPicPr>
          <p:cNvPr id="8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43900" y="1619250"/>
            <a:ext cx="190500" cy="190500"/>
          </a:xfrm>
          <a:prstGeom prst="rect">
            <a:avLst/>
          </a:prstGeom>
          <a:ln/>
        </p:spPr>
      </p:pic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239125" y="2009775"/>
            <a:ext cx="3209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26"/>
                </a:solidFill>
                <a:latin typeface="Noto Serif SC"/>
                <a:ea typeface="Noto Serif SC"/>
              </a:rPr>
              <a:t>智能体协同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8239125" y="2286000"/>
            <a:ext cx="320992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4F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类</a:t>
            </a:r>
            <a:r>
              <a:rPr lang="en-US" sz="975">
                <a:solidFill>
                  <a:srgbClr val="4A554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编排</a:t>
            </a:r>
            <a:r>
              <a:rPr lang="en-US" sz="975">
                <a:solidFill>
                  <a:srgbClr val="4A554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三层课题组记忆引擎，首创五角色专家评审团机制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571500" y="3067050"/>
            <a:ext cx="1104900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762000" y="3238500"/>
            <a:ext cx="10668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948D"/>
                </a:solidFill>
                <a:latin typeface="Microsoft YaHei"/>
                <a:ea typeface="Microsoft YaHei"/>
              </a:rPr>
              <a:t>全流程闭环</a:t>
            </a:r>
            <a:r>
              <a:rPr lang="en-US" sz="975" b="1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8A948D"/>
                </a:solidFill>
                <a:latin typeface="Microsoft YaHei"/>
                <a:ea typeface="Microsoft YaHei"/>
              </a:rPr>
              <a:t>数据自动沉淀到「我的项目」空间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762000" y="3505200"/>
            <a:ext cx="495300" cy="495300"/>
          </a:xfrm>
          <a:custGeom>
            <a:pathLst>
              <a:path w="52" h="52">
                <a:moveTo>
                  <a:pt x="26" y="0"/>
                </a:moveTo>
                <a:lnTo>
                  <a:pt x="26" y="0"/>
                </a:lnTo>
                <a:cubicBezTo>
                  <a:pt x="40" y="0"/>
                  <a:pt x="52" y="12"/>
                  <a:pt x="52" y="26"/>
                </a:cubicBezTo>
                <a:lnTo>
                  <a:pt x="52" y="26"/>
                </a:lnTo>
                <a:cubicBezTo>
                  <a:pt x="52" y="40"/>
                  <a:pt x="40" y="52"/>
                  <a:pt x="26" y="52"/>
                </a:cubicBezTo>
                <a:lnTo>
                  <a:pt x="26" y="52"/>
                </a:lnTo>
                <a:cubicBezTo>
                  <a:pt x="12" y="52"/>
                  <a:pt x="0" y="40"/>
                  <a:pt x="0" y="26"/>
                </a:cubicBezTo>
                <a:lnTo>
                  <a:pt x="0" y="26"/>
                </a:lnTo>
                <a:cubicBezTo>
                  <a:pt x="0" y="12"/>
                  <a:pt x="12" y="0"/>
                  <a:pt x="26" y="0"/>
                </a:cubicBezTo>
                <a:close/>
              </a:path>
            </a:pathLst>
          </a:cu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8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4875" y="3648075"/>
            <a:ext cx="209550" cy="209550"/>
          </a:xfrm>
          <a:prstGeom prst="rect">
            <a:avLst/>
          </a:prstGeom>
          <a:ln/>
        </p:spPr>
      </p:pic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85825" y="4057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选题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2219325" y="3505200"/>
            <a:ext cx="495300" cy="495300"/>
          </a:xfrm>
          <a:custGeom>
            <a:pathLst>
              <a:path w="52" h="52">
                <a:moveTo>
                  <a:pt x="26" y="0"/>
                </a:moveTo>
                <a:lnTo>
                  <a:pt x="26" y="0"/>
                </a:lnTo>
                <a:cubicBezTo>
                  <a:pt x="40" y="0"/>
                  <a:pt x="52" y="12"/>
                  <a:pt x="52" y="26"/>
                </a:cubicBezTo>
                <a:lnTo>
                  <a:pt x="52" y="26"/>
                </a:lnTo>
                <a:cubicBezTo>
                  <a:pt x="52" y="40"/>
                  <a:pt x="40" y="52"/>
                  <a:pt x="26" y="52"/>
                </a:cubicBezTo>
                <a:lnTo>
                  <a:pt x="26" y="52"/>
                </a:lnTo>
                <a:cubicBezTo>
                  <a:pt x="12" y="52"/>
                  <a:pt x="0" y="40"/>
                  <a:pt x="0" y="26"/>
                </a:cubicBezTo>
                <a:lnTo>
                  <a:pt x="0" y="26"/>
                </a:lnTo>
                <a:cubicBezTo>
                  <a:pt x="0" y="12"/>
                  <a:pt x="12" y="0"/>
                  <a:pt x="26" y="0"/>
                </a:cubicBezTo>
                <a:close/>
              </a:path>
            </a:pathLst>
          </a:cu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8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2362200" y="3648075"/>
            <a:ext cx="209550" cy="209550"/>
          </a:xfrm>
          <a:prstGeom prst="rect">
            <a:avLst/>
          </a:prstGeom>
          <a:ln/>
        </p:spPr>
      </p:pic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2343150" y="4057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文献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3667125" y="3505200"/>
            <a:ext cx="495300" cy="495300"/>
          </a:xfrm>
          <a:custGeom>
            <a:pathLst>
              <a:path w="52" h="52">
                <a:moveTo>
                  <a:pt x="26" y="0"/>
                </a:moveTo>
                <a:lnTo>
                  <a:pt x="26" y="0"/>
                </a:lnTo>
                <a:cubicBezTo>
                  <a:pt x="40" y="0"/>
                  <a:pt x="52" y="12"/>
                  <a:pt x="52" y="26"/>
                </a:cubicBezTo>
                <a:lnTo>
                  <a:pt x="52" y="26"/>
                </a:lnTo>
                <a:cubicBezTo>
                  <a:pt x="52" y="40"/>
                  <a:pt x="40" y="52"/>
                  <a:pt x="26" y="52"/>
                </a:cubicBezTo>
                <a:lnTo>
                  <a:pt x="26" y="52"/>
                </a:lnTo>
                <a:cubicBezTo>
                  <a:pt x="12" y="52"/>
                  <a:pt x="0" y="40"/>
                  <a:pt x="0" y="26"/>
                </a:cubicBezTo>
                <a:lnTo>
                  <a:pt x="0" y="26"/>
                </a:lnTo>
                <a:cubicBezTo>
                  <a:pt x="0" y="12"/>
                  <a:pt x="12" y="0"/>
                  <a:pt x="26" y="0"/>
                </a:cubicBezTo>
                <a:close/>
              </a:path>
            </a:pathLst>
          </a:cu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8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3810000" y="3648075"/>
            <a:ext cx="209550" cy="209550"/>
          </a:xfrm>
          <a:prstGeom prst="rect">
            <a:avLst/>
          </a:prstGeom>
          <a:ln/>
        </p:spPr>
      </p:pic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3790950" y="4057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复现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5124450" y="3505200"/>
            <a:ext cx="495300" cy="495300"/>
          </a:xfrm>
          <a:custGeom>
            <a:pathLst>
              <a:path w="52" h="52">
                <a:moveTo>
                  <a:pt x="26" y="0"/>
                </a:moveTo>
                <a:lnTo>
                  <a:pt x="26" y="0"/>
                </a:lnTo>
                <a:cubicBezTo>
                  <a:pt x="40" y="0"/>
                  <a:pt x="52" y="12"/>
                  <a:pt x="52" y="26"/>
                </a:cubicBezTo>
                <a:lnTo>
                  <a:pt x="52" y="26"/>
                </a:lnTo>
                <a:cubicBezTo>
                  <a:pt x="52" y="40"/>
                  <a:pt x="40" y="52"/>
                  <a:pt x="26" y="52"/>
                </a:cubicBezTo>
                <a:lnTo>
                  <a:pt x="26" y="52"/>
                </a:lnTo>
                <a:cubicBezTo>
                  <a:pt x="12" y="52"/>
                  <a:pt x="0" y="40"/>
                  <a:pt x="0" y="26"/>
                </a:cubicBezTo>
                <a:lnTo>
                  <a:pt x="0" y="26"/>
                </a:lnTo>
                <a:cubicBezTo>
                  <a:pt x="0" y="12"/>
                  <a:pt x="12" y="0"/>
                  <a:pt x="26" y="0"/>
                </a:cubicBezTo>
                <a:close/>
              </a:path>
            </a:pathLst>
          </a:cu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8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5267325" y="3648075"/>
            <a:ext cx="209550" cy="209550"/>
          </a:xfrm>
          <a:prstGeom prst="rect">
            <a:avLst/>
          </a:prstGeom>
          <a:ln/>
        </p:spPr>
      </p:pic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5248275" y="4057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实验</a:t>
            </a:r>
            <a:endParaRPr/>
          </a:p>
        </p:txBody>
      </p:sp>
      <p:sp>
        <p:nvSpPr>
          <p:cNvPr id="829" name=""/>
          <p:cNvSpPr/>
          <p:nvPr/>
        </p:nvSpPr>
        <p:spPr>
          <a:xfrm rot="0" flipH="0" flipV="0">
            <a:off x="6572250" y="3505200"/>
            <a:ext cx="495300" cy="495300"/>
          </a:xfrm>
          <a:custGeom>
            <a:pathLst>
              <a:path w="52" h="52">
                <a:moveTo>
                  <a:pt x="26" y="0"/>
                </a:moveTo>
                <a:lnTo>
                  <a:pt x="26" y="0"/>
                </a:lnTo>
                <a:cubicBezTo>
                  <a:pt x="40" y="0"/>
                  <a:pt x="52" y="12"/>
                  <a:pt x="52" y="26"/>
                </a:cubicBezTo>
                <a:lnTo>
                  <a:pt x="52" y="26"/>
                </a:lnTo>
                <a:cubicBezTo>
                  <a:pt x="52" y="40"/>
                  <a:pt x="40" y="52"/>
                  <a:pt x="26" y="52"/>
                </a:cubicBezTo>
                <a:lnTo>
                  <a:pt x="26" y="52"/>
                </a:lnTo>
                <a:cubicBezTo>
                  <a:pt x="12" y="52"/>
                  <a:pt x="0" y="40"/>
                  <a:pt x="0" y="26"/>
                </a:cubicBezTo>
                <a:lnTo>
                  <a:pt x="0" y="26"/>
                </a:lnTo>
                <a:cubicBezTo>
                  <a:pt x="0" y="12"/>
                  <a:pt x="12" y="0"/>
                  <a:pt x="26" y="0"/>
                </a:cubicBezTo>
                <a:close/>
              </a:path>
            </a:pathLst>
          </a:cu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8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6715125" y="3648075"/>
            <a:ext cx="209550" cy="209550"/>
          </a:xfrm>
          <a:prstGeom prst="rect">
            <a:avLst/>
          </a:prstGeom>
          <a:ln/>
        </p:spPr>
      </p:pic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6696075" y="4057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8029575" y="3505200"/>
            <a:ext cx="495300" cy="495300"/>
          </a:xfrm>
          <a:custGeom>
            <a:pathLst>
              <a:path w="52" h="52">
                <a:moveTo>
                  <a:pt x="26" y="0"/>
                </a:moveTo>
                <a:lnTo>
                  <a:pt x="26" y="0"/>
                </a:lnTo>
                <a:cubicBezTo>
                  <a:pt x="40" y="0"/>
                  <a:pt x="52" y="12"/>
                  <a:pt x="52" y="26"/>
                </a:cubicBezTo>
                <a:lnTo>
                  <a:pt x="52" y="26"/>
                </a:lnTo>
                <a:cubicBezTo>
                  <a:pt x="52" y="40"/>
                  <a:pt x="40" y="52"/>
                  <a:pt x="26" y="52"/>
                </a:cubicBezTo>
                <a:lnTo>
                  <a:pt x="26" y="52"/>
                </a:lnTo>
                <a:cubicBezTo>
                  <a:pt x="12" y="52"/>
                  <a:pt x="0" y="40"/>
                  <a:pt x="0" y="26"/>
                </a:cubicBezTo>
                <a:lnTo>
                  <a:pt x="0" y="26"/>
                </a:lnTo>
                <a:cubicBezTo>
                  <a:pt x="0" y="12"/>
                  <a:pt x="12" y="0"/>
                  <a:pt x="26" y="0"/>
                </a:cubicBezTo>
                <a:close/>
              </a:path>
            </a:pathLst>
          </a:cu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8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8172450" y="3648075"/>
            <a:ext cx="209550" cy="209550"/>
          </a:xfrm>
          <a:prstGeom prst="rect">
            <a:avLst/>
          </a:prstGeom>
          <a:ln/>
        </p:spPr>
      </p:pic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8153400" y="4057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写作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9477375" y="3505200"/>
            <a:ext cx="495300" cy="495300"/>
          </a:xfrm>
          <a:custGeom>
            <a:pathLst>
              <a:path w="52" h="52">
                <a:moveTo>
                  <a:pt x="26" y="0"/>
                </a:moveTo>
                <a:lnTo>
                  <a:pt x="26" y="0"/>
                </a:lnTo>
                <a:cubicBezTo>
                  <a:pt x="40" y="0"/>
                  <a:pt x="52" y="12"/>
                  <a:pt x="52" y="26"/>
                </a:cubicBezTo>
                <a:lnTo>
                  <a:pt x="52" y="26"/>
                </a:lnTo>
                <a:cubicBezTo>
                  <a:pt x="52" y="40"/>
                  <a:pt x="40" y="52"/>
                  <a:pt x="26" y="52"/>
                </a:cubicBezTo>
                <a:lnTo>
                  <a:pt x="26" y="52"/>
                </a:lnTo>
                <a:cubicBezTo>
                  <a:pt x="12" y="52"/>
                  <a:pt x="0" y="40"/>
                  <a:pt x="0" y="26"/>
                </a:cubicBezTo>
                <a:lnTo>
                  <a:pt x="0" y="26"/>
                </a:lnTo>
                <a:cubicBezTo>
                  <a:pt x="0" y="12"/>
                  <a:pt x="12" y="0"/>
                  <a:pt x="26" y="0"/>
                </a:cubicBezTo>
                <a:close/>
              </a:path>
            </a:pathLst>
          </a:cu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8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9620250" y="3648075"/>
            <a:ext cx="209550" cy="209550"/>
          </a:xfrm>
          <a:prstGeom prst="rect">
            <a:avLst/>
          </a:prstGeom>
          <a:ln/>
        </p:spPr>
      </p:pic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9601200" y="4057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投稿</a:t>
            </a:r>
            <a:endParaRPr/>
          </a:p>
        </p:txBody>
      </p:sp>
      <p:sp>
        <p:nvSpPr>
          <p:cNvPr id="838" name=""/>
          <p:cNvSpPr/>
          <p:nvPr/>
        </p:nvSpPr>
        <p:spPr>
          <a:xfrm rot="0" flipH="0" flipV="0">
            <a:off x="10934700" y="3505200"/>
            <a:ext cx="495300" cy="495300"/>
          </a:xfrm>
          <a:custGeom>
            <a:pathLst>
              <a:path w="52" h="52">
                <a:moveTo>
                  <a:pt x="26" y="0"/>
                </a:moveTo>
                <a:lnTo>
                  <a:pt x="26" y="0"/>
                </a:lnTo>
                <a:cubicBezTo>
                  <a:pt x="40" y="0"/>
                  <a:pt x="52" y="12"/>
                  <a:pt x="52" y="26"/>
                </a:cubicBezTo>
                <a:lnTo>
                  <a:pt x="52" y="26"/>
                </a:lnTo>
                <a:cubicBezTo>
                  <a:pt x="52" y="40"/>
                  <a:pt x="40" y="52"/>
                  <a:pt x="26" y="52"/>
                </a:cubicBezTo>
                <a:lnTo>
                  <a:pt x="26" y="52"/>
                </a:lnTo>
                <a:cubicBezTo>
                  <a:pt x="12" y="52"/>
                  <a:pt x="0" y="40"/>
                  <a:pt x="0" y="26"/>
                </a:cubicBezTo>
                <a:lnTo>
                  <a:pt x="0" y="26"/>
                </a:lnTo>
                <a:cubicBezTo>
                  <a:pt x="0" y="12"/>
                  <a:pt x="12" y="0"/>
                  <a:pt x="26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pic>
        <p:nvPicPr>
          <p:cNvPr id="8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 rot="0" flipH="0" flipV="0">
            <a:off x="11077575" y="3648075"/>
            <a:ext cx="209550" cy="209550"/>
          </a:xfrm>
          <a:prstGeom prst="rect">
            <a:avLst/>
          </a:prstGeom>
          <a:ln/>
        </p:spPr>
      </p:pic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11058525" y="40576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协作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571500" y="550545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11229975" y="55054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07 / 22</a:t>
            </a:r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1295400" y="3743325"/>
            <a:ext cx="28575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844" name=""/>
          <p:cNvSpPr/>
          <p:nvPr/>
        </p:nvSpPr>
        <p:spPr>
          <a:xfrm rot="0" flipH="0" flipV="0">
            <a:off x="2752725" y="3743325"/>
            <a:ext cx="28575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845" name=""/>
          <p:cNvSpPr/>
          <p:nvPr/>
        </p:nvSpPr>
        <p:spPr>
          <a:xfrm rot="0" flipH="0" flipV="0">
            <a:off x="4200525" y="3743325"/>
            <a:ext cx="28575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846" name=""/>
          <p:cNvSpPr/>
          <p:nvPr/>
        </p:nvSpPr>
        <p:spPr>
          <a:xfrm rot="0" flipH="0" flipV="0">
            <a:off x="5657850" y="3743325"/>
            <a:ext cx="28575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847" name=""/>
          <p:cNvSpPr/>
          <p:nvPr/>
        </p:nvSpPr>
        <p:spPr>
          <a:xfrm rot="0" flipH="0" flipV="0">
            <a:off x="7105650" y="3743325"/>
            <a:ext cx="28575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848" name=""/>
          <p:cNvSpPr/>
          <p:nvPr/>
        </p:nvSpPr>
        <p:spPr>
          <a:xfrm rot="0" flipH="0" flipV="0">
            <a:off x="8562975" y="3743325"/>
            <a:ext cx="28575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849" name=""/>
          <p:cNvSpPr/>
          <p:nvPr/>
        </p:nvSpPr>
        <p:spPr>
          <a:xfrm rot="0" flipH="0" flipV="0">
            <a:off x="10010775" y="3743325"/>
            <a:ext cx="28575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50" name="" descr="&lt;Slide style={{ padding: 0, background: '#F6F4EE' }}&gt;&#10;  &lt;Box style={{ flexDirection: 'row', alignItems: 'center', padding: '20px 60px 8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2 · 用户画像&lt;/Text&gt;&lt;/Box&gt;&#10;        &lt;Text style={{ fontSize: 13, color: '#8A948D' }}&gt;学术启蒙 → 教研并进 → 前沿攻关&lt;/Text&gt;&#10;      &lt;/Box&gt;&#10;      &lt;Text style={{ fontSize: 28, fontWeight: 'bold', color: '#1F2A26', fontFamily: 'Noto Serif SC, Georgia, serif', marginTop: 6 }}&gt;覆盖「完整科研人生周期」的三类用户&lt;/Text&gt;&#10;    &lt;/Box&gt;&#10;  &lt;/Box&gt;&#10;  &lt;Box style={{ padding: '6px 60px 0', height: 470 }}&gt;&#10;    &lt;Box style={{ flexDirection: 'row', gap: 22, height: 402 }}&gt;&#10;      {[&#10;        { ch: '01', ic: 'user-graduate', t: '大学生 / 研究生', age: '20–28', tag: '本科毕设 · 硕博研究生', bar: '#1B7A5E', ask: '快速入门选题、读懂英文文献、跑通实验、写出第一篇论文', scenes: ['开题前选题调研', '组会前狂读 5 篇论文', '深夜改稿润色'] },&#10;        { ch: '02', ic: 'chalkboard-teacher', t: '高校教师', age: '30–50', tag: '青年骨干 · 硕博导师 · 课题负责人', bar: '#4A5568', ask: '提高产出效率、管理课题组、追踪学科前沿', scenes: ['写基金 · 审稿', '指导学生组会汇报', '课题组知识沉淀'] },&#10;        { ch: '03', ic: 'flask', t: '专职科研人员', age: '28–55', tag: '实验室 PI · 产业研发 · 研究院科学家', bar: '#C2762B', ask: '快速技术调研、复现 SOTA、产出技术报告', scenes: ['技术选型调研', '复现开源代码', '产出白皮书 / 专利'] },&#10;      ].map((u, i) =&gt; (&#10;        &lt;Box key={i} style={{ flex: 1, background: '#FFFFFF', borderRadius: 14, border: '1px solid #E6E2D6', boxShadow: '0 2px 12px rgba(0,0,0,0.06)', overflow: 'hidden', flexDirection: 'column' }}&gt;&#10;          {/* 顶部图区 */}&#10;          &lt;Box style={{ height: 96, background: `${u.bar}14`, position: 'relative', justifyContent: 'center', alignItems: 'center', borderBottom: `4px solid ${u.bar}` }}&gt;&#10;            &lt;Text style={{ position: 'absolute', top: 8, left: 14, fontSize: 12, color: u.bar, fontWeight: 700, letterSpacing: 2, opacity: 0.6, fontFamily: 'Consolas, monospace' }}&gt;CHAPTER {u.ch}&lt;/Text&gt;&#10;            &lt;FAIcon name={u.ic} style={{ fill: u.bar, width: 44, height: 44 }} /&gt;&#10;          &lt;/Box&gt;&#10;          &lt;Box style={{ padding: '14px 16px', flexDirection: 'column', gap: 8, flex: 1 }}&gt;&#10;            &lt;Text style={{ fontSize: 18, fontWeight: 'bold', color: '#1F2A26', fontFamily: 'Noto Serif SC, Georgia, serif' }}&gt;{u.t} &lt;span style={{ fontSize: 15, color: u.bar, fontFamily: 'Consolas, monospace', fontWeight: 'bold' }}&gt;{u.age} 岁&lt;/span&gt;&lt;/Text&gt;&#10;            &lt;Text style={{ fontSize: 12, color: '#8A948D' }}&gt;{u.tag}&lt;/Text&gt;&#10;            &lt;Box style={{ background: '#F0EFE8', borderRadius: 8, padding: '8px 10px' }}&gt;&#10;              &lt;Text style={{ fontSize: 12, color: '#1B7A5E', fontWeight: 700, marginBottom: 3 }}&gt;核心诉求&lt;/Text&gt;&#10;              &lt;Text style={{ fontSize: 12, color: '#4A554F', lineHeight: 1.55 }}&gt;{u.ask}&lt;/Text&gt;&#10;            &lt;/Box&gt;&#10;            &lt;Box style={{ gap: 4, flexDirection: 'column' }}&gt;&#10;              {u.scenes.map((s, j) =&gt; (&#10;                &lt;Box key={j} style={{ flexDirection: 'row', gap: 6, alignItems: 'center' }}&gt;&#10;                  &lt;Box style={{ width: 5, height: 5, borderRadius: '50%', background: u.bar }} /&gt;&#10;                  &lt;Text style={{ fontSize: 12.5, color: '#4A554F' }}&gt;{s}&lt;/Text&gt;&#10;                &lt;/Box&gt;&#10;              ))}&#10;            &lt;/Box&gt;&#10;          &lt;/Box&gt;&#10;        &lt;/Box&gt;&#10;      ))}&#10;    &lt;/Box&gt;&#10;    &lt;Box style={{ flexDirection: 'row', alignItems: 'center', marginTop: 14, padding: '10px 18px', background: '#FAF0E1', borderLeft: '4px solid #C2762B', borderRadius: 6, gap: 12 }}&gt;&#10;      &lt;FAIcon name=&quot;heart&quot; style={{ fill: '#C2762B', width: 16, height: 16 }} /&gt;&#10;      &lt;Text style={{ fontSize: 13.5, color: '#4A3A22', lineHeight: 1.6 }}&gt;每一段科研旅程，都值得一个懂你的搭档。&lt;/Text&gt;&#10;    &lt;/Box&gt;&#10;  &lt;/Box&gt;&#10;  &lt;Box style={{ flexDirection: 'row', justifyContent: 'space-between', alignItems: 'center', padding: '0 60px', height: 40, marginTop: 4 }}&gt;&#10;    &lt;Text style={{ fontSize: 12, color: '#8A948D' }}&gt;ScienceX · AI 科研工作台&lt;/Text&gt;&#10;    &lt;Text style={{ fontSize: 12, color: '#8A948D' }}&gt;08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852" name=""/>
          <p:cNvSpPr/>
          <p:nvPr/>
        </p:nvSpPr>
        <p:spPr>
          <a:xfrm rot="0" flipH="0" flipV="0">
            <a:off x="571500" y="2952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853" name=""/>
          <p:cNvSpPr/>
          <p:nvPr/>
        </p:nvSpPr>
        <p:spPr>
          <a:xfrm rot="0" flipH="0" flipV="0">
            <a:off x="742950" y="19050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838200" y="2190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02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用户画像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2085975" y="219075"/>
            <a:ext cx="1885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学术启蒙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教研并进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前沿攻关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742950" y="447675"/>
            <a:ext cx="4533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覆盖「完整科研人生周期」的三类用户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571500" y="904875"/>
            <a:ext cx="3543300" cy="38290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23900" y="19526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26"/>
                </a:solidFill>
                <a:latin typeface="Noto Serif SC"/>
                <a:ea typeface="Noto Serif SC"/>
              </a:rPr>
              <a:t>大学生</a:t>
            </a:r>
            <a:r>
              <a:rPr lang="en-US" sz="135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/ </a:t>
            </a:r>
            <a:r>
              <a:rPr lang="zh-CN" sz="1350" b="1">
                <a:solidFill>
                  <a:srgbClr val="1F2A26"/>
                </a:solidFill>
                <a:latin typeface="Noto Serif SC"/>
                <a:ea typeface="Noto Serif SC"/>
              </a:rPr>
              <a:t>研究生</a:t>
            </a:r>
            <a:r>
              <a:rPr lang="en-US" sz="135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</a:t>
            </a:r>
            <a:r>
              <a:rPr lang="en-US" sz="1125" b="1">
                <a:solidFill>
                  <a:srgbClr val="1B7A5E"/>
                </a:solidFill>
                <a:latin typeface="Noto Serif SC"/>
                <a:ea typeface="Noto Serif SC"/>
              </a:rPr>
              <a:t>20–28</a:t>
            </a:r>
            <a:r>
              <a:rPr lang="en-US" sz="1125" b="1">
                <a:solidFill>
                  <a:srgbClr val="1B7A5E"/>
                </a:solidFill>
                <a:latin typeface="Noto Serif SC"/>
                <a:ea typeface="Noto Serif SC"/>
              </a:rPr>
              <a:t xml:space="preserve"> </a:t>
            </a:r>
            <a:r>
              <a:rPr lang="zh-CN" sz="1125" b="1">
                <a:solidFill>
                  <a:srgbClr val="1B7A5E"/>
                </a:solidFill>
                <a:latin typeface="Noto Serif SC"/>
                <a:ea typeface="Noto Serif SC"/>
              </a:rPr>
              <a:t>岁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723900" y="2238375"/>
            <a:ext cx="323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本科毕设</a:t>
            </a: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硕博研究生</a:t>
            </a:r>
            <a:endParaRPr/>
          </a:p>
        </p:txBody>
      </p:sp>
      <p:sp>
        <p:nvSpPr>
          <p:cNvPr id="860" name=""/>
          <p:cNvSpPr/>
          <p:nvPr/>
        </p:nvSpPr>
        <p:spPr>
          <a:xfrm rot="0" flipH="0" flipV="0">
            <a:off x="723900" y="2457450"/>
            <a:ext cx="3238500" cy="542925"/>
          </a:xfrm>
          <a:prstGeom prst="roundRect">
            <a:avLst>
              <a:gd name="adj" fmla="val 14035"/>
            </a:avLst>
          </a:prstGeom>
          <a:solidFill>
            <a:srgbClr val="F0EFE8"/>
          </a:solidFill>
          <a:ln/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819150" y="253365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B7A5E"/>
                </a:solidFill>
                <a:latin typeface="Microsoft YaHei"/>
                <a:ea typeface="Microsoft YaHei"/>
              </a:rPr>
              <a:t>核心诉求</a:t>
            </a:r>
            <a:endParaRPr/>
          </a:p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819150" y="27051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快速入门选题、读懂英文文献、跑通实验、写出第一篇论文</a:t>
            </a:r>
            <a:endParaRPr/>
          </a:p>
        </p:txBody>
      </p:sp>
      <p:sp>
        <p:nvSpPr>
          <p:cNvPr id="863" name=""/>
          <p:cNvSpPr/>
          <p:nvPr/>
        </p:nvSpPr>
        <p:spPr>
          <a:xfrm rot="0" flipH="0" flipV="0">
            <a:off x="723900" y="3124200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828675" y="307657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开题前选题调研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723900" y="3305175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28675" y="3257550"/>
            <a:ext cx="1095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组会前狂读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篇论文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723900" y="3486150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828675" y="343852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深夜改稿润色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4324350" y="904875"/>
            <a:ext cx="3543300" cy="38290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4476750" y="19526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26"/>
                </a:solidFill>
                <a:latin typeface="Noto Serif SC"/>
                <a:ea typeface="Noto Serif SC"/>
              </a:rPr>
              <a:t>高校教师</a:t>
            </a:r>
            <a:r>
              <a:rPr lang="en-US" sz="135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</a:t>
            </a:r>
            <a:r>
              <a:rPr lang="en-US" sz="1125" b="1">
                <a:solidFill>
                  <a:srgbClr val="4A5568"/>
                </a:solidFill>
                <a:latin typeface="Noto Serif SC"/>
                <a:ea typeface="Noto Serif SC"/>
              </a:rPr>
              <a:t>30–50</a:t>
            </a:r>
            <a:r>
              <a:rPr lang="en-US" sz="1125" b="1">
                <a:solidFill>
                  <a:srgbClr val="4A5568"/>
                </a:solidFill>
                <a:latin typeface="Noto Serif SC"/>
                <a:ea typeface="Noto Serif SC"/>
              </a:rPr>
              <a:t xml:space="preserve"> </a:t>
            </a:r>
            <a:r>
              <a:rPr lang="zh-CN" sz="1125" b="1">
                <a:solidFill>
                  <a:srgbClr val="4A5568"/>
                </a:solidFill>
                <a:latin typeface="Noto Serif SC"/>
                <a:ea typeface="Noto Serif SC"/>
              </a:rPr>
              <a:t>岁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4476750" y="2238375"/>
            <a:ext cx="323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青年骨干</a:t>
            </a: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硕博导师</a:t>
            </a: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课题负责人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4476750" y="2457450"/>
            <a:ext cx="3238500" cy="542925"/>
          </a:xfrm>
          <a:prstGeom prst="roundRect">
            <a:avLst>
              <a:gd name="adj" fmla="val 14035"/>
            </a:avLst>
          </a:prstGeom>
          <a:solidFill>
            <a:srgbClr val="F0EFE8"/>
          </a:solidFill>
          <a:ln/>
        </p:spPr>
        <p:txBody>
          <a:bodyPr/>
          <a:p/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4572000" y="253365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B7A5E"/>
                </a:solidFill>
                <a:latin typeface="Microsoft YaHei"/>
                <a:ea typeface="Microsoft YaHei"/>
              </a:rPr>
              <a:t>核心诉求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4572000" y="27051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提高产出效率、管理课题组、追踪学科前沿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4476750" y="3124200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4581525" y="3076575"/>
            <a:ext cx="695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写基金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审稿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4476750" y="3305175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4581525" y="3257550"/>
            <a:ext cx="952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指导学生组会汇报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4476750" y="3486150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4581525" y="3438525"/>
            <a:ext cx="838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课题组知识沉淀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8077200" y="904875"/>
            <a:ext cx="3543300" cy="382905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114300" dist="19050" dir="54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8229600" y="1952625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26"/>
                </a:solidFill>
                <a:latin typeface="Noto Serif SC"/>
                <a:ea typeface="Noto Serif SC"/>
              </a:rPr>
              <a:t>专职科研人员</a:t>
            </a:r>
            <a:r>
              <a:rPr lang="en-US" sz="135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</a:t>
            </a:r>
            <a:r>
              <a:rPr lang="en-US" sz="1125" b="1">
                <a:solidFill>
                  <a:srgbClr val="C2762B"/>
                </a:solidFill>
                <a:latin typeface="Noto Serif SC"/>
                <a:ea typeface="Noto Serif SC"/>
              </a:rPr>
              <a:t>28–55</a:t>
            </a:r>
            <a:r>
              <a:rPr lang="en-US" sz="1125" b="1">
                <a:solidFill>
                  <a:srgbClr val="C2762B"/>
                </a:solidFill>
                <a:latin typeface="Noto Serif SC"/>
                <a:ea typeface="Noto Serif SC"/>
              </a:rPr>
              <a:t xml:space="preserve"> </a:t>
            </a:r>
            <a:r>
              <a:rPr lang="zh-CN" sz="1125" b="1">
                <a:solidFill>
                  <a:srgbClr val="C2762B"/>
                </a:solidFill>
                <a:latin typeface="Noto Serif SC"/>
                <a:ea typeface="Noto Serif SC"/>
              </a:rPr>
              <a:t>岁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8229600" y="2238375"/>
            <a:ext cx="323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实验室</a:t>
            </a: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 PI ·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产业研发</a:t>
            </a: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研究院科学家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8229600" y="2457450"/>
            <a:ext cx="3238500" cy="542925"/>
          </a:xfrm>
          <a:prstGeom prst="roundRect">
            <a:avLst>
              <a:gd name="adj" fmla="val 14035"/>
            </a:avLst>
          </a:prstGeom>
          <a:solidFill>
            <a:srgbClr val="F0EFE8"/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8324850" y="2533650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B7A5E"/>
                </a:solidFill>
                <a:latin typeface="Microsoft YaHei"/>
                <a:ea typeface="Microsoft YaHei"/>
              </a:rPr>
              <a:t>核心诉求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8324850" y="27051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快速技术调研、复现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SOTA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、产出技术报告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8229600" y="3124200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8334375" y="3076575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技术选型调研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8229600" y="3305175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8334375" y="3257550"/>
            <a:ext cx="714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复现开源代码</a:t>
            </a:r>
            <a:endParaRPr/>
          </a:p>
        </p:txBody>
      </p:sp>
      <p:sp>
        <p:nvSpPr>
          <p:cNvPr id="891" name=""/>
          <p:cNvSpPr/>
          <p:nvPr/>
        </p:nvSpPr>
        <p:spPr>
          <a:xfrm rot="0" flipH="0" flipV="0">
            <a:off x="8229600" y="3486150"/>
            <a:ext cx="47625" cy="47625"/>
          </a:xfrm>
          <a:custGeom>
            <a:pathLst>
              <a:path w="5" h="5">
                <a:moveTo>
                  <a:pt x="3" y="0"/>
                </a:moveTo>
                <a:lnTo>
                  <a:pt x="3" y="0"/>
                </a:lnTo>
                <a:cubicBezTo>
                  <a:pt x="4" y="0"/>
                  <a:pt x="5" y="1"/>
                  <a:pt x="5" y="3"/>
                </a:cubicBezTo>
                <a:lnTo>
                  <a:pt x="5" y="3"/>
                </a:lnTo>
                <a:cubicBezTo>
                  <a:pt x="5" y="4"/>
                  <a:pt x="4" y="5"/>
                  <a:pt x="3" y="5"/>
                </a:cubicBezTo>
                <a:lnTo>
                  <a:pt x="3" y="5"/>
                </a:lnTo>
                <a:cubicBezTo>
                  <a:pt x="1" y="5"/>
                  <a:pt x="0" y="4"/>
                  <a:pt x="0" y="3"/>
                </a:cubicBezTo>
                <a:lnTo>
                  <a:pt x="0" y="3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8334375" y="3438525"/>
            <a:ext cx="962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产出白皮书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专利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609600" y="4867275"/>
            <a:ext cx="11049000" cy="438150"/>
          </a:xfrm>
          <a:prstGeom prst="roundRect">
            <a:avLst>
              <a:gd name="adj" fmla="val 13043"/>
            </a:avLst>
          </a:prstGeom>
          <a:solidFill>
            <a:srgbClr val="FAF0E1"/>
          </a:solidFill>
          <a:ln/>
        </p:spPr>
        <p:txBody>
          <a:bodyPr/>
          <a:p/>
        </p:txBody>
      </p:sp>
      <p:sp>
        <p:nvSpPr>
          <p:cNvPr id="894" name=""/>
          <p:cNvSpPr/>
          <p:nvPr/>
        </p:nvSpPr>
        <p:spPr>
          <a:xfrm rot="0" flipH="0" flipV="0">
            <a:off x="609600" y="4867275"/>
            <a:ext cx="11049000" cy="438150"/>
          </a:xfrm>
          <a:custGeom>
            <a:pathLst>
              <a:path w="1160" h="46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44"/>
                </a:lnTo>
                <a:cubicBezTo>
                  <a:pt x="4" y="45"/>
                  <a:pt x="5" y="46"/>
                  <a:pt x="6" y="46"/>
                </a:cubicBezTo>
                <a:cubicBezTo>
                  <a:pt x="3" y="46"/>
                  <a:pt x="0" y="43"/>
                  <a:pt x="0" y="4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pic>
        <p:nvPicPr>
          <p:cNvPr id="8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5010150"/>
            <a:ext cx="152400" cy="152400"/>
          </a:xfrm>
          <a:prstGeom prst="rect">
            <a:avLst/>
          </a:prstGeom>
          <a:ln/>
        </p:spPr>
      </p:pic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1047750" y="4962525"/>
            <a:ext cx="244792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A3A22"/>
                </a:solidFill>
                <a:latin typeface="Microsoft YaHei"/>
                <a:ea typeface="Microsoft YaHei"/>
              </a:rPr>
              <a:t>每一段科研旅程，都值得一个懂你的搭档。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571500" y="548640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11229975" y="54864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08 / 22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571500" y="904875"/>
            <a:ext cx="3543300" cy="876300"/>
          </a:xfrm>
          <a:custGeom>
            <a:pathLst>
              <a:path w="372" h="92">
                <a:moveTo>
                  <a:pt x="358" y="0"/>
                </a:moveTo>
                <a:cubicBezTo>
                  <a:pt x="366" y="0"/>
                  <a:pt x="372" y="6"/>
                  <a:pt x="372" y="14"/>
                </a:cubicBezTo>
                <a:lnTo>
                  <a:pt x="372" y="92"/>
                </a:lnTo>
                <a:lnTo>
                  <a:pt x="0" y="92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1B7A5E">
              <a:alpha val="7843"/>
            </a:srgbClr>
          </a:solidFill>
          <a:ln/>
        </p:spPr>
        <p:txBody>
          <a:bodyPr/>
          <a:p/>
        </p:txBody>
      </p:sp>
      <p:sp>
        <p:nvSpPr>
          <p:cNvPr id="900" name=""/>
          <p:cNvSpPr/>
          <p:nvPr/>
        </p:nvSpPr>
        <p:spPr>
          <a:xfrm rot="0" flipH="0" flipV="0">
            <a:off x="571500" y="904875"/>
            <a:ext cx="3543300" cy="914400"/>
          </a:xfrm>
          <a:custGeom>
            <a:pathLst>
              <a:path w="372" h="96">
                <a:moveTo>
                  <a:pt x="0" y="92"/>
                </a:moveTo>
                <a:lnTo>
                  <a:pt x="372" y="92"/>
                </a:lnTo>
                <a:lnTo>
                  <a:pt x="372" y="96"/>
                </a:lnTo>
                <a:lnTo>
                  <a:pt x="0" y="96"/>
                </a:ln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pic>
        <p:nvPicPr>
          <p:cNvPr id="9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133600" y="1133475"/>
            <a:ext cx="419100" cy="419100"/>
          </a:xfrm>
          <a:prstGeom prst="rect">
            <a:avLst/>
          </a:prstGeom>
          <a:ln/>
        </p:spPr>
      </p:pic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04850" y="98107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1B7A5E">
                    <a:alpha val="60000"/>
                  </a:srgbClr>
                </a:solidFill>
                <a:latin typeface="Consolas"/>
                <a:ea typeface="Consolas"/>
              </a:rPr>
              <a:t xml:space="preserve">CHAPTER </a:t>
            </a:r>
            <a:r>
              <a:rPr lang="en-US" sz="900" b="1" spc="150">
                <a:solidFill>
                  <a:srgbClr val="1B7A5E">
                    <a:alpha val="60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4324350" y="904875"/>
            <a:ext cx="3543300" cy="876300"/>
          </a:xfrm>
          <a:custGeom>
            <a:pathLst>
              <a:path w="372" h="92">
                <a:moveTo>
                  <a:pt x="358" y="0"/>
                </a:moveTo>
                <a:cubicBezTo>
                  <a:pt x="366" y="0"/>
                  <a:pt x="372" y="6"/>
                  <a:pt x="372" y="14"/>
                </a:cubicBezTo>
                <a:lnTo>
                  <a:pt x="372" y="92"/>
                </a:lnTo>
                <a:lnTo>
                  <a:pt x="0" y="92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4A5568">
              <a:alpha val="7843"/>
            </a:srgbClr>
          </a:solidFill>
          <a:ln/>
        </p:spPr>
        <p:txBody>
          <a:bodyPr/>
          <a:p/>
        </p:txBody>
      </p:sp>
      <p:sp>
        <p:nvSpPr>
          <p:cNvPr id="904" name=""/>
          <p:cNvSpPr/>
          <p:nvPr/>
        </p:nvSpPr>
        <p:spPr>
          <a:xfrm rot="0" flipH="0" flipV="0">
            <a:off x="4324350" y="904875"/>
            <a:ext cx="3543300" cy="914400"/>
          </a:xfrm>
          <a:custGeom>
            <a:pathLst>
              <a:path w="372" h="96">
                <a:moveTo>
                  <a:pt x="0" y="92"/>
                </a:moveTo>
                <a:lnTo>
                  <a:pt x="372" y="92"/>
                </a:lnTo>
                <a:lnTo>
                  <a:pt x="372" y="96"/>
                </a:lnTo>
                <a:lnTo>
                  <a:pt x="0" y="96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pic>
        <p:nvPicPr>
          <p:cNvPr id="9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886450" y="1133475"/>
            <a:ext cx="419100" cy="419100"/>
          </a:xfrm>
          <a:prstGeom prst="rect">
            <a:avLst/>
          </a:prstGeom>
          <a:ln/>
        </p:spPr>
      </p:pic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4457700" y="98107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4A5568">
                    <a:alpha val="60000"/>
                  </a:srgbClr>
                </a:solidFill>
                <a:latin typeface="Consolas"/>
                <a:ea typeface="Consolas"/>
              </a:rPr>
              <a:t xml:space="preserve">CHAPTER </a:t>
            </a:r>
            <a:r>
              <a:rPr lang="en-US" sz="900" b="1" spc="150">
                <a:solidFill>
                  <a:srgbClr val="4A5568">
                    <a:alpha val="60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8077200" y="904875"/>
            <a:ext cx="3543300" cy="876300"/>
          </a:xfrm>
          <a:custGeom>
            <a:pathLst>
              <a:path w="372" h="92">
                <a:moveTo>
                  <a:pt x="358" y="0"/>
                </a:moveTo>
                <a:cubicBezTo>
                  <a:pt x="366" y="0"/>
                  <a:pt x="372" y="6"/>
                  <a:pt x="372" y="14"/>
                </a:cubicBezTo>
                <a:lnTo>
                  <a:pt x="372" y="92"/>
                </a:lnTo>
                <a:lnTo>
                  <a:pt x="0" y="92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C2762B">
              <a:alpha val="7843"/>
            </a:srgbClr>
          </a:solidFill>
          <a:ln/>
        </p:spPr>
        <p:txBody>
          <a:bodyPr/>
          <a:p/>
        </p:txBody>
      </p:sp>
      <p:sp>
        <p:nvSpPr>
          <p:cNvPr id="908" name=""/>
          <p:cNvSpPr/>
          <p:nvPr/>
        </p:nvSpPr>
        <p:spPr>
          <a:xfrm rot="0" flipH="0" flipV="0">
            <a:off x="8077200" y="904875"/>
            <a:ext cx="3543300" cy="914400"/>
          </a:xfrm>
          <a:custGeom>
            <a:pathLst>
              <a:path w="372" h="96">
                <a:moveTo>
                  <a:pt x="0" y="92"/>
                </a:moveTo>
                <a:lnTo>
                  <a:pt x="372" y="92"/>
                </a:lnTo>
                <a:lnTo>
                  <a:pt x="372" y="96"/>
                </a:lnTo>
                <a:lnTo>
                  <a:pt x="0" y="96"/>
                </a:ln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pic>
        <p:nvPicPr>
          <p:cNvPr id="9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639300" y="1133475"/>
            <a:ext cx="419100" cy="419100"/>
          </a:xfrm>
          <a:prstGeom prst="rect">
            <a:avLst/>
          </a:prstGeom>
          <a:ln/>
        </p:spPr>
      </p:pic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8210550" y="98107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2762B">
                    <a:alpha val="60000"/>
                  </a:srgbClr>
                </a:solidFill>
                <a:latin typeface="Consolas"/>
                <a:ea typeface="Consolas"/>
              </a:rPr>
              <a:t xml:space="preserve">CHAPTER </a:t>
            </a:r>
            <a:r>
              <a:rPr lang="en-US" sz="900" b="1" spc="150">
                <a:solidFill>
                  <a:srgbClr val="C2762B">
                    <a:alpha val="60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2 · 功能矩阵&lt;/Text&gt;&lt;/Box&gt;&#10;        &lt;Text style={{ fontSize: 13, color: '#8A948D' }}&gt;6 大核心工具 + 2 大特色机制 + 1 个中枢&lt;/Text&gt;&#10;      &lt;/Box&gt;&#10;      &lt;Text style={{ fontSize: 27, fontWeight: 'bold', color: '#1F2A26', fontFamily: 'Noto Serif SC, Georgia, serif', marginTop: 4 }}&gt;工具全部智能体化，一句话驱动全流程&lt;/Text&gt;&#10;    &lt;/Box&gt;&#10;  &lt;/Box&gt;&#10;  &lt;Box style={{ padding: '4px 60px 0', height: 480, gap: 14 }}&gt;&#10;    {/* 六大核心工具 */}&#10;    &lt;Box style={{ flexDirection: 'row', gap: 14 }}&gt;&#10;      {[&#10;        { t: '选题灵感', d: '多源检索 · 可行性雷达', ic: 'lightbulb' },&#10;        { t: '文献阅读', d: '三栏精读 · 3D 引用图谱', ic: 'book-open' },&#10;        { t: '实验设计', d: '消融矩阵 · GPU 监控', ic: 'flask' },&#10;        { t: '数据图表', d: '10 类学术模板 · AI 解读', ic: 'chart-line' },&#10;        { t: '论文写作', d: 'Diff 润色 · 查重降重', ic: 'pen' },&#10;        { t: '投稿助手', d: 'CCF 期刊 · 截稿倒计时', ic: 'paper-plane' },&#10;      ].map((f, i) =&gt; (&#10;        &lt;Box key={i} style={{ flex: 1, background: '#FFFFFF', borderRadius: 10, border: '1px solid #E6E2D6', padding: '12px 10px', alignItems: 'center', gap: 6 }}&gt;&#10;          &lt;Box style={{ width: 36, height: 36, borderRadius: 9, background: '#E3F1EA', justifyContent: 'center', alignItems: 'center' }}&gt;&#10;            &lt;FAIcon name={f.ic} style={{ fill: '#1B7A5E', width: 17, height: 17 }} /&gt;&#10;          &lt;/Box&gt;&#10;          &lt;Text style={{ fontSize: 13.5, fontWeight: 'bold', color: '#1F2A26', textAlign: 'center' }}&gt;{f.t}&lt;/Text&gt;&#10;          &lt;Text style={{ fontSize: 10.5, color: '#8A948D', textAlign: 'center', lineHeight: 1.4 }}&gt;{f.d}&lt;/Text&gt;&#10;        &lt;/Box&gt;&#10;      ))}&#10;    &lt;/Box&gt;&#10;    {/* 两大特色机制 */}&#10;    &lt;Box style={{ flexDirection: 'row', gap: 20 }}&gt;&#10;      &lt;Box style={{ flex: 1, background: '#E3F1EA', borderRadius: 14, padding: '16px 20px', border: '1px solid #CDE4D8', position: 'relative' }}&gt;&#10;        &lt;Box style={{ position: 'absolute', top: 12, right: 14, background: '#C2762B', borderRadius: 10, padding: '2px 8px' }}&gt;&lt;Text style={{ fontSize: 11, color: '#fff', fontWeight: 700 }}&gt;✨特色&lt;/Text&gt;&lt;/Box&gt;&#10;        &lt;Box style={{ flexDirection: 'row', alignItems: 'center', gap: 10, marginBottom: 8 }}&gt;&#10;          &lt;FAIcon name=&quot;microphone&quot; style={{ fill: '#1B7A5E', width: 24, height: 24 }} /&gt;&#10;          &lt;Text style={{ fontSize: 20, fontWeight: 'bold', color: '#1F2A26', fontFamily: 'Noto Serif SC, Georgia, serif' }}&gt;组会汇报&lt;/Text&gt;&#10;        &lt;/Box&gt;&#10;        &lt;Box style={{ gap: 6, flexDirection: 'column' }}&gt;&#10;          {['实验进展一键生成 PPTX', '导师语音建议 → 结构化待办', '组会准备耗时 ↓70%'].map((t, i) =&gt; (&#10;            &lt;Box key={i} style={{ flexDirection: 'row', gap: 8, alignItems: 'center' }}&gt;&#10;              &lt;FAIcon name=&quot;check&quot; style={{ fill: '#1B7A5E', width: 14, height: 14 }} /&gt;&#10;              &lt;Text style={{ fontSize: 14, color: '#234038' }}&gt;{t}&lt;/Text&gt;&#10;            &lt;/Box&gt;&#10;          ))}&#10;        &lt;/Box&gt;&#10;      &lt;/Box&gt;&#10;      &lt;Box style={{ flex: 1, background: '#FAF0E1', borderRadius: 14, padding: '16px 20px', border: '1px solid #EFDDC0', position: 'relative' }}&gt;&#10;        &lt;Box style={{ position: 'absolute', top: 12, right: 14, background: '#C2762B', borderRadius: 10, padding: '2px 8px' }}&gt;&lt;Text style={{ fontSize: 11, color: '#fff', fontWeight: 700 }}&gt;✨特色&lt;/Text&gt;&lt;/Box&gt;&#10;        &lt;Box style={{ flexDirection: 'row', alignItems: 'center', gap: 10, marginBottom: 8 }}&gt;&#10;          &lt;FAIcon name=&quot;gavel&quot; style={{ fill: '#C2762B', width: 24, height: 24 }} /&gt;&#10;          &lt;Text style={{ fontSize: 20, fontWeight: 'bold', color: '#1F2A26', fontFamily: 'Noto Serif SC, Georgia, serif' }}&gt;多智能体专家评审团&lt;span style={{ fontSize: 13, color: '#C2762B' }}&gt;（首创）&lt;/span&gt;&lt;/Text&gt;&#10;        &lt;/Box&gt;&#10;        &lt;Box style={{ gap: 6, flexDirection: 'column' }}&gt;&#10;          {['理论/方法/实验/写作/伦理 五大审稿 Agent 并行盲审', '主审 Agent 汇总分歧与裁决', '投稿前先「过一遍审」'].map((t, i) =&gt; (&#10;            &lt;Box key={i} style={{ flexDirection: 'row', gap: 8, alignItems: 'center' }}&gt;&#10;              &lt;FAIcon name=&quot;check&quot; style={{ fill: '#C2762B', width: 14, height: 14 }} /&gt;&#10;              &lt;Text style={{ fontSize: 14, color: '#4A3A22' }}&gt;{t}&lt;/Text&gt;&#10;            &lt;/Box&gt;&#10;          ))}&#10;        &lt;/Box&gt;&#10;      &lt;/Box&gt;&#10;    &lt;/Box&gt;&#10;    {/* 中枢条 */}&#10;    &lt;Box style={{ background: '#0E4A37', borderRadius: 12, padding: '14px 20px', flexDirection: 'row', alignItems: 'center', gap: 14 }}&gt;&#10;      &lt;Box style={{ width: 40, height: 40, borderRadius: 10, background: 'rgba(255,255,255,0.14)', justifyContent: 'center', alignItems: 'center' }}&gt;&#10;        &lt;FAIcon name=&quot;comments&quot; style={{ fill: '#FFFFFF', width: 19, height: 19 }} /&gt;&#10;      &lt;/Box&gt;&#10;      &lt;Box&gt;&#10;        &lt;Text style={{ fontSize: 15.5, fontWeight: 'bold', color: '#FFFFFF', fontFamily: 'Noto Serif SC, Georgia, serif' }}&gt;AI 对话工作台（中枢）—— 8 类智能体模式切换 / ReAct 推演 / 规划流 / 记忆抽屉&lt;/Text&gt;&#10;        &lt;Text style={{ fontSize: 12.5, color: 'rgba(255,255,255,0.72)', marginTop: 3 }}&gt;所有工具均可在对话中被智能体调用，一句话驱动全流程&lt;/Text&gt;&#10;      &lt;/Box&gt;&#10;    &lt;/Box&gt;&#10;  &lt;/Box&gt;&#10;  &lt;Box style={{ flexDirection: 'row', justifyContent: 'space-between', alignItems: 'center', padding: '0 60px', height: 40, marginTop: 4 }}&gt;&#10;    &lt;Text style={{ fontSize: 12, color: '#8A948D' }}&gt;ScienceX · AI 科研工作台&lt;/Text&gt;&#10;    &lt;Text style={{ fontSize: 12, color: '#8A948D' }}&gt;09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742950" y="17145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02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功能矩阵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085975" y="200025"/>
            <a:ext cx="2276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6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大核心工具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大特色机制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+ 1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个中枢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43719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工具全部智能体化，一句话驱动全流程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71500" y="819150"/>
            <a:ext cx="173355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1266825" y="9334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362075" y="1028700"/>
            <a:ext cx="161925" cy="161925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81100" y="1333500"/>
            <a:ext cx="5143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选题灵感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42975" y="1552575"/>
            <a:ext cx="990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多源检索</a:t>
            </a: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可行性雷达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2438400" y="819150"/>
            <a:ext cx="1724025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3133725" y="9334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228975" y="1028700"/>
            <a:ext cx="161925" cy="161925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048000" y="1333500"/>
            <a:ext cx="5143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文献阅读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771775" y="1552575"/>
            <a:ext cx="10572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三栏精读</a:t>
            </a: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3D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引用图谱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295775" y="819150"/>
            <a:ext cx="173355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4991100" y="9334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086350" y="1028700"/>
            <a:ext cx="161925" cy="161925"/>
          </a:xfrm>
          <a:prstGeom prst="rect">
            <a:avLst/>
          </a:prstGeom>
          <a:ln/>
        </p:spPr>
      </p:pic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905375" y="1333500"/>
            <a:ext cx="5143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实验设计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705350" y="1552575"/>
            <a:ext cx="9239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消融矩阵</a:t>
            </a: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GPU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监控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162675" y="819150"/>
            <a:ext cx="173355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858000" y="9334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953250" y="1028700"/>
            <a:ext cx="161925" cy="161925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772275" y="1333500"/>
            <a:ext cx="5143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数据图表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496050" y="1552575"/>
            <a:ext cx="10668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类学术模板</a:t>
            </a: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解读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029575" y="819150"/>
            <a:ext cx="1724025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8724900" y="9334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820150" y="1028700"/>
            <a:ext cx="161925" cy="161925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639175" y="1333500"/>
            <a:ext cx="5143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论文写作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448675" y="1552575"/>
            <a:ext cx="8858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Diff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润色</a:t>
            </a: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查重降重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9886950" y="819150"/>
            <a:ext cx="173355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10582275" y="933450"/>
            <a:ext cx="342900" cy="342900"/>
          </a:xfrm>
          <a:prstGeom prst="roundRect">
            <a:avLst>
              <a:gd name="adj" fmla="val 25000"/>
            </a:avLst>
          </a:prstGeom>
          <a:solidFill>
            <a:srgbClr val="E3F1EA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0677525" y="1028700"/>
            <a:ext cx="161925" cy="161925"/>
          </a:xfrm>
          <a:prstGeom prst="rect">
            <a:avLst/>
          </a:prstGeom>
          <a:ln/>
        </p:spPr>
      </p:pic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0496550" y="1333500"/>
            <a:ext cx="5143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投稿助手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0258425" y="1552575"/>
            <a:ext cx="10001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CCF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期刊</a:t>
            </a:r>
            <a:r>
              <a:rPr lang="en-US" sz="788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截稿倒计时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71500" y="3314700"/>
            <a:ext cx="11049000" cy="647700"/>
          </a:xfrm>
          <a:prstGeom prst="roundRect">
            <a:avLst>
              <a:gd name="adj" fmla="val 17647"/>
            </a:avLst>
          </a:prstGeom>
          <a:solidFill>
            <a:srgbClr val="0E4A37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762000" y="3448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66775" y="3552825"/>
            <a:ext cx="180975" cy="180975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276350" y="3467100"/>
            <a:ext cx="54292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Noto Serif SC"/>
                <a:ea typeface="Noto Serif SC"/>
              </a:rPr>
              <a:t xml:space="preserve">AI </a:t>
            </a:r>
            <a:r>
              <a:rPr lang="zh-CN" sz="1163" b="1">
                <a:solidFill>
                  <a:srgbClr val="FFFFFF"/>
                </a:solidFill>
                <a:latin typeface="Noto Serif SC"/>
                <a:ea typeface="Noto Serif SC"/>
              </a:rPr>
              <a:t>对话工作台（中枢）——</a:t>
            </a:r>
            <a:r>
              <a:rPr lang="en-US" sz="1163" b="1">
                <a:solidFill>
                  <a:srgbClr val="FFFFFF"/>
                </a:solidFill>
                <a:latin typeface="Noto Serif SC"/>
                <a:ea typeface="Noto Serif SC"/>
              </a:rPr>
              <a:t xml:space="preserve"> 8 </a:t>
            </a:r>
            <a:r>
              <a:rPr lang="zh-CN" sz="1163" b="1">
                <a:solidFill>
                  <a:srgbClr val="FFFFFF"/>
                </a:solidFill>
                <a:latin typeface="Noto Serif SC"/>
                <a:ea typeface="Noto Serif SC"/>
              </a:rPr>
              <a:t>类智能体模式切换</a:t>
            </a:r>
            <a:r>
              <a:rPr lang="en-US" sz="1163" b="1">
                <a:solidFill>
                  <a:srgbClr val="FFFFFF"/>
                </a:solidFill>
                <a:latin typeface="Noto Serif SC"/>
                <a:ea typeface="Noto Serif SC"/>
              </a:rPr>
              <a:t xml:space="preserve"> / ReAct </a:t>
            </a:r>
            <a:r>
              <a:rPr lang="zh-CN" sz="1163" b="1">
                <a:solidFill>
                  <a:srgbClr val="FFFFFF"/>
                </a:solidFill>
                <a:latin typeface="Noto Serif SC"/>
                <a:ea typeface="Noto Serif SC"/>
              </a:rPr>
              <a:t>推演</a:t>
            </a:r>
            <a:r>
              <a:rPr lang="en-US" sz="1163" b="1">
                <a:solidFill>
                  <a:srgbClr val="FFFFFF"/>
                </a:solidFill>
                <a:latin typeface="Noto Serif SC"/>
                <a:ea typeface="Noto Serif SC"/>
              </a:rPr>
              <a:t xml:space="preserve"> / </a:t>
            </a:r>
            <a:r>
              <a:rPr lang="zh-CN" sz="1163" b="1">
                <a:solidFill>
                  <a:srgbClr val="FFFFFF"/>
                </a:solidFill>
                <a:latin typeface="Noto Serif SC"/>
                <a:ea typeface="Noto Serif SC"/>
              </a:rPr>
              <a:t>规划流</a:t>
            </a:r>
            <a:r>
              <a:rPr lang="en-US" sz="1163" b="1">
                <a:solidFill>
                  <a:srgbClr val="FFFFFF"/>
                </a:solidFill>
                <a:latin typeface="Noto Serif SC"/>
                <a:ea typeface="Noto Serif SC"/>
              </a:rPr>
              <a:t xml:space="preserve"> / </a:t>
            </a:r>
            <a:r>
              <a:rPr lang="zh-CN" sz="1163" b="1">
                <a:solidFill>
                  <a:srgbClr val="FFFFFF"/>
                </a:solidFill>
                <a:latin typeface="Noto Serif SC"/>
                <a:ea typeface="Noto Serif SC"/>
              </a:rPr>
              <a:t>记忆抽屉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276350" y="3676650"/>
            <a:ext cx="542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所有工具均可在对话中被智能体调用，一句话驱动全流程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71500" y="5514975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229975" y="55149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09 / 22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71500" y="1971675"/>
            <a:ext cx="5429250" cy="1209675"/>
          </a:xfrm>
          <a:prstGeom prst="roundRect">
            <a:avLst>
              <a:gd name="adj" fmla="val 11024"/>
            </a:avLst>
          </a:prstGeom>
          <a:solidFill>
            <a:srgbClr val="E3F1EA"/>
          </a:solidFill>
          <a:ln w="12700">
            <a:solidFill>
              <a:srgbClr val="CDE4D8"/>
            </a:solidFill>
            <a:prstDash val="solid"/>
          </a:ln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762000" y="2124075"/>
            <a:ext cx="228600" cy="22860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085850" y="21240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A26"/>
                </a:solidFill>
                <a:latin typeface="Noto Serif SC"/>
                <a:ea typeface="Noto Serif SC"/>
              </a:rPr>
              <a:t>组会汇报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762000" y="2447925"/>
            <a:ext cx="133350" cy="13335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71550" y="2428875"/>
            <a:ext cx="1438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34038"/>
                </a:solidFill>
                <a:latin typeface="Microsoft YaHei"/>
                <a:ea typeface="Microsoft YaHei"/>
              </a:rPr>
              <a:t>实验进展一键生成</a:t>
            </a:r>
            <a:r>
              <a:rPr lang="en-US" sz="1050">
                <a:solidFill>
                  <a:srgbClr val="234038"/>
                </a:solidFill>
                <a:latin typeface="Microsoft YaHei"/>
                <a:ea typeface="Microsoft YaHei"/>
              </a:rPr>
              <a:t xml:space="preserve"> PPTX</a:t>
            </a:r>
            <a:endParaRPr/>
          </a:p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762000" y="2667000"/>
            <a:ext cx="133350" cy="133350"/>
          </a:xfrm>
          <a:prstGeom prst="rect">
            <a:avLst/>
          </a:prstGeom>
          <a:ln/>
        </p:spPr>
      </p:pic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971550" y="2647950"/>
            <a:ext cx="1685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34038"/>
                </a:solidFill>
                <a:latin typeface="Microsoft YaHei"/>
                <a:ea typeface="Microsoft YaHei"/>
              </a:rPr>
              <a:t>导师语音建议</a:t>
            </a:r>
            <a:r>
              <a:rPr lang="en-US" sz="1050">
                <a:solidFill>
                  <a:srgbClr val="23403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234038"/>
                </a:solidFill>
                <a:latin typeface="Microsoft YaHei"/>
                <a:ea typeface="Microsoft YaHei"/>
              </a:rPr>
              <a:t>结构化待办</a:t>
            </a:r>
            <a:endParaRPr/>
          </a:p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762000" y="2886075"/>
            <a:ext cx="133350" cy="13335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71550" y="286702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34038"/>
                </a:solidFill>
                <a:latin typeface="Microsoft YaHei"/>
                <a:ea typeface="Microsoft YaHei"/>
              </a:rPr>
              <a:t>组会准备耗时</a:t>
            </a:r>
            <a:r>
              <a:rPr lang="en-US" sz="1050">
                <a:solidFill>
                  <a:srgbClr val="234038"/>
                </a:solidFill>
                <a:latin typeface="Microsoft YaHei"/>
                <a:ea typeface="Microsoft YaHei"/>
              </a:rPr>
              <a:t xml:space="preserve"> ↓70%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353050" y="2085975"/>
            <a:ext cx="514350" cy="171450"/>
          </a:xfrm>
          <a:prstGeom prst="roundRect">
            <a:avLst>
              <a:gd name="adj" fmla="val 55556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429250" y="2105025"/>
            <a:ext cx="361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✨特色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191250" y="1971675"/>
            <a:ext cx="5429250" cy="1209675"/>
          </a:xfrm>
          <a:prstGeom prst="roundRect">
            <a:avLst>
              <a:gd name="adj" fmla="val 11024"/>
            </a:avLst>
          </a:prstGeom>
          <a:solidFill>
            <a:srgbClr val="FAF0E1"/>
          </a:solidFill>
          <a:ln w="12700">
            <a:solidFill>
              <a:srgbClr val="EFDDC0"/>
            </a:solidFill>
            <a:prstDash val="solid"/>
          </a:ln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6381750" y="2124075"/>
            <a:ext cx="228600" cy="228600"/>
          </a:xfrm>
          <a:prstGeom prst="rect">
            <a:avLst/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705600" y="2124075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A26"/>
                </a:solidFill>
                <a:latin typeface="Noto Serif SC"/>
                <a:ea typeface="Noto Serif SC"/>
              </a:rPr>
              <a:t>多智能体专家评审团</a:t>
            </a:r>
            <a:r>
              <a:rPr lang="zh-CN" sz="975" b="1">
                <a:solidFill>
                  <a:srgbClr val="C2762B"/>
                </a:solidFill>
                <a:latin typeface="Noto Serif SC"/>
                <a:ea typeface="Noto Serif SC"/>
              </a:rPr>
              <a:t>（首创）</a:t>
            </a:r>
            <a:endParaRPr/>
          </a:p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 rot="0" flipH="0" flipV="0">
            <a:off x="6381750" y="2447925"/>
            <a:ext cx="133350" cy="13335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591300" y="24288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理论</a:t>
            </a:r>
            <a:r>
              <a:rPr lang="en-US" sz="1050">
                <a:solidFill>
                  <a:srgbClr val="4A3A22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方法</a:t>
            </a:r>
            <a:r>
              <a:rPr lang="en-US" sz="1050">
                <a:solidFill>
                  <a:srgbClr val="4A3A22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实验</a:t>
            </a:r>
            <a:r>
              <a:rPr lang="en-US" sz="1050">
                <a:solidFill>
                  <a:srgbClr val="4A3A22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写作</a:t>
            </a:r>
            <a:r>
              <a:rPr lang="en-US" sz="1050">
                <a:solidFill>
                  <a:srgbClr val="4A3A22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伦理</a:t>
            </a:r>
            <a:r>
              <a:rPr lang="en-US" sz="1050">
                <a:solidFill>
                  <a:srgbClr val="4A3A22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五大审稿</a:t>
            </a:r>
            <a:r>
              <a:rPr lang="en-US" sz="1050">
                <a:solidFill>
                  <a:srgbClr val="4A3A22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并行盲审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 rot="0" flipH="0" flipV="0">
            <a:off x="6381750" y="2667000"/>
            <a:ext cx="133350" cy="133350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591300" y="2647950"/>
            <a:ext cx="1666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主审</a:t>
            </a:r>
            <a:r>
              <a:rPr lang="en-US" sz="1050">
                <a:solidFill>
                  <a:srgbClr val="4A3A22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汇总分歧与裁决</a:t>
            </a:r>
            <a:endParaRPr/>
          </a:p>
        </p:txBody>
      </p:sp>
      <p:pic>
        <p:nvPicPr>
          <p:cNvPr id="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 rot="0" flipH="0" flipV="0">
            <a:off x="6381750" y="2886075"/>
            <a:ext cx="133350" cy="133350"/>
          </a:xfrm>
          <a:prstGeom prst="rect">
            <a:avLst/>
          </a:prstGeom>
          <a:ln/>
        </p:spPr>
      </p:pic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591300" y="28670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3A22"/>
                </a:solidFill>
                <a:latin typeface="Microsoft YaHei"/>
                <a:ea typeface="Microsoft YaHei"/>
              </a:rPr>
              <a:t>投稿前先「过一遍审」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10972800" y="2085975"/>
            <a:ext cx="514350" cy="171450"/>
          </a:xfrm>
          <a:prstGeom prst="roundRect">
            <a:avLst>
              <a:gd name="adj" fmla="val 55556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049000" y="2105025"/>
            <a:ext cx="361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✨特色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86" name="" descr="&lt;Slide style={{ padding: 0, background: '#F6F4EE' }}&gt;&#10;  &lt;Box style={{ flexDirection: 'row', alignItems: 'center', padding: '20px 60px 8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2 · 竞品调研&lt;/Text&gt;&lt;/Box&gt;&#10;        &lt;Text style={{ fontSize: 13, color: '#8A948D' }}&gt;创新差异化 · 三维对比&lt;/Text&gt;&#10;      &lt;/Box&gt;&#10;      &lt;Text style={{ fontSize: 28, fontWeight: 'bold', color: '#1F2A26', fontFamily: 'Noto Serif SC, Georgia, serif', marginTop: 6 }}&gt;通用大模型有「脑」无「手」，垂直工具有「手」无「脑」&lt;/Text&gt;&#10;    &lt;/Box&gt;&#10;  &lt;/Box&gt;&#10;  &lt;Box style={{ padding: '4px 60px 0', height: 476 }}&gt;&#10;    &lt;Table&#10;      style={{ width: '100%', height: 396 }}&#10;      defaultTextStyle={{ fontSize: 13, textAlign: 'left', color: '#1F2A26' }}&#10;      defaultCellStyle={{ border: { left: { width: 1, color: '#E6E2D6' }, right: { width: 1, color: '#E6E2D6' }, top: { width: 1, color: '#E6E2D6' }, bottom: { width: 1, color: '#E6E2D6' } } }}&#10;      cells={[&#10;        [&#10;          { text: '你的科研需求', textStyle: { bold: true, color: '#FFFFFF', fontSize: 13.5 }, cellStyle: { background: { color: '#0E4A37' } } },&#10;          { text: '✨ ScienceX', textStyle: { bold: true, color: '#FFFFFF', fontSize: 13.5 }, cellStyle: { background: { color: '#1B7A5E' } } },&#10;          { text: '通用大模型 (GPT/Kimi)', textStyle: { bold: true, color: '#FFFFFF', fontSize: 13 }, cellStyle: { background: { color: '#4A5568' } } },&#10;          { text: '文献工具 (SciSpace/Elicit)', textStyle: { bold: true, color: '#FFFFFF', fontSize: 13 }, cellStyle: { background: { color: '#4A5568' } } },&#10;          { text: '管理排版 (Zotero/Overleaf)', textStyle: { bold: true, color: '#FFFFFF', fontSize: 13 }, cellStyle: { background: { color: '#4A5568' } } },&#10;        ],&#10;        [&#10;          { text: '科研全流程', cellStyle: { background: { color: '#F0EFE8' } } },&#10;          { text: '✅ 统一工作台连接全环节', textStyle: { bold: true, color: '#0E4A37' }, cellStyle: { background: { color: '#F0F7F3' } } },&#10;          '通过对话分步完成', '围绕文献任务展开', '聚焦管理与排版',&#10;        ],&#10;        [&#10;          { text: '文献精读' },&#10;          { text: '✅ 三栏精读 + 引用拓扑图谱', textStyle: { bold: true, color: '#0E4A37' }, cellStyle: { background: { color: '#F0F7F3' } } },&#10;          '附件问答与总结', '专业检索与问答', '整理与引用管理',&#10;        ],&#10;        [&#10;          { text: '消融实验设计', cellStyle: { background: { color: '#F0EFE8' } } },&#10;          { text: '✅ 自动推导控制变量与实验矩阵', textStyle: { bold: true, color: '#0E4A37' }, cellStyle: { background: { color: '#F0F7F3' } } },&#10;          '对话式建议', '侧重文献发现', '需另配工具',&#10;        ],&#10;        [&#10;          { text: '多角色专家评审' },&#10;          { text: '✅ 多角色独立评审 + 意见汇总', textStyle: { bold: true, color: '#0E4A37' }, cellStyle: { background: { color: '#F0F7F3' } } },&#10;          '按提示模拟评审', '侧重文献分析', '需另配工具',&#10;        ],&#10;        [&#10;          { text: 'GPU 集群管理', cellStyle: { background: { color: '#F0EFE8' } } },&#10;          { text: '✅ 节点监控与任务调度', textStyle: { bold: true, color: '#0E4A37' }, cellStyle: { background: { color: '#F0F7F3' } } },&#10;          '需外部集成', '需外部集成', '需外部集成',&#10;        ],&#10;        [&#10;          { text: '团队知识沉淀' },&#10;          { text: '✅ 个人/课题组 RAG 知识库', textStyle: { bold: true, color: '#0E4A37' }, cellStyle: { background: { color: '#F0F7F3' } } },&#10;          '依平台能力而定', '个人或团队文献库', '共享文献与文件',&#10;        ],&#10;        [&#10;          { text: '自定义模型', cellStyle: { background: { color: '#F0EFE8' } } },&#10;          { text: '✅ 接入任意 OpenAI 兼容模型', textStyle: { bold: true, color: '#0E4A37' }, cellStyle: { background: { color: '#F0F7F3' } } },&#10;          '依平台开放能力', '依平台开放能力', '插件/外部扩展',&#10;        ],&#10;      ]}&#10;    /&gt;&#10;    &lt;Box style={{ flexDirection: 'row', alignItems: 'center', marginTop: 12, padding: '12px 18px', background: '#0E4A37', borderRadius: 8, gap: 12 }}&gt;&#10;      &lt;FAIcon name=&quot;balance-scale&quot; style={{ fill: '#C2762B', width: 18, height: 18 }} /&gt;&#10;      &lt;Text style={{ fontSize: 14.5, color: '#FFFFFF', lineHeight: 1.55 }}&gt;&lt;span style={{ fontWeight: 'bold', color: '#F0C419' }}&gt;结论：&lt;/span&gt;ScienceX 以专业 Agent 对话为中枢，把科研专用工具全部智能体化、流程化。&lt;/Text&gt;&#10;    &lt;/Box&gt;&#10;  &lt;/Box&gt;&#10;  &lt;Box style={{ flexDirection: 'row', justifyContent: 'space-between', alignItems: 'center', padding: '0 60px', height: 40, marginTop: 6 }}&gt;&#10;    &lt;Text style={{ fontSize: 12, color: '#8A948D' }}&gt;ScienceX · AI 科研工作台&lt;/Text&gt;&#10;    &lt;Text style={{ fontSize: 12, color: '#8A948D' }}&gt;10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571500" y="2952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742950" y="19050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8200" y="2190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02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竞品调研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2085975" y="21907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创新差异化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三维对比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42950" y="447675"/>
            <a:ext cx="6934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F2A26"/>
                </a:solidFill>
                <a:latin typeface="Noto Serif SC"/>
                <a:ea typeface="Noto Serif SC"/>
              </a:rPr>
              <a:t>通用大模型有「脑」无「手」，垂直工具有「手」无「脑」</a:t>
            </a:r>
            <a:endParaRPr/>
          </a:p>
        </p:txBody>
      </p:sp>
      <p:graphicFrame>
        <p:nvGraphicFramePr>
          <p:cNvPr id="93" name=""/>
          <p:cNvGraphicFramePr/>
          <p:nvPr/>
        </p:nvGraphicFramePr>
        <p:xfrm rot="0" flipH="0" flipV="0">
          <a:off x="571500" y="885825"/>
          <a:ext cx="11049000" cy="3771900"/>
        </p:xfrm>
        <a:graphic>
          <a:graphicData uri="http://schemas.openxmlformats.org/drawingml/2006/table">
            <a:tbl>
              <a:tblGrid>
                <a:gridCol w="1382499">
                  <a:extLst>
                    <a:ext uri="{9D8B030D-6E8A-4147-A177-3AD203B41FA5}">
                      <a16:colId val="1"/>
                    </a:ext>
                  </a:extLst>
                </a:gridCol>
                <a:gridCol w="2756753">
                  <a:extLst>
                    <a:ext uri="{9D8B030D-6E8A-4147-A177-3AD203B41FA5}">
                      <a16:colId val="2"/>
                    </a:ext>
                  </a:extLst>
                </a:gridCol>
                <a:gridCol w="2083369">
                  <a:extLst>
                    <a:ext uri="{9D8B030D-6E8A-4147-A177-3AD203B41FA5}">
                      <a16:colId val="3"/>
                    </a:ext>
                  </a:extLst>
                </a:gridCol>
                <a:gridCol w="2330734">
                  <a:extLst>
                    <a:ext uri="{9D8B030D-6E8A-4147-A177-3AD203B41FA5}">
                      <a16:colId val="4"/>
                    </a:ext>
                  </a:extLst>
                </a:gridCol>
                <a:gridCol w="2495645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485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你的科研需求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4A37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✨ ScienceX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7A5E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通用大模型 (GPT/Kimi)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文献工具 (SciSpace/Elicit)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管理排版 (Zotero/Overleaf)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556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94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科研全流程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4A37"/>
                          </a:solidFill>
                          <a:latin typeface="Microsoft YaHei"/>
                          <a:ea typeface="Microsoft YaHei"/>
                        </a:rPr>
                        <a:t>✅ 统一工作台连接全环节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通过对话分步完成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围绕文献任务展开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聚焦管理与排版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94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文献精读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4A37"/>
                          </a:solidFill>
                          <a:latin typeface="Microsoft YaHei"/>
                          <a:ea typeface="Microsoft YaHei"/>
                        </a:rPr>
                        <a:t>✅ 三栏精读 + 引用拓扑图谱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附件问答与总结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专业检索与问答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整理与引用管理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94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消融实验设计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4A37"/>
                          </a:solidFill>
                          <a:latin typeface="Microsoft YaHei"/>
                          <a:ea typeface="Microsoft YaHei"/>
                        </a:rPr>
                        <a:t>✅ 自动推导控制变量与实验矩阵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对话式建议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侧重文献发现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需另配工具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694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多角色专家评审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4A37"/>
                          </a:solidFill>
                          <a:latin typeface="Microsoft YaHei"/>
                          <a:ea typeface="Microsoft YaHei"/>
                        </a:rPr>
                        <a:t>✅ 多角色独立评审 + 意见汇总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按提示模拟评审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侧重文献分析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需另配工具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694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GPU 集群管理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4A37"/>
                          </a:solidFill>
                          <a:latin typeface="Microsoft YaHei"/>
                          <a:ea typeface="Microsoft YaHei"/>
                        </a:rPr>
                        <a:t>✅ 节点监控与任务调度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需外部集成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需外部集成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需外部集成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694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团队知识沉淀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4A37"/>
                          </a:solidFill>
                          <a:latin typeface="Microsoft YaHei"/>
                          <a:ea typeface="Microsoft YaHei"/>
                        </a:rPr>
                        <a:t>✅ 个人/课题组 RAG 知识库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依平台能力而定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个人或团队文献库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共享文献与文件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6943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自定义模型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EFE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0E4A37"/>
                          </a:solidFill>
                          <a:latin typeface="Microsoft YaHei"/>
                          <a:ea typeface="Microsoft YaHei"/>
                        </a:rPr>
                        <a:t>✅ 接入任意 OpenAI 兼容模型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7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依平台开放能力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依平台开放能力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1F2A26"/>
                          </a:solidFill>
                          <a:latin typeface="Microsoft YaHei"/>
                          <a:ea typeface="Microsoft YaHei"/>
                        </a:rPr>
                        <a:t>插件/外部扩展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94" name=""/>
          <p:cNvSpPr/>
          <p:nvPr/>
        </p:nvSpPr>
        <p:spPr>
          <a:xfrm rot="0" flipH="0" flipV="0">
            <a:off x="571500" y="4772025"/>
            <a:ext cx="11049000" cy="485775"/>
          </a:xfrm>
          <a:prstGeom prst="roundRect">
            <a:avLst>
              <a:gd name="adj" fmla="val 15686"/>
            </a:avLst>
          </a:prstGeom>
          <a:solidFill>
            <a:srgbClr val="0E4A37"/>
          </a:solidFill>
          <a:ln/>
        </p:spPr>
        <p:txBody>
          <a:bodyPr/>
          <a:p/>
        </p:txBody>
      </p:sp>
      <p:pic>
        <p:nvPicPr>
          <p:cNvPr id="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4933950"/>
            <a:ext cx="171450" cy="171450"/>
          </a:xfrm>
          <a:prstGeom prst="rect">
            <a:avLst/>
          </a:prstGeom>
          <a:ln/>
        </p:spPr>
      </p:pic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28700" y="4886325"/>
            <a:ext cx="5257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88" b="1">
                <a:solidFill>
                  <a:srgbClr val="F0C419"/>
                </a:solidFill>
                <a:latin typeface="Microsoft YaHei"/>
                <a:ea typeface="Microsoft YaHei"/>
              </a:rPr>
              <a:t>结论：</a:t>
            </a:r>
            <a:r>
              <a:rPr lang="en-US" sz="1088">
                <a:solidFill>
                  <a:srgbClr val="FFFFFF"/>
                </a:solidFill>
                <a:latin typeface="Microsoft YaHei"/>
                <a:ea typeface="Microsoft YaHei"/>
              </a:rPr>
              <a:t xml:space="preserve">ScienceX 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以专业</a:t>
            </a:r>
            <a:r>
              <a:rPr lang="en-US" sz="1088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88">
                <a:solidFill>
                  <a:srgbClr val="FFFFFF"/>
                </a:solidFill>
                <a:latin typeface="Microsoft YaHei"/>
                <a:ea typeface="Microsoft YaHei"/>
              </a:rPr>
              <a:t>对话为中枢，把科研专用工具全部智能体化、流程化。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71500" y="556260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229975" y="556260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10 / 22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C2762B', borderRadius: 4, padding: '3px 10px' }}&gt;&lt;Text style={{ fontSize: 12, color: '#FFFFFF', fontWeight: 600 }}&gt;PART 02 · 评分亮点&lt;/Text&gt;&lt;/Box&gt;&#10;        &lt;Text style={{ fontSize: 13, color: '#8A948D' }}&gt;关键指标 + 内部质量评审 + 学者口碑&lt;/Text&gt;&#10;      &lt;/Box&gt;&#10;      &lt;Text style={{ fontSize: 27, fontWeight: 'bold', color: '#1F2A26', fontFamily: 'Noto Serif SC, Georgia, serif', marginTop: 4 }}&gt;可验证的质量与口碑&lt;/Text&gt;&#10;    &lt;/Box&gt;&#10;  &lt;/Box&gt;&#10;  &lt;Box style={{ flexDirection: 'row', padding: '4px 60px 0', height: 478, gap: 26 }}&gt;&#10;    {/* 左半区：关键指标 2×4 */}&#10;    &lt;Box style={{ flex: 1.15, flexDirection: 'column', gap: 12 }}&gt;&#10;      &lt;Box style={{ flex: 1, flexDirection: 'row', gap: 12 }}&gt;&#10;        {[{ n: '13', u: '功能模块', s: '全流程覆盖' }, { n: '40+', u: 'REST/SSE', s: '接口契约' }].map((k, i) =&gt; (&#10;          &lt;Box key={i} style={{ flex: 1, background: '#FFFFFF', borderRadius: 12, border: '1px solid #E6E2D6', boxShadow: '0 2px 10px rgba(0,0,0,0.05)', justifyContent: 'center', alignItems: 'center', gap: 2 }}&gt;&#10;            &lt;Text style={{ fontSize: 58, fontWeight: 'bold', color: '#C2762B', fontFamily: 'Noto Serif SC, Georgia, serif', lineHeight: 1 }}&gt;{k.n}&lt;/Text&gt;&#10;            &lt;Text style={{ fontSize: 15, fontWeight: 'bold', color: '#1F2A26' }}&gt;{k.u}&lt;/Text&gt;&#10;            &lt;Text style={{ fontSize: 11.5, color: '#8A948D' }}&gt;{k.s}&lt;/Text&gt;&#10;          &lt;/Box&gt;&#10;        ))}&#10;      &lt;/Box&gt;&#10;      &lt;Box style={{ flex: 1, flexDirection: 'row', gap: 12 }}&gt;&#10;        {[{ n: '8', u: '类 Agent', s: '编排模式' }, { n: '10', u: '类学术图表', s: '模板库' }].map((k, i) =&gt; (&#10;          &lt;Box key={i} style={{ flex: 1, background: '#FFFFFF', borderRadius: 12, border: '1px solid #E6E2D6', boxShadow: '0 2px 10px rgba(0,0,0,0.05)', justifyContent: 'center', alignItems: 'center', gap: 2 }}&gt;&#10;            &lt;Text style={{ fontSize: 58, fontWeight: 'bold', color: '#C2762B', fontFamily: 'Noto Serif SC, Georgia, serif', lineHeight: 1 }}&gt;{k.n}&lt;/Text&gt;&#10;            &lt;Text style={{ fontSize: 15, fontWeight: 'bold', color: '#1F2A26' }}&gt;{k.u}&lt;/Text&gt;&#10;            &lt;Text style={{ fontSize: 11.5, color: '#8A948D' }}&gt;{k.s}&lt;/Text&gt;&#10;          &lt;/Box&gt;&#10;        ))}&#10;      &lt;/Box&gt;&#10;      &lt;Box style={{ flex: 1, flexDirection: 'row', gap: 12 }}&gt;&#10;        {[{ n: '5★', u: '用户口碑均分', s: '8 位学者实测' }, { n: '↓60%', u: '选题调研耗时', s: '缩短' }].map((k, i) =&gt; (&#10;          &lt;Box key={i} style={{ flex: 1, background: '#FFFFFF', borderRadius: 12, border: '1px solid #E6E2D6', boxShadow: '0 2px 10px rgba(0,0,0,0.05)', justifyContent: 'center', alignItems: 'center', gap: 2 }}&gt;&#10;            &lt;Text style={{ fontSize: 50, fontWeight: 'bold', color: '#1B7A5E', fontFamily: 'Noto Serif SC, Georgia, serif', lineHeight: 1 }}&gt;{k.n}&lt;/Text&gt;&#10;            &lt;Text style={{ fontSize: 14.5, fontWeight: 'bold', color: '#1F2A26' }}&gt;{k.u}&lt;/Text&gt;&#10;            &lt;Text style={{ fontSize: 11.5, color: '#8A948D' }}&gt;{k.s}&lt;/Text&gt;&#10;          &lt;/Box&gt;&#10;        ))}&#10;      &lt;/Box&gt;&#10;    &lt;/Box&gt;&#10;    {/* 右半区：质量评审 + 口碑 */}&#10;    &lt;Box style={{ flex: 1, flexDirection: 'column', gap: 12 }}&gt;&#10;      &lt;Box style={{ background: '#FFFFFF', borderRadius: 12, border: '1px solid #E6E2D6', padding: '16px 18px', boxShadow: '0 2px 10px rgba(0,0,0,0.05)' }}&gt;&#10;        &lt;Text style={{ fontSize: 14.5, fontWeight: 'bold', color: '#1F2A26', fontFamily: 'Noto Serif SC, Georgia, serif', marginBottom: 4 }}&gt;综合质量评审 &lt;span style={{ fontSize: 11.5, color: '#8A948D', fontWeight: 'normal' }}&gt;（全量源码通读分析报告 fx.md · 10 分制）&lt;/span&gt;&lt;/Text&gt;&#10;        {[{ t: '产品设计与功能覆盖', v: 9.0, p: 90 }, { t: '后端接口契约规范', v: 8.0, p: 80 }, { t: '前端实现质量', v: 7.0, p: 70 }].map((r, i) =&gt; (&#10;          &lt;Box key={i} style={{ marginTop: 10 }}&gt;&#10;            &lt;Box style={{ flexDirection: 'row', justifyContent: 'space-between', marginBottom: 4 }}&gt;&#10;              &lt;Text style={{ fontSize: 13, color: '#4A554F' }}&gt;{r.t}&lt;/Text&gt;&#10;              &lt;Text style={{ fontSize: 13, fontWeight: 'bold', color: '#1B7A5E', fontFamily: 'Consolas, monospace' }}&gt;{r.v.toFixed(1)}&lt;/Text&gt;&#10;            &lt;/Box&gt;&#10;            &lt;Box style={{ height: 12, background: '#EFECE2', borderRadius: 6, overflow: 'hidden' }}&gt;&#10;              &lt;Box style={{ width: `${r.p}%`, height: '100%', background: 'linear-gradient(90deg, #1B7A5E, #2FA37E)', borderRadius: 6 }} /&gt;&#10;            &lt;/Box&gt;&#10;          &lt;/Box&gt;&#10;        ))}&#10;      &lt;/Box&gt;&#10;      &lt;Box style={{ flex: 1, background: '#FAF0E1', borderRadius: 12, border: '1px solid #EFDDC0', padding: '14px 18px', flexDirection: 'column', gap: 8 }}&gt;&#10;        &lt;Text style={{ fontSize: 13.5, fontWeight: 'bold', color: '#7A4E14' }}&gt;学者口碑（全五星）&lt;/Text&gt;&#10;        {[&#10;          '「生成的消融实验对比方案结构严谨，节省了整整两周摸索时间！」 —— 清华 · CVPR 作者',&#10;          '「导师在组会上特别表扬了实验逻辑闭环！」 —— 浙大 · 组会汇报特优',&#10;          '「正式投稿前补齐了 LOSO 验证，成功避免大修拒稿风险！」 —— 北大 · 情感计算团队',&#10;        ].map((q, i) =&gt; (&#10;          &lt;Box key={i} style={{ flexDirection: 'row', gap: 8, alignItems: 'flex-start' }}&gt;&#10;            &lt;Text style={{ fontSize: 13, color: '#C2762B' }}&gt;★★★★★&lt;/Text&gt;&#10;            &lt;Text style={{ fontSize: 12.5, color: '#4A3A22', lineHeight: 1.5, flex: 1 }}&gt;{q}&lt;/Text&gt;&#10;          &lt;/Box&gt;&#10;        ))}&#10;      &lt;/Box&gt;&#10;    &lt;/Box&gt;&#10;  &lt;/Box&gt;&#10;  &lt;Box style={{ flexDirection: 'row', justifyContent: 'space-between', alignItems: 'center', padding: '0 60px', height: 40, marginTop: 4 }}&gt;&#10;    &lt;Text style={{ fontSize: 12, color: '#8A948D' }}&gt;ScienceX · AI 科研工作台&lt;/Text&gt;&#10;    &lt;Text style={{ fontSize: 12, color: '#8A948D' }}&gt;11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742950" y="17145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02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评分亮点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2085975" y="200025"/>
            <a:ext cx="2066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关键指标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内部质量评审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学者口碑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3409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可验证的质量与口碑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71500" y="819150"/>
            <a:ext cx="283845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685925" y="1047750"/>
            <a:ext cx="619125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C2762B"/>
                </a:solidFill>
                <a:latin typeface="Noto Serif SC"/>
                <a:ea typeface="Noto Serif SC"/>
              </a:rPr>
              <a:t>13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704975" y="17335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功能模块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714500" y="19240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948D"/>
                </a:solidFill>
                <a:latin typeface="Microsoft YaHei"/>
                <a:ea typeface="Microsoft YaHei"/>
              </a:rPr>
              <a:t>全流程覆盖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524250" y="819150"/>
            <a:ext cx="2828925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371975" y="1047750"/>
            <a:ext cx="11430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C2762B"/>
                </a:solidFill>
                <a:latin typeface="Noto Serif SC"/>
                <a:ea typeface="Noto Serif SC"/>
              </a:rPr>
              <a:t>40+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600575" y="17335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2A26"/>
                </a:solidFill>
                <a:latin typeface="Microsoft YaHei"/>
                <a:ea typeface="Microsoft YaHei"/>
              </a:rPr>
              <a:t>REST/SSE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724400" y="19240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948D"/>
                </a:solidFill>
                <a:latin typeface="Microsoft YaHei"/>
                <a:ea typeface="Microsoft YaHei"/>
              </a:rPr>
              <a:t>接口契约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71500" y="2390775"/>
            <a:ext cx="283845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800225" y="2619375"/>
            <a:ext cx="3810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C2762B"/>
                </a:solidFill>
                <a:latin typeface="Noto Serif SC"/>
                <a:ea typeface="Noto Serif SC"/>
              </a:rPr>
              <a:t>8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676400" y="3305175"/>
            <a:ext cx="628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类</a:t>
            </a:r>
            <a:r>
              <a:rPr lang="en-US" sz="1125" b="1">
                <a:solidFill>
                  <a:srgbClr val="1F2A26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771650" y="34956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948D"/>
                </a:solidFill>
                <a:latin typeface="Microsoft YaHei"/>
                <a:ea typeface="Microsoft YaHei"/>
              </a:rPr>
              <a:t>编排模式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3524250" y="2390775"/>
            <a:ext cx="282892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610100" y="2619375"/>
            <a:ext cx="66675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C2762B"/>
                </a:solidFill>
                <a:latin typeface="Noto Serif SC"/>
                <a:ea typeface="Noto Serif SC"/>
              </a:rPr>
              <a:t>10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581525" y="3305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类学术图表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772025" y="3495675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948D"/>
                </a:solidFill>
                <a:latin typeface="Microsoft YaHei"/>
                <a:ea typeface="Microsoft YaHei"/>
              </a:rPr>
              <a:t>模板库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71500" y="3971925"/>
            <a:ext cx="2838450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609725" y="4200525"/>
            <a:ext cx="7620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1B7A5E"/>
                </a:solidFill>
                <a:latin typeface="Noto Serif SC"/>
                <a:ea typeface="Noto Serif SC"/>
              </a:rPr>
              <a:t>5★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581150" y="4791075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F2A26"/>
                </a:solidFill>
                <a:latin typeface="Microsoft YaHei"/>
                <a:ea typeface="Microsoft YaHei"/>
              </a:rPr>
              <a:t>用户口碑均分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666875" y="498157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8A948D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863">
                <a:solidFill>
                  <a:srgbClr val="8A948D"/>
                </a:solidFill>
                <a:latin typeface="Microsoft YaHei"/>
                <a:ea typeface="Microsoft YaHei"/>
              </a:rPr>
              <a:t>位学者实测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524250" y="3971925"/>
            <a:ext cx="2828925" cy="1362075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171950" y="4200525"/>
            <a:ext cx="154305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1B7A5E"/>
                </a:solidFill>
                <a:latin typeface="Noto Serif SC"/>
                <a:ea typeface="Noto Serif SC"/>
              </a:rPr>
              <a:t>↓60%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524375" y="4791075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F2A26"/>
                </a:solidFill>
                <a:latin typeface="Microsoft YaHei"/>
                <a:ea typeface="Microsoft YaHei"/>
              </a:rPr>
              <a:t>选题调研耗时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829175" y="4981575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8A948D"/>
                </a:solidFill>
                <a:latin typeface="Microsoft YaHei"/>
                <a:ea typeface="Microsoft YaHei"/>
              </a:rPr>
              <a:t>缩短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600825" y="819150"/>
            <a:ext cx="5019675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772275" y="971550"/>
            <a:ext cx="4676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F2A26"/>
                </a:solidFill>
                <a:latin typeface="Noto Serif SC"/>
                <a:ea typeface="Noto Serif SC"/>
              </a:rPr>
              <a:t>综合质量评审</a:t>
            </a:r>
            <a:r>
              <a:rPr lang="en-US" sz="1088" b="1">
                <a:solidFill>
                  <a:srgbClr val="1F2A26"/>
                </a:solidFill>
                <a:latin typeface="Noto Serif SC"/>
                <a:ea typeface="Noto Serif SC"/>
              </a:rPr>
              <a:t xml:space="preserve"> </a:t>
            </a:r>
            <a:r>
              <a:rPr lang="zh-CN" sz="863">
                <a:solidFill>
                  <a:srgbClr val="8A948D"/>
                </a:solidFill>
                <a:latin typeface="Noto Serif SC"/>
                <a:ea typeface="Noto Serif SC"/>
              </a:rPr>
              <a:t>（全量源码通读分析报告</a:t>
            </a:r>
            <a:r>
              <a:rPr lang="en-US" sz="863">
                <a:solidFill>
                  <a:srgbClr val="8A948D"/>
                </a:solidFill>
                <a:latin typeface="Noto Serif SC"/>
                <a:ea typeface="Noto Serif SC"/>
              </a:rPr>
              <a:t xml:space="preserve"> fx.md · 10 </a:t>
            </a:r>
            <a:r>
              <a:rPr lang="zh-CN" sz="863">
                <a:solidFill>
                  <a:srgbClr val="8A948D"/>
                </a:solidFill>
                <a:latin typeface="Noto Serif SC"/>
                <a:ea typeface="Noto Serif SC"/>
              </a:rPr>
              <a:t>分制）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772275" y="127635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产品设计与功能覆盖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239500" y="1276350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7A5E"/>
                </a:solidFill>
                <a:latin typeface="Consolas"/>
                <a:ea typeface="Consolas"/>
              </a:rPr>
              <a:t>9.0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772275" y="1466850"/>
            <a:ext cx="4676775" cy="114300"/>
          </a:xfrm>
          <a:prstGeom prst="roundRect">
            <a:avLst>
              <a:gd name="adj" fmla="val 50000"/>
            </a:avLst>
          </a:prstGeom>
          <a:solidFill>
            <a:srgbClr val="EFECE2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772275" y="1466850"/>
            <a:ext cx="4210050" cy="114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B7A5E"/>
              </a:gs>
              <a:gs pos="100000">
                <a:srgbClr val="2FA37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772275" y="167640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后端接口契约规范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239500" y="1676400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7A5E"/>
                </a:solidFill>
                <a:latin typeface="Consolas"/>
                <a:ea typeface="Consolas"/>
              </a:rPr>
              <a:t>8.0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772275" y="1866900"/>
            <a:ext cx="4676775" cy="114300"/>
          </a:xfrm>
          <a:prstGeom prst="roundRect">
            <a:avLst>
              <a:gd name="adj" fmla="val 50000"/>
            </a:avLst>
          </a:prstGeom>
          <a:solidFill>
            <a:srgbClr val="EFECE2"/>
          </a:solidFill>
          <a:ln/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772275" y="1866900"/>
            <a:ext cx="3743325" cy="114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B7A5E"/>
              </a:gs>
              <a:gs pos="100000">
                <a:srgbClr val="2FA37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772275" y="20764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4F"/>
                </a:solidFill>
                <a:latin typeface="Microsoft YaHei"/>
                <a:ea typeface="Microsoft YaHei"/>
              </a:rPr>
              <a:t>前端实现质量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239500" y="2076450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B7A5E"/>
                </a:solidFill>
                <a:latin typeface="Consolas"/>
                <a:ea typeface="Consolas"/>
              </a:rPr>
              <a:t>7.0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772275" y="2266950"/>
            <a:ext cx="4676775" cy="114300"/>
          </a:xfrm>
          <a:prstGeom prst="roundRect">
            <a:avLst>
              <a:gd name="adj" fmla="val 50000"/>
            </a:avLst>
          </a:prstGeom>
          <a:solidFill>
            <a:srgbClr val="EFECE2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6772275" y="2266950"/>
            <a:ext cx="3276600" cy="114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B7A5E"/>
              </a:gs>
              <a:gs pos="100000">
                <a:srgbClr val="2FA37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600825" y="2647950"/>
            <a:ext cx="5019675" cy="2686050"/>
          </a:xfrm>
          <a:prstGeom prst="roundRect">
            <a:avLst>
              <a:gd name="adj" fmla="val 4255"/>
            </a:avLst>
          </a:prstGeom>
          <a:solidFill>
            <a:srgbClr val="FAF0E1"/>
          </a:solidFill>
          <a:ln w="12700">
            <a:solidFill>
              <a:srgbClr val="EFDDC0"/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772275" y="2781300"/>
            <a:ext cx="467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7A4E14"/>
                </a:solidFill>
                <a:latin typeface="Microsoft YaHei"/>
                <a:ea typeface="Microsoft YaHei"/>
              </a:rPr>
              <a:t>学者口碑（全五星）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772275" y="30194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2762B"/>
                </a:solidFill>
                <a:latin typeface="Microsoft YaHei"/>
                <a:ea typeface="Microsoft YaHei"/>
              </a:rPr>
              <a:t>★★★★★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362825" y="3019425"/>
            <a:ext cx="40862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「生成的消融实验对比方案结构严谨，节省了整整两周摸索时间！」</a:t>
            </a:r>
            <a:r>
              <a:rPr lang="en-US" sz="938">
                <a:solidFill>
                  <a:srgbClr val="4A3A2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清华</a:t>
            </a:r>
            <a:r>
              <a:rPr lang="en-US" sz="938">
                <a:solidFill>
                  <a:srgbClr val="4A3A22"/>
                </a:solidFill>
                <a:latin typeface="Microsoft YaHei"/>
                <a:ea typeface="Microsoft YaHei"/>
              </a:rPr>
              <a:t xml:space="preserve"> · CVPR </a:t>
            </a: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作者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772275" y="35242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2762B"/>
                </a:solidFill>
                <a:latin typeface="Microsoft YaHei"/>
                <a:ea typeface="Microsoft YaHei"/>
              </a:rPr>
              <a:t>★★★★★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362825" y="3524250"/>
            <a:ext cx="40862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「导师在组会上特别表扬了实验逻辑闭环！」</a:t>
            </a:r>
            <a:r>
              <a:rPr lang="en-US" sz="938">
                <a:solidFill>
                  <a:srgbClr val="4A3A2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浙大</a:t>
            </a:r>
            <a:r>
              <a:rPr lang="en-US" sz="938">
                <a:solidFill>
                  <a:srgbClr val="4A3A2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组会汇报特优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772275" y="38195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C2762B"/>
                </a:solidFill>
                <a:latin typeface="Microsoft YaHei"/>
                <a:ea typeface="Microsoft YaHei"/>
              </a:rPr>
              <a:t>★★★★★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362825" y="3819525"/>
            <a:ext cx="40862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「正式投稿前补齐了</a:t>
            </a:r>
            <a:r>
              <a:rPr lang="en-US" sz="938">
                <a:solidFill>
                  <a:srgbClr val="4A3A22"/>
                </a:solidFill>
                <a:latin typeface="Microsoft YaHei"/>
                <a:ea typeface="Microsoft YaHei"/>
              </a:rPr>
              <a:t xml:space="preserve"> LOSO </a:t>
            </a: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验证，成功避免大修拒稿风险！」</a:t>
            </a:r>
            <a:r>
              <a:rPr lang="en-US" sz="938">
                <a:solidFill>
                  <a:srgbClr val="4A3A22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北大</a:t>
            </a:r>
            <a:r>
              <a:rPr lang="en-US" sz="938">
                <a:solidFill>
                  <a:srgbClr val="4A3A22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4A3A22"/>
                </a:solidFill>
                <a:latin typeface="Microsoft YaHei"/>
                <a:ea typeface="Microsoft YaHei"/>
              </a:rPr>
              <a:t>情感计算团队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1500" y="5495925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29975" y="5495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11 / 22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style={{ padding: 0, background: '#0E4A37' }}&gt;&#10;  &lt;Box style={{ width: '100%', height: '100%', position: 'relative', justifyContent: 'center', padding: '0 72px' }}&gt;&#10;    &lt;Box style={{ position: 'absolute', top: 0, left: 0, width: '100%', height: '100%', opacity: 0.05, background: 'linear-gradient(0deg, transparent 31px, #FFFFFF 32px), linear-gradient(90deg, transparent 31px, #FFFFFF 32px)', backgroundSize: '32px 32px' }} /&gt;&#10;    &lt;Text style={{ position: 'absolute', right: 64, bottom: 8, fontSize: 260, fontWeight: 'bold', color: '#C2762B', opacity: 0.12, fontFamily: 'Noto Serif SC, Georgia, serif', lineHeight: 1 }}&gt;03&lt;/Text&gt;&#10;    &lt;Box style={{ position: 'relative', zIndex: 1, gap: 22 }}&gt;&#10;      &lt;Text style={{ fontSize: 15, color: '#C2762B', letterSpacing: 5, fontWeight: 600 }}&gt;PART 03 · 技术解析及亮点&lt;/Text&gt;&#10;      &lt;Text style={{ fontSize: 40, fontWeight: 'bold', color: '#FFFFFF', fontFamily: 'Noto Serif SC, Georgia, serif', lineHeight: 1.4 }}&gt;&#10;        现代云原生架构思想：&lt;br /&gt;前后端完全解耦，业务逻辑与 AI 算力域各司其职的双轨混合架构。&#10;      &lt;/Text&gt;&#10;      &lt;Box style={{ width: 72, height: 4, background: '#C2762B', borderRadius: 2 }} /&gt;&#10;      &lt;Text style={{ fontSize: 15, color: 'rgba(255,255,255,0.72)', lineHeight: 1.8, fontFamily: 'Consolas, monospace' }}&gt;React 18 · Express 4.19 · 灵犀 Agent 引擎 · RAG · SSE 7 类事件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4A37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FFFFFF">
                  <a:alpha val="0"/>
                </a:srgbClr>
              </a:gs>
              <a:gs pos="32000">
                <a:srgbClr val="FFFFFF">
                  <a:alpha val="500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FFFFFF">
                  <a:alpha val="0"/>
                </a:srgbClr>
              </a:gs>
              <a:gs pos="32000">
                <a:srgbClr val="FFFFFF">
                  <a:alpha val="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296275" y="3810000"/>
            <a:ext cx="3286125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C2762B">
                    <a:alpha val="12000"/>
                  </a:srgbClr>
                </a:solidFill>
                <a:latin typeface="Noto Serif SC"/>
                <a:ea typeface="Noto Serif SC"/>
              </a:rPr>
              <a:t>03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85800" y="1895475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C2762B"/>
                </a:solidFill>
                <a:latin typeface="Microsoft YaHei"/>
                <a:ea typeface="Microsoft YaHei"/>
              </a:rPr>
              <a:t xml:space="preserve">PART 03 · </a:t>
            </a:r>
            <a:r>
              <a:rPr lang="zh-CN" sz="1125" b="1" spc="375">
                <a:solidFill>
                  <a:srgbClr val="C2762B"/>
                </a:solidFill>
                <a:latin typeface="Microsoft YaHei"/>
                <a:ea typeface="Microsoft YaHei"/>
              </a:rPr>
              <a:t>技术解析及亮点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2276475"/>
            <a:ext cx="10820400" cy="1924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3000" b="1">
                <a:solidFill>
                  <a:srgbClr val="FFFFFF"/>
                </a:solidFill>
                <a:latin typeface="Noto Serif SC"/>
                <a:ea typeface="Noto Serif SC"/>
              </a:rPr>
              <a:t>现代云原生架构思想：</a:t>
            </a:r>
            <a:endParaRPr/>
          </a:p>
          <a:p>
            <a:pPr>
              <a:lnSpc>
                <a:spcPct val="140000"/>
              </a:lnSpc>
            </a:pPr>
            <a:r>
              <a:rPr lang="zh-CN" sz="3000" b="1">
                <a:solidFill>
                  <a:srgbClr val="FFFFFF"/>
                </a:solidFill>
                <a:latin typeface="Noto Serif SC"/>
                <a:ea typeface="Noto Serif SC"/>
              </a:rPr>
              <a:t>前后端完全解耦，业务逻辑与</a:t>
            </a:r>
            <a:r>
              <a:rPr lang="en-US" sz="3000" b="1">
                <a:solidFill>
                  <a:srgbClr val="FFFFFF"/>
                </a:solidFill>
                <a:latin typeface="Noto Serif SC"/>
                <a:ea typeface="Noto Serif SC"/>
              </a:rPr>
              <a:t xml:space="preserve"> AI </a:t>
            </a:r>
            <a:r>
              <a:rPr lang="zh-CN" sz="3000" b="1">
                <a:solidFill>
                  <a:srgbClr val="FFFFFF"/>
                </a:solidFill>
                <a:latin typeface="Noto Serif SC"/>
                <a:ea typeface="Noto Serif SC"/>
              </a:rPr>
              <a:t>算力域各司其职的双轨混合架构。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85800" y="4410075"/>
            <a:ext cx="685800" cy="38100"/>
          </a:xfrm>
          <a:prstGeom prst="roundRect">
            <a:avLst>
              <a:gd name="adj" fmla="val 50000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" y="4657725"/>
            <a:ext cx="10820400" cy="3143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FFFFFF">
                    <a:alpha val="72000"/>
                  </a:srgbClr>
                </a:solidFill>
                <a:latin typeface="Consolas"/>
                <a:ea typeface="Consolas"/>
              </a:rPr>
              <a:t xml:space="preserve">React 18 · Express 4.19 · </a:t>
            </a:r>
            <a:r>
              <a:rPr lang="zh-CN" sz="1125">
                <a:solidFill>
                  <a:srgbClr val="FFFFFF">
                    <a:alpha val="72000"/>
                  </a:srgbClr>
                </a:solidFill>
                <a:latin typeface="Consolas"/>
                <a:ea typeface="Consolas"/>
              </a:rPr>
              <a:t>灵犀</a:t>
            </a:r>
            <a:r>
              <a:rPr lang="en-US" sz="1125">
                <a:solidFill>
                  <a:srgbClr val="FFFFFF">
                    <a:alpha val="72000"/>
                  </a:srgbClr>
                </a:solidFill>
                <a:latin typeface="Consolas"/>
                <a:ea typeface="Consolas"/>
              </a:rPr>
              <a:t xml:space="preserve"> Agent </a:t>
            </a:r>
            <a:r>
              <a:rPr lang="zh-CN" sz="1125">
                <a:solidFill>
                  <a:srgbClr val="FFFFFF">
                    <a:alpha val="72000"/>
                  </a:srgbClr>
                </a:solidFill>
                <a:latin typeface="Consolas"/>
                <a:ea typeface="Consolas"/>
              </a:rPr>
              <a:t>引擎</a:t>
            </a:r>
            <a:r>
              <a:rPr lang="en-US" sz="1125">
                <a:solidFill>
                  <a:srgbClr val="FFFFFF">
                    <a:alpha val="72000"/>
                  </a:srgbClr>
                </a:solidFill>
                <a:latin typeface="Consolas"/>
                <a:ea typeface="Consolas"/>
              </a:rPr>
              <a:t xml:space="preserve"> · RAG · SSE 7 </a:t>
            </a:r>
            <a:r>
              <a:rPr lang="zh-CN" sz="1125">
                <a:solidFill>
                  <a:srgbClr val="FFFFFF">
                    <a:alpha val="72000"/>
                  </a:srgbClr>
                </a:solidFill>
                <a:latin typeface="Consolas"/>
                <a:ea typeface="Consolas"/>
              </a:rPr>
              <a:t>类事件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3 · 技术架构&lt;/Text&gt;&lt;/Box&gt;&#10;        &lt;Text style={{ fontSize: 13, color: '#8A948D' }}&gt;五层堆叠 · As-Is 与 To-Be 诚实区分&lt;/Text&gt;&#10;      &lt;/Box&gt;&#10;      &lt;Text style={{ fontSize: 27, fontWeight: 'bold', color: '#1F2A26', fontFamily: 'Noto Serif SC, Georgia, serif', marginTop: 4 }}&gt;双轨混合架构：业务稳定域 + AI 敏捷域&lt;/Text&gt;&#10;    &lt;/Box&gt;&#10;  &lt;/Box&gt;&#10;  &lt;Box style={{ flexDirection: 'row', padding: '4px 60px 0', height: 478, gap: 22 }}&gt;&#10;    {/* 左：五层分层架构横带 */}&#10;    &lt;Box style={{ flex: 1.5, flexDirection: 'column', gap: 8, justifyContent: 'center' }}&gt;&#10;      {[&#10;        { n: '前端层', d: 'React 18.3 · TypeScript 5.5 · Vite 5.4 · React Router 6', e: '自研 SVG 图表引擎 · 3D 引用图谱 · SSE 流式解码 · 移动端自适应', c: '#E3F1EA', t: '#0E4A37' },&#10;        { n: '接入层', d: '统一 /api/v1 契约 · 限流中间件 · X-Request-Id 链路追踪', e: '', c: '#D2E8DC', t: '#0E4A37' },&#10;        { n: '后端层', d: 'Node.js 18 + Express 4.19（演示态）', e: '目标态：Java 21 Spring Boot 3.3 业务域 + Python FastAPI AI 域', c: '#BBDCCB', t: '#0E4A37', tobe: true },&#10;        { n: 'AI 层', d: '灵犀引擎 8 类 Agent 编排 · 三层记忆引擎 · 模型网关（OpenAI 兼容）', e: 'DeepSeek V4.1 Flash · SSE 7 类事件流 · DreamPaper 流水线', c: '#9CC9B4', t: '#0E4A37' },&#10;        { n: '数据层', d: 'JSON 持久化 Store（演示态）', e: '目标态：PostgreSQL 16 + Redis 7 + pgvector/Milvus + MinIO', c: '#1B7A5E', t: '#FFFFFF', tobe: true },&#10;      ].map((L, i) =&gt; (&#10;        &lt;Box key={i} style={{ background: L.c, borderRadius: 10, padding: '11px 18px', flexDirection: 'row', alignItems: 'center', gap: 16, border: '1px solid rgba(0,0,0,0.05)' }}&gt;&#10;          &lt;Box style={{ width: 92, flexShrink: 0 }}&gt;&#10;            &lt;Text style={{ fontSize: 17, fontWeight: 'bold', color: L.t, fontFamily: 'Noto Serif SC, Georgia, serif' }}&gt;{L.n}&lt;/Text&gt;&#10;          &lt;/Box&gt;&#10;          &lt;Box style={{ flex: 1 }}&gt;&#10;            &lt;Text style={{ fontSize: 13.5, color: L.t, fontWeight: 600, lineHeight: 1.4 }}&gt;{L.d}&lt;/Text&gt;&#10;            {L.e ? (&#10;              &lt;Box style={{ flexDirection: 'row', alignItems: 'center', gap: 6, marginTop: 4 }}&gt;&#10;                {L.tobe &amp;&amp; &lt;Box style={{ background: '#C2762B', borderRadius: 8, padding: '1px 7px' }}&gt;&lt;Text style={{ fontSize: 10, color: '#fff', fontWeight: 700 }}&gt;目标态&lt;/Text&gt;&lt;/Box&gt;}&#10;                &lt;Text style={{ fontSize: 11.5, color: L.t, opacity: 0.78, fontFamily: 'Consolas, monospace' }}&gt;{L.e}&lt;/Text&gt;&#10;              &lt;/Box&gt;&#10;            ) : null}&#10;          &lt;/Box&gt;&#10;          {i &lt; 4 &amp;&amp; &lt;Box style={{ position: 'relative' }} /&gt;}&#10;        &lt;/Box&gt;&#10;      ))}&#10;    &lt;/Box&gt;&#10;    {/* 右：三个架构亮点徽章 */}&#10;    &lt;Box style={{ flex: 1, flexDirection: 'column', justifyContent: 'center', gap: 14 }}&gt;&#10;      {[&#10;        { n: '①', t: '双轨混合架构', d: '业务稳定域与 AI 敏捷域各取所长' },&#10;        { n: '②', t: '模型中立网关', d: '任意 OpenAI 兼容模型即插即用，无密钥自动降级演示' },&#10;        { n: '③', t: '契约 100% 对齐', d: '统一响应结构 + 分级错误码体系，前后端一致' },&#10;      ].map((b, i) =&gt; (&#10;        &lt;Box key={i} style={{ background: '#FFFFFF', borderRadius: 12, border: '1px solid #E6E2D6', borderLeft: '4px solid #1B7A5E', padding: '14px 16px', boxShadow: '0 2px 10px rgba(0,0,0,0.05)' }}&gt;&#10;          &lt;Text style={{ fontSize: 24, fontWeight: 'bold', color: '#C2762B', fontFamily: 'Noto Serif SC, Georgia, serif', lineHeight: 1 }}&gt;{b.n}&lt;/Text&gt;&#10;          &lt;Text style={{ fontSize: 16, fontWeight: 'bold', color: '#1F2A26', marginTop: 6, fontFamily: 'Noto Serif SC, Georgia, serif' }}&gt;{b.t}&lt;/Text&gt;&#10;          &lt;Text style={{ fontSize: 12.5, color: '#4A554F', marginTop: 4, lineHeight: 1.55 }}&gt;{b.d}&lt;/Text&gt;&#10;        &lt;/Box&gt;&#10;      ))}&#10;    &lt;/Box&gt;&#10;  &lt;/Box&gt;&#10;  &lt;Box style={{ flexDirection: 'row', justifyContent: 'space-between', alignItems: 'center', padding: '0 60px', height: 40, marginTop: 4 }}&gt;&#10;    &lt;Text style={{ fontSize: 12, color: '#8A948D' }}&gt;ScienceX · AI 科研工作台&lt;/Text&gt;&#10;    &lt;Text style={{ fontSize: 12, color: '#8A948D' }}&gt;13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742950" y="17145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03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2085975" y="200025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五层堆叠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As-Is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To-Be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诚实区分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4552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双轨混合架构：业务稳定域</a:t>
            </a: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+ AI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敏捷域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71500" y="1514475"/>
            <a:ext cx="6505575" cy="600075"/>
          </a:xfrm>
          <a:prstGeom prst="roundRect">
            <a:avLst>
              <a:gd name="adj" fmla="val 15873"/>
            </a:avLst>
          </a:prstGeom>
          <a:solidFill>
            <a:srgbClr val="E3F1EA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42950" y="171450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4A37"/>
                </a:solidFill>
                <a:latin typeface="Noto Serif SC"/>
                <a:ea typeface="Noto Serif SC"/>
              </a:rPr>
              <a:t>前端层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771650" y="1619250"/>
            <a:ext cx="49815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>React 18.3 · TypeScript 5.5 · Vite 5.4 · React Router 6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571500" y="2190750"/>
            <a:ext cx="6505575" cy="428625"/>
          </a:xfrm>
          <a:prstGeom prst="roundRect">
            <a:avLst>
              <a:gd name="adj" fmla="val 22222"/>
            </a:avLst>
          </a:prstGeom>
          <a:solidFill>
            <a:srgbClr val="D2E8DC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42950" y="230505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4A37"/>
                </a:solidFill>
                <a:latin typeface="Noto Serif SC"/>
                <a:ea typeface="Noto Serif SC"/>
              </a:rPr>
              <a:t>接入层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771650" y="2295525"/>
            <a:ext cx="49815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统一</a:t>
            </a: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 xml:space="preserve"> /api/v1 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契约</a:t>
            </a: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限流中间件</a:t>
            </a: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 xml:space="preserve"> · X-Request-Id 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链路追踪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71500" y="2695575"/>
            <a:ext cx="6505575" cy="600075"/>
          </a:xfrm>
          <a:prstGeom prst="roundRect">
            <a:avLst>
              <a:gd name="adj" fmla="val 15873"/>
            </a:avLst>
          </a:prstGeom>
          <a:solidFill>
            <a:srgbClr val="BBDCCB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42950" y="289560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4A37"/>
                </a:solidFill>
                <a:latin typeface="Noto Serif SC"/>
                <a:ea typeface="Noto Serif SC"/>
              </a:rPr>
              <a:t>后端层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771650" y="2800350"/>
            <a:ext cx="49815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>Node.js 18 + Express 4.19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（演示态）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1771650" y="3057525"/>
            <a:ext cx="419100" cy="133350"/>
          </a:xfrm>
          <a:prstGeom prst="roundRect">
            <a:avLst>
              <a:gd name="adj" fmla="val 57143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838325" y="30670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目标态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71500" y="3371850"/>
            <a:ext cx="6505575" cy="600075"/>
          </a:xfrm>
          <a:prstGeom prst="roundRect">
            <a:avLst>
              <a:gd name="adj" fmla="val 15873"/>
            </a:avLst>
          </a:prstGeom>
          <a:solidFill>
            <a:srgbClr val="9CC9B4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42950" y="357187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4A37"/>
                </a:solidFill>
                <a:latin typeface="Noto Serif SC"/>
                <a:ea typeface="Noto Serif SC"/>
              </a:rPr>
              <a:t xml:space="preserve">AI </a:t>
            </a:r>
            <a:r>
              <a:rPr lang="zh-CN" sz="1275" b="1">
                <a:solidFill>
                  <a:srgbClr val="0E4A37"/>
                </a:solidFill>
                <a:latin typeface="Noto Serif SC"/>
                <a:ea typeface="Noto Serif SC"/>
              </a:rPr>
              <a:t>层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771650" y="3476625"/>
            <a:ext cx="49815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灵犀引擎</a:t>
            </a: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类</a:t>
            </a: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编排</a:t>
            </a: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三层记忆引擎</a:t>
            </a: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模型网关（</a:t>
            </a:r>
            <a:r>
              <a:rPr lang="en-US" sz="1013" b="1">
                <a:solidFill>
                  <a:srgbClr val="0E4A37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1013" b="1">
                <a:solidFill>
                  <a:srgbClr val="0E4A37"/>
                </a:solidFill>
                <a:latin typeface="Microsoft YaHei"/>
                <a:ea typeface="Microsoft YaHei"/>
              </a:rPr>
              <a:t>兼容）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71500" y="4048125"/>
            <a:ext cx="6505575" cy="600075"/>
          </a:xfrm>
          <a:prstGeom prst="roundRect">
            <a:avLst>
              <a:gd name="adj" fmla="val 15873"/>
            </a:avLst>
          </a:prstGeom>
          <a:solidFill>
            <a:srgbClr val="1B7A5E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42950" y="424815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Noto Serif SC"/>
                <a:ea typeface="Noto Serif SC"/>
              </a:rPr>
              <a:t>数据层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771650" y="4152900"/>
            <a:ext cx="5133975" cy="2190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1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持久化</a:t>
            </a:r>
            <a:r>
              <a:rPr lang="en-US" sz="101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Store</a:t>
            </a:r>
            <a:r>
              <a:rPr lang="zh-CN" sz="1013" b="1">
                <a:solidFill>
                  <a:srgbClr val="FFFFFF"/>
                </a:solidFill>
                <a:latin typeface="Microsoft YaHei"/>
                <a:ea typeface="Microsoft YaHei"/>
              </a:rPr>
              <a:t>（演示态）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1771650" y="4410075"/>
            <a:ext cx="419100" cy="133350"/>
          </a:xfrm>
          <a:prstGeom prst="roundRect">
            <a:avLst>
              <a:gd name="adj" fmla="val 57143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838325" y="44196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目标态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324725" y="1362075"/>
            <a:ext cx="4333875" cy="105727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7324725" y="1362075"/>
            <a:ext cx="4333875" cy="1057275"/>
          </a:xfrm>
          <a:custGeom>
            <a:pathLst>
              <a:path w="455" h="11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3"/>
                </a:lnTo>
                <a:cubicBezTo>
                  <a:pt x="4" y="107"/>
                  <a:pt x="7" y="110"/>
                  <a:pt x="10" y="111"/>
                </a:cubicBezTo>
                <a:cubicBezTo>
                  <a:pt x="4" y="110"/>
                  <a:pt x="0" y="105"/>
                  <a:pt x="0" y="9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477125" y="1495425"/>
            <a:ext cx="3990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C2762B"/>
                </a:solidFill>
                <a:latin typeface="Noto Serif SC"/>
                <a:ea typeface="Noto Serif SC"/>
              </a:rPr>
              <a:t>①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477125" y="1828800"/>
            <a:ext cx="3990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双轨混合架构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477125" y="205740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业务稳定域与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敏捷域各取所长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324725" y="2552700"/>
            <a:ext cx="4333875" cy="105727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7324725" y="2552700"/>
            <a:ext cx="4333875" cy="1057275"/>
          </a:xfrm>
          <a:custGeom>
            <a:pathLst>
              <a:path w="455" h="11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3"/>
                </a:lnTo>
                <a:cubicBezTo>
                  <a:pt x="4" y="107"/>
                  <a:pt x="7" y="110"/>
                  <a:pt x="10" y="111"/>
                </a:cubicBezTo>
                <a:cubicBezTo>
                  <a:pt x="4" y="110"/>
                  <a:pt x="0" y="105"/>
                  <a:pt x="0" y="9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477125" y="2686050"/>
            <a:ext cx="3990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C2762B"/>
                </a:solidFill>
                <a:latin typeface="Noto Serif SC"/>
                <a:ea typeface="Noto Serif SC"/>
              </a:rPr>
              <a:t>②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477125" y="3019425"/>
            <a:ext cx="3990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模型中立网关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477125" y="3248025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任意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OpenAI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兼容模型即插即用，无密钥自动降级演示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7324725" y="3743325"/>
            <a:ext cx="4333875" cy="1057275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7324725" y="3743325"/>
            <a:ext cx="4333875" cy="1057275"/>
          </a:xfrm>
          <a:custGeom>
            <a:pathLst>
              <a:path w="455" h="11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03"/>
                </a:lnTo>
                <a:cubicBezTo>
                  <a:pt x="4" y="107"/>
                  <a:pt x="7" y="110"/>
                  <a:pt x="10" y="111"/>
                </a:cubicBezTo>
                <a:cubicBezTo>
                  <a:pt x="4" y="110"/>
                  <a:pt x="0" y="105"/>
                  <a:pt x="0" y="9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477125" y="3876675"/>
            <a:ext cx="3990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C2762B"/>
                </a:solidFill>
                <a:latin typeface="Noto Serif SC"/>
                <a:ea typeface="Noto Serif SC"/>
              </a:rPr>
              <a:t>③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477125" y="4210050"/>
            <a:ext cx="3990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契约</a:t>
            </a:r>
            <a:r>
              <a:rPr lang="en-US" sz="120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100% </a:t>
            </a:r>
            <a:r>
              <a:rPr lang="zh-CN" sz="1200" b="1">
                <a:solidFill>
                  <a:srgbClr val="1F2A26"/>
                </a:solidFill>
                <a:latin typeface="Noto Serif SC"/>
                <a:ea typeface="Noto Serif SC"/>
              </a:rPr>
              <a:t>对齐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477125" y="443865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统一响应结构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分级错误码体系，前后端一致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71500" y="5495925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229975" y="5495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13 / 22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771650" y="1876425"/>
            <a:ext cx="3457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自研</a:t>
            </a:r>
            <a:r>
              <a:rPr lang="en-US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 xml:space="preserve"> SVG </a:t>
            </a: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图表引擎</a:t>
            </a:r>
            <a:r>
              <a:rPr lang="en-US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 xml:space="preserve"> · 3D </a:t>
            </a: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引用图谱</a:t>
            </a:r>
            <a:r>
              <a:rPr lang="en-US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 xml:space="preserve"> · SSE </a:t>
            </a: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流式解码</a:t>
            </a:r>
            <a:r>
              <a:rPr lang="en-US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移动端自适应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2247900" y="3057525"/>
            <a:ext cx="3590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目标态：</a:t>
            </a:r>
            <a:r>
              <a:rPr lang="en-US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 xml:space="preserve">Java 21 Spring Boot 3.3 </a:t>
            </a: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业务域</a:t>
            </a:r>
            <a:r>
              <a:rPr lang="en-US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 xml:space="preserve"> + Python FastAPI AI </a:t>
            </a: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域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771650" y="3733800"/>
            <a:ext cx="3305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 xml:space="preserve">DeepSeek V4.1 Flash · SSE 7 </a:t>
            </a: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类事件流</a:t>
            </a:r>
            <a:r>
              <a:rPr lang="en-US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 xml:space="preserve"> · DreamPaper </a:t>
            </a:r>
            <a:r>
              <a:rPr lang="zh-CN" sz="863">
                <a:solidFill>
                  <a:srgbClr val="0E4A37">
                    <a:alpha val="78000"/>
                  </a:srgbClr>
                </a:solidFill>
                <a:latin typeface="Consolas"/>
                <a:ea typeface="Consolas"/>
              </a:rPr>
              <a:t>流水线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2247900" y="4410075"/>
            <a:ext cx="3390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>目标态：</a:t>
            </a:r>
            <a:r>
              <a:rPr lang="en-US" sz="863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>PostgreSQL 16 + Redis 7 + pgvector/Milvus + MinIO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0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3 · UI 设计&lt;/Text&gt;&lt;/Box&gt;&#10;        &lt;Text style={{ fontSize: 13, color: '#8A948D' }}&gt;前端 / 可视化 · Nature 期刊装帧美学&lt;/Text&gt;&#10;      &lt;/Box&gt;&#10;      &lt;Text style={{ fontSize: 27, fontWeight: 'bold', color: '#1F2A26', fontFamily: 'Noto Serif SC, Georgia, serif', marginTop: 4 }}&gt;学术暖纸质感 × 现代极简数字工作台&lt;/Text&gt;&#10;    &lt;/Box&gt;&#10;  &lt;/Box&gt;&#10;  &lt;Box style={{ flexDirection: 'row', padding: '4px 60px 0', height: 478, gap: 26 }}&gt;&#10;    {/* 左：设计理念五要点 */}&#10;    &lt;Box style={{ flex: 1.2, flexDirection: 'column', gap: 10 }}&gt;&#10;      {[&#10;        { ic: 'palette', t: '拒绝廉价 AI 蓝紫渐变', d: '象牙暖纸底 #F6F4EE × 深墨绿 #1B7A5E，Nature 期刊装帧美学；长时间阅读无蓝光疲劳，WCAG 2.1 AA/AAA 无障碍对比度。', c: '#1B7A5E' },&#10;        { ic: 'font', t: '学术级字体三元组', d: '衬线标题（权威感）+ 无衬线正文（现代感）+ 等宽数据（严谨感）。', c: '#4A5568' },&#10;        { ic: 'cube', t: '高端材质语言', d: '玻璃拟态弹层 · 微羽化环境光晕 · 亚像素边框 · 卡片三级高程投影。', c: '#C2762B' },&#10;        { ic: 'ruler-combined', t: '8pt 栅格 + 四级响应式断点', d: '1440 超宽 / 1025 桌面 / 769 平板 / ≤768 移动——九大界面移动端全面适配，弹窗自动下沉为 Bottom Sheet。', c: '#1B7A5E' },&#10;        { ic: 'magic', t: '物理微动效', d: '学者曲线缓动 cubic-bezier(0.22,0.8,0.32,1) · 列表瀑布式交错入场 · AI 打字机墨绿光标 · prefers-reduced-motion 无障碍降级。', c: '#4A5568' },&#10;      ].map((p, i) =&gt; (&#10;        &lt;Box key={i} style={{ background: '#FFFFFF', borderRadius: 10, border: '1px solid #EFECE2', borderLeft: `4px solid ${p.c}`, padding: '9px 14px', boxShadow: '0 1px 8px rgba(0,0,0,0.04)' }}&gt;&#10;          &lt;Box style={{ flexDirection: 'row', alignItems: 'center', gap: 8 }}&gt;&#10;            &lt;FAIcon name={p.ic} style={{ fill: p.c, width: 16, height: 16 }} /&gt;&#10;            &lt;Text style={{ fontSize: 15, fontWeight: 'bold', color: '#1F2A26' }}&gt;{p.t}&lt;/Text&gt;&#10;          &lt;/Box&gt;&#10;          &lt;Text style={{ fontSize: 12, color: '#4A554F', lineHeight: 1.55, marginTop: 3 }}&gt;{p.d}&lt;/Text&gt;&#10;        &lt;/Box&gt;&#10;      ))}&#10;    &lt;/Box&gt;&#10;    {/* 右：可视化亮点卡 */}&#10;    &lt;Box style={{ flex: 1, flexDirection: 'column', gap: 12 }}&gt;&#10;      &lt;Box style={{ background: '#FFFFFF', borderRadius: 12, border: '1px solid #E6E2D6', padding: '16px 18px', boxShadow: '0 2px 10px rgba(0,0,0,0.05)', flex: 1 }}&gt;&#10;        &lt;Text style={{ fontSize: 15.5, fontWeight: 'bold', color: '#1F2A26', fontFamily: 'Noto Serif SC, Georgia, serif', marginBottom: 10 }}&gt;自研 Dynamic SVG 图表引擎&lt;/Text&gt;&#10;        &lt;Box style={{ flexDirection: 'column', gap: 8 }}&gt;&#10;          {[&#10;            { t: '矢量消融柱状图', w: '88%' },&#10;            { t: '训练收敛曲线', w: '76%' },&#10;            { t: '混淆矩阵', w: '64%' },&#10;            { t: 'CitationGraph3D 力导向引用星系', w: '96%' },&#10;            { t: '五维评审雷达 · GPU 环形仪表', w: '82%' },&#10;          ].map((b, i) =&gt; (&#10;            &lt;Box key={i}&gt;&#10;              &lt;Text style={{ fontSize: 12, color: '#4A554F', marginBottom: 3 }}&gt;{b.t}&lt;/Text&gt;&#10;              &lt;Box style={{ height: 8, background: '#EFECE2', borderRadius: 4, overflow: 'hidden' }}&gt;&#10;                &lt;Box style={{ width: b.w, height: '100%', background: `linear-gradient(90deg, #1B7A5E, ${i % 2 ? '#C2762B' : '#2FA37E'})`, borderRadius: 4 }} /&gt;&#10;              &lt;/Box&gt;&#10;            &lt;/Box&gt;&#10;          ))}&#10;        &lt;/Box&gt;&#10;      &lt;/Box&gt;&#10;      &lt;Box style={{ background: '#E3F1EA', borderRadius: 12, border: '1px solid #CDE4D8', padding: '12px 16px', flexDirection: 'row', alignItems: 'center', gap: 10 }}&gt;&#10;        &lt;FAIcon name=&quot;mobile-alt&quot; style={{ fill: '#1B7A5E', width: 20, height: 20 }} /&gt;&#10;        &lt;Text style={{ fontSize: 13, color: '#234038', lineHeight: 1.5 }}&gt;九大界面移动端全面适配，弹窗自动下沉为 Bottom Sheet&lt;/Text&gt;&#10;      &lt;/Box&gt;&#10;    &lt;/Box&gt;&#10;  &lt;/Box&gt;&#10;  &lt;Box style={{ flexDirection: 'row', justifyContent: 'space-between', alignItems: 'center', padding: '0 60px', height: 40, marginTop: 4 }}&gt;&#10;    &lt;Text style={{ fontSize: 12, color: '#8A948D' }}&gt;ScienceX · AI 科研工作台&lt;/Text&gt;&#10;    &lt;Text style={{ fontSize: 12, color: '#8A948D' }}&gt;14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742950" y="171450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03 · UI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设计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2019300" y="200025"/>
            <a:ext cx="2038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前端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可视化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Nature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期刊装帧美学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41719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学术暖纸质感</a:t>
            </a: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×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现代极简数字工作台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819150"/>
            <a:ext cx="5895975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09600" y="819150"/>
            <a:ext cx="5895975" cy="800100"/>
          </a:xfrm>
          <a:custGeom>
            <a:pathLst>
              <a:path w="619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42950" y="914400"/>
            <a:ext cx="152400" cy="152400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71550" y="904875"/>
            <a:ext cx="139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拒绝廉价</a:t>
            </a:r>
            <a:r>
              <a:rPr lang="en-US" sz="1125" b="1">
                <a:solidFill>
                  <a:srgbClr val="1F2A26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蓝紫渐变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42950" y="1104900"/>
            <a:ext cx="55911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象牙暖纸底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#F6F4EE ×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深墨绿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#1B7A5E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Nature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期刊装帧美学；长时间阅读无蓝光疲劳，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WCAG 2.1 AA/AAA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无障碍对比度。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1714500"/>
            <a:ext cx="5895975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609600" y="1714500"/>
            <a:ext cx="5895975" cy="590550"/>
          </a:xfrm>
          <a:custGeom>
            <a:pathLst>
              <a:path w="619" h="6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6"/>
                </a:lnTo>
                <a:cubicBezTo>
                  <a:pt x="4" y="59"/>
                  <a:pt x="6" y="61"/>
                  <a:pt x="9" y="62"/>
                </a:cubicBezTo>
                <a:cubicBezTo>
                  <a:pt x="4" y="61"/>
                  <a:pt x="0" y="57"/>
                  <a:pt x="0" y="5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pic>
        <p:nvPicPr>
          <p:cNvPr id="2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2950" y="1809750"/>
            <a:ext cx="152400" cy="152400"/>
          </a:xfrm>
          <a:prstGeom prst="rect">
            <a:avLst/>
          </a:prstGeom>
          <a:ln/>
        </p:spPr>
      </p:pic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971550" y="18002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学术级字体三元组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42950" y="2000250"/>
            <a:ext cx="5591175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衬线标题（权威感）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无衬线正文（现代感）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等宽数据（严谨感）。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9600" y="2400300"/>
            <a:ext cx="5895975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09600" y="2400300"/>
            <a:ext cx="5895975" cy="590550"/>
          </a:xfrm>
          <a:custGeom>
            <a:pathLst>
              <a:path w="619" h="6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6"/>
                </a:lnTo>
                <a:cubicBezTo>
                  <a:pt x="4" y="59"/>
                  <a:pt x="6" y="61"/>
                  <a:pt x="9" y="62"/>
                </a:cubicBezTo>
                <a:cubicBezTo>
                  <a:pt x="4" y="61"/>
                  <a:pt x="0" y="57"/>
                  <a:pt x="0" y="5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pic>
        <p:nvPicPr>
          <p:cNvPr id="2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42950" y="2495550"/>
            <a:ext cx="152400" cy="152400"/>
          </a:xfrm>
          <a:prstGeom prst="rect">
            <a:avLst/>
          </a:prstGeom>
          <a:ln/>
        </p:spPr>
      </p:pic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71550" y="2486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高端材质语言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2950" y="2686050"/>
            <a:ext cx="5591175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玻璃拟态弹层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微羽化环境光晕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亚像素边框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卡片三级高程投影。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3086100"/>
            <a:ext cx="5895975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609600" y="3086100"/>
            <a:ext cx="5895975" cy="800100"/>
          </a:xfrm>
          <a:custGeom>
            <a:pathLst>
              <a:path w="619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pic>
        <p:nvPicPr>
          <p:cNvPr id="2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42950" y="3181350"/>
            <a:ext cx="152400" cy="152400"/>
          </a:xfrm>
          <a:prstGeom prst="rect">
            <a:avLst/>
          </a:prstGeom>
          <a:ln/>
        </p:spPr>
      </p:pic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71550" y="317182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2A26"/>
                </a:solidFill>
                <a:latin typeface="Microsoft YaHei"/>
                <a:ea typeface="Microsoft YaHei"/>
              </a:rPr>
              <a:t xml:space="preserve">8pt </a:t>
            </a: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栅格</a:t>
            </a:r>
            <a:r>
              <a:rPr lang="en-US" sz="1125" b="1">
                <a:solidFill>
                  <a:srgbClr val="1F2A26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四级响应式断点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42950" y="3371850"/>
            <a:ext cx="55911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1440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超宽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/ 1025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桌面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/ 769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平板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/ ≤768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移动——九大界面移动端全面适配，弹窗自动下沉为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Bottom Sheet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3981450"/>
            <a:ext cx="5895975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76200" dist="9525" dir="5400000">
              <a:srgbClr val="000000">
                <a:alpha val="4000"/>
              </a:srgbClr>
            </a:outerShdw>
          </a:effectLst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09600" y="3981450"/>
            <a:ext cx="5895975" cy="800100"/>
          </a:xfrm>
          <a:custGeom>
            <a:pathLst>
              <a:path w="619" h="8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78"/>
                </a:lnTo>
                <a:cubicBezTo>
                  <a:pt x="4" y="81"/>
                  <a:pt x="6" y="83"/>
                  <a:pt x="9" y="84"/>
                </a:cubicBezTo>
                <a:cubicBezTo>
                  <a:pt x="4" y="83"/>
                  <a:pt x="0" y="79"/>
                  <a:pt x="0" y="7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pic>
        <p:nvPicPr>
          <p:cNvPr id="2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42950" y="4076700"/>
            <a:ext cx="152400" cy="152400"/>
          </a:xfrm>
          <a:prstGeom prst="rect">
            <a:avLst/>
          </a:prstGeom>
          <a:ln/>
        </p:spPr>
      </p:pic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71550" y="4067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2A26"/>
                </a:solidFill>
                <a:latin typeface="Microsoft YaHei"/>
                <a:ea typeface="Microsoft YaHei"/>
              </a:rPr>
              <a:t>物理微动效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42950" y="4267200"/>
            <a:ext cx="55911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学者曲线缓动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cubic-bezier(0.22,0.8,0.32,1) ·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列表瀑布式交错入场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打字机墨绿光标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prefers-reduced-motion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无障碍降级。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6715125" y="819150"/>
            <a:ext cx="4905375" cy="39433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86575" y="971550"/>
            <a:ext cx="45624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F2A26"/>
                </a:solidFill>
                <a:latin typeface="Noto Serif SC"/>
                <a:ea typeface="Noto Serif SC"/>
              </a:rPr>
              <a:t>自研</a:t>
            </a:r>
            <a:r>
              <a:rPr lang="en-US" sz="1163" b="1">
                <a:solidFill>
                  <a:srgbClr val="1F2A26"/>
                </a:solidFill>
                <a:latin typeface="Noto Serif SC"/>
                <a:ea typeface="Noto Serif SC"/>
              </a:rPr>
              <a:t xml:space="preserve"> Dynamic SVG </a:t>
            </a:r>
            <a:r>
              <a:rPr lang="zh-CN" sz="1163" b="1">
                <a:solidFill>
                  <a:srgbClr val="1F2A26"/>
                </a:solidFill>
                <a:latin typeface="Noto Serif SC"/>
                <a:ea typeface="Noto Serif SC"/>
              </a:rPr>
              <a:t>图表引擎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886575" y="1247775"/>
            <a:ext cx="4562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矢量消融柱状图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886575" y="1419225"/>
            <a:ext cx="4562475" cy="76200"/>
          </a:xfrm>
          <a:prstGeom prst="roundRect">
            <a:avLst>
              <a:gd name="adj" fmla="val 50000"/>
            </a:avLst>
          </a:prstGeom>
          <a:solidFill>
            <a:srgbClr val="EFECE2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6886575" y="1419225"/>
            <a:ext cx="4019550" cy="7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B7A5E"/>
              </a:gs>
              <a:gs pos="100000">
                <a:srgbClr val="2FA37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886575" y="1571625"/>
            <a:ext cx="4562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训练收敛曲线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886575" y="1743075"/>
            <a:ext cx="4562475" cy="76200"/>
          </a:xfrm>
          <a:prstGeom prst="roundRect">
            <a:avLst>
              <a:gd name="adj" fmla="val 50000"/>
            </a:avLst>
          </a:prstGeom>
          <a:solidFill>
            <a:srgbClr val="EFECE2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886575" y="1743075"/>
            <a:ext cx="3467100" cy="7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B7A5E"/>
              </a:gs>
              <a:gs pos="100000">
                <a:srgbClr val="C2762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86575" y="1895475"/>
            <a:ext cx="4562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混淆矩阵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886575" y="2066925"/>
            <a:ext cx="4562475" cy="76200"/>
          </a:xfrm>
          <a:prstGeom prst="roundRect">
            <a:avLst>
              <a:gd name="adj" fmla="val 50000"/>
            </a:avLst>
          </a:prstGeom>
          <a:solidFill>
            <a:srgbClr val="EFECE2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886575" y="2066925"/>
            <a:ext cx="2924175" cy="7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B7A5E"/>
              </a:gs>
              <a:gs pos="100000">
                <a:srgbClr val="2FA37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886575" y="2219325"/>
            <a:ext cx="4562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CitationGraph3D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力导向引用星系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886575" y="2390775"/>
            <a:ext cx="4562475" cy="76200"/>
          </a:xfrm>
          <a:prstGeom prst="roundRect">
            <a:avLst>
              <a:gd name="adj" fmla="val 50000"/>
            </a:avLst>
          </a:prstGeom>
          <a:solidFill>
            <a:srgbClr val="EFECE2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6886575" y="2390775"/>
            <a:ext cx="4381500" cy="7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B7A5E"/>
              </a:gs>
              <a:gs pos="100000">
                <a:srgbClr val="C2762B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886575" y="2543175"/>
            <a:ext cx="4562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五维评审雷达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GPU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环形仪表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886575" y="2714625"/>
            <a:ext cx="4562475" cy="76200"/>
          </a:xfrm>
          <a:prstGeom prst="roundRect">
            <a:avLst>
              <a:gd name="adj" fmla="val 50000"/>
            </a:avLst>
          </a:prstGeom>
          <a:solidFill>
            <a:srgbClr val="EFECE2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886575" y="2714625"/>
            <a:ext cx="3743325" cy="76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B7A5E"/>
              </a:gs>
              <a:gs pos="100000">
                <a:srgbClr val="2FA37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715125" y="4876800"/>
            <a:ext cx="4905375" cy="457200"/>
          </a:xfrm>
          <a:prstGeom prst="roundRect">
            <a:avLst>
              <a:gd name="adj" fmla="val 25000"/>
            </a:avLst>
          </a:prstGeom>
          <a:solidFill>
            <a:srgbClr val="E3F1EA"/>
          </a:solidFill>
          <a:ln w="12700">
            <a:solidFill>
              <a:srgbClr val="CDE4D8"/>
            </a:solidFill>
            <a:prstDash val="solid"/>
          </a:ln>
        </p:spPr>
        <p:txBody>
          <a:bodyPr/>
          <a:p/>
        </p:txBody>
      </p:sp>
      <p:pic>
        <p:nvPicPr>
          <p:cNvPr id="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867525" y="5010150"/>
            <a:ext cx="190500" cy="190500"/>
          </a:xfrm>
          <a:prstGeom prst="rect">
            <a:avLst/>
          </a:prstGeom>
          <a:ln/>
        </p:spPr>
      </p:pic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153275" y="4991100"/>
            <a:ext cx="32099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34038"/>
                </a:solidFill>
                <a:latin typeface="Microsoft YaHei"/>
                <a:ea typeface="Microsoft YaHei"/>
              </a:rPr>
              <a:t>九大界面移动端全面适配，弹窗自动下沉为</a:t>
            </a:r>
            <a:r>
              <a:rPr lang="en-US" sz="975">
                <a:solidFill>
                  <a:srgbClr val="234038"/>
                </a:solidFill>
                <a:latin typeface="Microsoft YaHei"/>
                <a:ea typeface="Microsoft YaHei"/>
              </a:rPr>
              <a:t xml:space="preserve"> Bottom Sheet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71500" y="5495925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1229975" y="5495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14 / 22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4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3 · 后端服务&lt;/Text&gt;&lt;/Box&gt;&#10;        &lt;Text style={{ fontSize: 13, color: '#8A948D' }}&gt;API · 数据库 · 安全治理&lt;/Text&gt;&#10;      &lt;/Box&gt;&#10;      &lt;Text style={{ fontSize: 27, fontWeight: 'bold', color: '#1F2A26', fontFamily: 'Noto Serif SC, Georgia, serif', marginTop: 4 }}&gt;40+ RESTful API · 七大业务域 · 契约即文档&lt;/Text&gt;&#10;    &lt;/Box&gt;&#10;  &lt;/Box&gt;&#10;  &lt;Box style={{ flexDirection: 'row', padding: '4px 60px 0', height: 478, gap: 24 }}&gt;&#10;    {/* 左：API 域 */}&#10;    &lt;Box style={{ flex: 1.25, flexDirection: 'column', gap: 10 }}&gt;&#10;      &lt;Box style={{ background: '#FFFFFF', borderRadius: 12, border: '1px solid #E6E2D6', padding: '14px 18px', boxShadow: '0 2px 10px rgba(0,0,0,0.05)', flexDirection: 'column', gap: 7 }}&gt;&#10;        {[&#10;          { ic: 'lock', t: '认证与用户', r: 'login / register / refresh / logout / profile' },&#10;          { ic: 'robot', t: '模型管理', r: '内置模型列表 · 自定义模型接入 · 连通性测试' },&#10;          { ic: 'comments', t: '对话工作台', r: 'chat/completions（SSE 流式）· 会话历史 · Skills/MCP' },&#10;          { ic: 'book-open', t: '文献研读', r: '多源检索 · 文档解析 · 思维导图 · RAG 问答 · 引用图谱' },&#10;          { ic: 'flask', t: '科研实验', r: '实验方案 · GPU 节点 · SOTA 榜单 · 图表生成与解读' },&#10;          { ic: 'redo', t: '论文复现', r: 'DreamPaper 模板库 · 复现任务编排 · 质量评分' },&#10;          { ic: 'paper-plane', t: '投稿与评审', r: 'CCF 期刊 · 倒计时 · 期刊匹配 · PPT 生成 · 评审团' },&#10;        ].map((d, i) =&gt; (&#10;          &lt;Box key={i} style={{ flexDirection: 'row', alignItems: 'center', gap: 10, padding: '6px 8px', background: i % 2 ? '#FAF8F2' : '#FFFFFF', borderRadius: 7 }}&gt;&#10;            &lt;FAIcon name={d.ic} style={{ fill: '#1B7A5E', width: 15, height: 15 }} /&gt;&#10;            &lt;Text style={{ fontSize: 13.5, fontWeight: 'bold', color: '#1F2A26', width: 92, flexShrink: 0 }}&gt;{d.t}&lt;/Text&gt;&#10;            &lt;Text style={{ fontSize: 11.5, color: '#4A554F', fontFamily: 'Consolas, monospace', flex: 1 }}&gt;{d.r}&lt;/Text&gt;&#10;          &lt;/Box&gt;&#10;        ))}&#10;      &lt;/Box&gt;&#10;      {/* 统一响应协议代码块 */}&#10;      &lt;Box style={{ background: '#122019', borderRadius: 12, padding: '12px 16px', flexDirection: 'column' }}&gt;&#10;        &lt;Box style={{ flexDirection: 'row', gap: 6, marginBottom: 6 }}&gt;&#10;          &lt;Box style={{ width: 9, height: 9, borderRadius: '50%', background: '#D9534F' }} /&gt;&#10;          &lt;Box style={{ width: 9, height: 9, borderRadius: '50%', background: '#F0C419' }} /&gt;&#10;          &lt;Box style={{ width: 9, height: 9, borderRadius: '50%', background: '#2FA37E' }} /&gt;&#10;          &lt;Text style={{ fontSize: 10.5, color: 'rgba(255,255,255,0.5)', marginLeft: 6, fontFamily: 'Consolas, monospace' }}&gt;统一响应协议 · 400xx/401xx/500xx/600xx 错误码分级&lt;/Text&gt;&#10;        &lt;/Box&gt;&#10;        &lt;Text style={{ fontSize: 12.5, color: '#B7E4C7', fontFamily: 'Consolas, monospace', lineHeight: 1.55 }}&gt;&#10;          {'{ &quot;code&quot;: 0, &quot;message&quot;: &quot;ok&quot;,'}&lt;br /&gt;{'  &quot;data&quot;: { }, &quot;timestamp&quot;: &quot;2026-10-03T12:00:00Z&quot; }'}&#10;        &lt;/Text&gt;&#10;      &lt;/Box&gt;&#10;    &lt;/Box&gt;&#10;    {/* 右：数据与治理 */}&#10;    &lt;Box style={{ flex: 1, flexDirection: 'column', gap: 12 }}&gt;&#10;      &lt;Box style={{ background: '#FFFFFF', borderRadius: 12, border: '1px solid #E6E2D6', padding: '14px 18px', boxShadow: '0 2px 10px rgba(0,0,0,0.05)' }}&gt;&#10;        &lt;Box style={{ flexDirection: 'row', alignItems: 'center', gap: 8, marginBottom: 8 }}&gt;&#10;          &lt;FAIcon name=&quot;database&quot; style={{ fill: '#1B7A5E', width: 17, height: 17 }} /&gt;&#10;          &lt;Text style={{ fontSize: 15.5, fontWeight: 'bold', color: '#1F2A26', fontFamily: 'Noto Serif SC, Georgia, serif' }}&gt;数据模型&lt;/Text&gt;&#10;        &lt;/Box&gt;&#10;        &lt;Text style={{ fontSize: 12.5, color: '#4A554F', lineHeight: 1.7 }}&gt;&#10;          用户 / 项目 / 会话 / 文献 / 实验 / 图表 / 期刊 / 订单 &lt;span style={{ fontWeight: 'bold', color: '#1B7A5E' }}&gt;八大实体&lt;/span&gt;&lt;br /&gt;&#10;          个人 → 课题组 → 机构 多级隔离 · 预置学术演示数据集&lt;br /&gt;&#10;          演示态 JSON Store → 目标态 PostgreSQL 16 + Redis 7 + 向量库&#10;        &lt;/Text&gt;&#10;      &lt;/Box&gt;&#10;      &lt;Box style={{ background: '#FFFFFF', borderRadius: 12, border: '1px solid #E6E2D6', padding: '14px 18px', boxShadow: '0 2px 10px rgba(0,0,0,0.05)', flex: 1 }}&gt;&#10;        &lt;Box style={{ flexDirection: 'row', alignItems: 'center', gap: 8, marginBottom: 8 }}&gt;&#10;          &lt;FAIcon name=&quot;shield-alt&quot; style={{ fill: '#C2762B', width: 17, height: 17 }} /&gt;&#10;          &lt;Text style={{ fontSize: 15.5, fontWeight: 'bold', color: '#1F2A26', fontFamily: 'Noto Serif SC, Georgia, serif' }}&gt;安全治理四件套&lt;/Text&gt;&#10;        &lt;/Box&gt;&#10;        &lt;Box style={{ flexDirection: 'column', gap: 7 }}&gt;&#10;          {[&#10;            'HMAC-SHA256 无状态签名令牌（Access 7 天 / Refresh 30 天），适配 Serverless 多实例',&#10;            '进程内滑动窗口限流：对话 30 次/分 · 写作文献 60 次/分',&#10;            'X-Request-Id 全链路追踪 + 分级错误码体系',&#10;            '智能端口自愈：EADDRINUSE 自动递增 + Vite 代理热发现',&#10;          ].map((t, i) =&gt; (&#10;            &lt;Box key={i} style={{ flexDirection: 'row', gap: 8, alignItems: 'flex-start' }}&gt;&#10;              &lt;FAIcon name=&quot;check-circle&quot; style={{ fill: '#1B7A5E', width: 13, height: 13 }} /&gt;&#10;              &lt;Text style={{ fontSize: 12, color: '#4A554F', lineHeight: 1.55, flex: 1 }}&gt;{t}&lt;/Text&gt;&#10;            &lt;/Box&gt;&#10;          ))}&#10;        &lt;/Box&gt;&#10;        &lt;Box style={{ marginTop: 10, padding: '8px 10px', background: '#E3F1EA', borderRadius: 8, borderLeft: '3px solid #1B7A5E' }}&gt;&#10;          &lt;Text style={{ fontSize: 11.5, color: '#234038', lineHeight: 1.55 }}&gt;&lt;span style={{ fontWeight: 'bold' }}&gt;⚡ 工程细节亮点：&lt;/span&gt;SSE 7 类标准事件前后端逐字渲染一致；多格式文档解析引擎 PDF / Word / Markdown / CAJ 零依赖解析。&lt;/Text&gt;&#10;        &lt;/Box&gt;&#10;      &lt;/Box&gt;&#10;    &lt;/Box&gt;&#10;  &lt;/Box&gt;&#10;  &lt;Box style={{ flexDirection: 'row', justifyContent: 'space-between', alignItems: 'center', padding: '0 60px', height: 40, marginTop: 4 }}&gt;&#10;    &lt;Text style={{ fontSize: 12, color: '#8A948D' }}&gt;ScienceX · AI 科研工作台&lt;/Text&gt;&#10;    &lt;Text style={{ fontSize: 12, color: '#8A948D' }}&gt;15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742950" y="17145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03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后端服务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2085975" y="200025"/>
            <a:ext cx="1276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API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数据库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安全治理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52578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40+ RESTful API ·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七大业务域</a:t>
            </a: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·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契约即文档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571500" y="819150"/>
            <a:ext cx="6010275" cy="2600325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742950" y="952500"/>
            <a:ext cx="5667375" cy="276225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019175"/>
            <a:ext cx="142875" cy="142875"/>
          </a:xfrm>
          <a:prstGeom prst="rect">
            <a:avLst/>
          </a:prstGeom>
          <a:ln/>
        </p:spPr>
      </p:pic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057275" y="10096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认证与用户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2028825" y="1028700"/>
            <a:ext cx="430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>login / register / refresh / logout / profile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742950" y="1295400"/>
            <a:ext cx="5667375" cy="276225"/>
          </a:xfrm>
          <a:prstGeom prst="roundRect">
            <a:avLst>
              <a:gd name="adj" fmla="val 24138"/>
            </a:avLst>
          </a:prstGeom>
          <a:solidFill>
            <a:srgbClr val="FAF8F2"/>
          </a:solidFill>
          <a:ln/>
        </p:spPr>
        <p:txBody>
          <a:bodyPr/>
          <a:p/>
        </p:txBody>
      </p:sp>
      <p:pic>
        <p:nvPicPr>
          <p:cNvPr id="2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1362075"/>
            <a:ext cx="142875" cy="142875"/>
          </a:xfrm>
          <a:prstGeom prst="rect">
            <a:avLst/>
          </a:prstGeom>
          <a:ln/>
        </p:spPr>
      </p:pic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057275" y="13525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模型管理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2028825" y="1371600"/>
            <a:ext cx="430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内置模型列表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自定义模型接入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连通性测试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742950" y="1638300"/>
            <a:ext cx="5667375" cy="276225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9150" y="1704975"/>
            <a:ext cx="142875" cy="142875"/>
          </a:xfrm>
          <a:prstGeom prst="rect">
            <a:avLst/>
          </a:prstGeom>
          <a:ln/>
        </p:spPr>
      </p:pic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57275" y="16954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对话工作台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2028825" y="1714500"/>
            <a:ext cx="430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>chat/completions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（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SSE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流式）·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会话历史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Skills/MCP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42950" y="1981200"/>
            <a:ext cx="5667375" cy="276225"/>
          </a:xfrm>
          <a:prstGeom prst="roundRect">
            <a:avLst>
              <a:gd name="adj" fmla="val 24138"/>
            </a:avLst>
          </a:prstGeom>
          <a:solidFill>
            <a:srgbClr val="FAF8F2"/>
          </a:solidFill>
          <a:ln/>
        </p:spPr>
        <p:txBody>
          <a:bodyPr/>
          <a:p/>
        </p:txBody>
      </p:sp>
      <p:pic>
        <p:nvPicPr>
          <p:cNvPr id="2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9150" y="2047875"/>
            <a:ext cx="142875" cy="142875"/>
          </a:xfrm>
          <a:prstGeom prst="rect">
            <a:avLst/>
          </a:prstGeom>
          <a:ln/>
        </p:spPr>
      </p:pic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057275" y="20383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文献研读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2028825" y="2057400"/>
            <a:ext cx="430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多源检索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文档解析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思维导图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RAG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问答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引用图谱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42950" y="2324100"/>
            <a:ext cx="5667375" cy="276225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19150" y="2390775"/>
            <a:ext cx="142875" cy="142875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57275" y="23812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科研实验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2028825" y="2400300"/>
            <a:ext cx="430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实验方案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GPU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节点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SOTA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榜单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图表生成与解读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742950" y="2667000"/>
            <a:ext cx="5667375" cy="276225"/>
          </a:xfrm>
          <a:prstGeom prst="roundRect">
            <a:avLst>
              <a:gd name="adj" fmla="val 24138"/>
            </a:avLst>
          </a:prstGeom>
          <a:solidFill>
            <a:srgbClr val="FAF8F2"/>
          </a:solidFill>
          <a:ln/>
        </p:spPr>
        <p:txBody>
          <a:bodyPr/>
          <a:p/>
        </p:txBody>
      </p:sp>
      <p:pic>
        <p:nvPicPr>
          <p:cNvPr id="2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19150" y="2733675"/>
            <a:ext cx="142875" cy="142875"/>
          </a:xfrm>
          <a:prstGeom prst="rect">
            <a:avLst/>
          </a:prstGeom>
          <a:ln/>
        </p:spPr>
      </p:pic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57275" y="27241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论文复现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2028825" y="2743200"/>
            <a:ext cx="430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DreamPaper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模板库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复现任务编排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质量评分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742950" y="3009900"/>
            <a:ext cx="5667375" cy="276225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819150" y="3076575"/>
            <a:ext cx="142875" cy="142875"/>
          </a:xfrm>
          <a:prstGeom prst="rect">
            <a:avLst/>
          </a:prstGeom>
          <a:ln/>
        </p:spPr>
      </p:pic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57275" y="30670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F2A26"/>
                </a:solidFill>
                <a:latin typeface="Microsoft YaHei"/>
                <a:ea typeface="Microsoft YaHei"/>
              </a:rPr>
              <a:t>投稿与评审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2028825" y="3086100"/>
            <a:ext cx="430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CCF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期刊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倒计时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期刊匹配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PPT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生成</a:t>
            </a:r>
            <a:r>
              <a:rPr lang="en-US" sz="863">
                <a:solidFill>
                  <a:srgbClr val="4A554F"/>
                </a:solidFill>
                <a:latin typeface="Consolas"/>
                <a:ea typeface="Consolas"/>
              </a:rPr>
              <a:t xml:space="preserve"> · </a:t>
            </a:r>
            <a:r>
              <a:rPr lang="zh-CN" sz="863">
                <a:solidFill>
                  <a:srgbClr val="4A554F"/>
                </a:solidFill>
                <a:latin typeface="Consolas"/>
                <a:ea typeface="Consolas"/>
              </a:rPr>
              <a:t>评审团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71500" y="3514725"/>
            <a:ext cx="6010275" cy="857250"/>
          </a:xfrm>
          <a:prstGeom prst="roundRect">
            <a:avLst>
              <a:gd name="adj" fmla="val 13333"/>
            </a:avLst>
          </a:prstGeom>
          <a:solidFill>
            <a:srgbClr val="122019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723900" y="3629025"/>
            <a:ext cx="85725" cy="85725"/>
          </a:xfrm>
          <a:custGeom>
            <a:pathLst>
              <a:path w="9" h="9">
                <a:moveTo>
                  <a:pt x="5" y="0"/>
                </a:moveTo>
                <a:lnTo>
                  <a:pt x="5" y="0"/>
                </a:lnTo>
                <a:cubicBezTo>
                  <a:pt x="7" y="0"/>
                  <a:pt x="9" y="2"/>
                  <a:pt x="9" y="5"/>
                </a:cubicBezTo>
                <a:lnTo>
                  <a:pt x="9" y="5"/>
                </a:lnTo>
                <a:cubicBezTo>
                  <a:pt x="9" y="7"/>
                  <a:pt x="7" y="9"/>
                  <a:pt x="5" y="9"/>
                </a:cubicBezTo>
                <a:lnTo>
                  <a:pt x="5" y="9"/>
                </a:lnTo>
                <a:cubicBezTo>
                  <a:pt x="2" y="9"/>
                  <a:pt x="0" y="7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866775" y="3629025"/>
            <a:ext cx="85725" cy="85725"/>
          </a:xfrm>
          <a:custGeom>
            <a:pathLst>
              <a:path w="9" h="9">
                <a:moveTo>
                  <a:pt x="5" y="0"/>
                </a:moveTo>
                <a:lnTo>
                  <a:pt x="5" y="0"/>
                </a:lnTo>
                <a:cubicBezTo>
                  <a:pt x="7" y="0"/>
                  <a:pt x="9" y="2"/>
                  <a:pt x="9" y="5"/>
                </a:cubicBezTo>
                <a:lnTo>
                  <a:pt x="9" y="5"/>
                </a:lnTo>
                <a:cubicBezTo>
                  <a:pt x="9" y="7"/>
                  <a:pt x="7" y="9"/>
                  <a:pt x="5" y="9"/>
                </a:cubicBezTo>
                <a:lnTo>
                  <a:pt x="5" y="9"/>
                </a:lnTo>
                <a:cubicBezTo>
                  <a:pt x="2" y="9"/>
                  <a:pt x="0" y="7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0C419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1009650" y="3629025"/>
            <a:ext cx="85725" cy="85725"/>
          </a:xfrm>
          <a:custGeom>
            <a:pathLst>
              <a:path w="9" h="9">
                <a:moveTo>
                  <a:pt x="5" y="0"/>
                </a:moveTo>
                <a:lnTo>
                  <a:pt x="5" y="0"/>
                </a:lnTo>
                <a:cubicBezTo>
                  <a:pt x="7" y="0"/>
                  <a:pt x="9" y="2"/>
                  <a:pt x="9" y="5"/>
                </a:cubicBezTo>
                <a:lnTo>
                  <a:pt x="9" y="5"/>
                </a:lnTo>
                <a:cubicBezTo>
                  <a:pt x="9" y="7"/>
                  <a:pt x="7" y="9"/>
                  <a:pt x="5" y="9"/>
                </a:cubicBezTo>
                <a:lnTo>
                  <a:pt x="5" y="9"/>
                </a:lnTo>
                <a:cubicBezTo>
                  <a:pt x="2" y="9"/>
                  <a:pt x="0" y="7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FA37E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209675" y="3629025"/>
            <a:ext cx="2590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FFFFF">
                    <a:alpha val="50000"/>
                  </a:srgbClr>
                </a:solidFill>
                <a:latin typeface="Consolas"/>
                <a:ea typeface="Consolas"/>
              </a:rPr>
              <a:t>统一响应协议</a:t>
            </a:r>
            <a:r>
              <a:rPr lang="en-US" sz="788">
                <a:solidFill>
                  <a:srgbClr val="FFFFFF">
                    <a:alpha val="50000"/>
                  </a:srgbClr>
                </a:solidFill>
                <a:latin typeface="Consolas"/>
                <a:ea typeface="Consolas"/>
              </a:rPr>
              <a:t xml:space="preserve"> · 400xx/401xx/500xx/600xx </a:t>
            </a:r>
            <a:r>
              <a:rPr lang="zh-CN" sz="788">
                <a:solidFill>
                  <a:srgbClr val="FFFFFF">
                    <a:alpha val="50000"/>
                  </a:srgbClr>
                </a:solidFill>
                <a:latin typeface="Consolas"/>
                <a:ea typeface="Consolas"/>
              </a:rPr>
              <a:t>错误码分级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23900" y="3810000"/>
            <a:ext cx="5705475" cy="4476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>
                <a:solidFill>
                  <a:srgbClr val="B7E4C7"/>
                </a:solidFill>
                <a:latin typeface="Consolas"/>
                <a:ea typeface="Consolas"/>
              </a:rPr>
              <a:t>{ "code": 0, "message": "ok",</a:t>
            </a:r>
            <a:endParaRPr/>
          </a:p>
          <a:p>
            <a:pPr>
              <a:lnSpc>
                <a:spcPct val="155000"/>
              </a:lnSpc>
            </a:pPr>
            <a:r>
              <a:rPr lang="en-US" sz="938">
                <a:solidFill>
                  <a:srgbClr val="B7E4C7"/>
                </a:solidFill>
                <a:latin typeface="Consolas"/>
                <a:ea typeface="Consolas"/>
              </a:rPr>
              <a:t xml:space="preserve">  "data": { }, "timestamp": "2026-10-03T12:00:00Z" }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810375" y="819150"/>
            <a:ext cx="4810125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6981825" y="962025"/>
            <a:ext cx="161925" cy="161925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219950" y="952500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F2A26"/>
                </a:solidFill>
                <a:latin typeface="Noto Serif SC"/>
                <a:ea typeface="Noto Serif SC"/>
              </a:rPr>
              <a:t>数据模型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981825" y="1209675"/>
            <a:ext cx="4467225" cy="733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用户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项目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会话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文献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实验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图表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期刊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订单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>
                <a:solidFill>
                  <a:srgbClr val="1B7A5E"/>
                </a:solidFill>
                <a:latin typeface="Microsoft YaHei"/>
                <a:ea typeface="Microsoft YaHei"/>
              </a:rPr>
              <a:t>八大实体</a:t>
            </a:r>
            <a:endParaRPr/>
          </a:p>
          <a:p>
            <a:pPr>
              <a:lnSpc>
                <a:spcPct val="17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个人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课题组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机构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多级隔离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预置学术演示数据集</a:t>
            </a:r>
            <a:endParaRPr/>
          </a:p>
          <a:p>
            <a:pPr>
              <a:lnSpc>
                <a:spcPct val="170000"/>
              </a:lnSpc>
            </a:pP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演示态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JSON Store →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目标态</a:t>
            </a:r>
            <a:r>
              <a:rPr lang="en-US" sz="938">
                <a:solidFill>
                  <a:srgbClr val="4A554F"/>
                </a:solidFill>
                <a:latin typeface="Microsoft YaHei"/>
                <a:ea typeface="Microsoft YaHei"/>
              </a:rPr>
              <a:t xml:space="preserve"> PostgreSQL 16 + Redis 7 + </a:t>
            </a:r>
            <a:r>
              <a:rPr lang="zh-CN" sz="938">
                <a:solidFill>
                  <a:srgbClr val="4A554F"/>
                </a:solidFill>
                <a:latin typeface="Microsoft YaHei"/>
                <a:ea typeface="Microsoft YaHei"/>
              </a:rPr>
              <a:t>向量库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810375" y="2190750"/>
            <a:ext cx="4810125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pic>
        <p:nvPicPr>
          <p:cNvPr id="3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6981825" y="2333625"/>
            <a:ext cx="161925" cy="161925"/>
          </a:xfrm>
          <a:prstGeom prst="rect">
            <a:avLst/>
          </a:prstGeom>
          <a:ln/>
        </p:spPr>
      </p:pic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219950" y="2324100"/>
            <a:ext cx="10382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1F2A26"/>
                </a:solidFill>
                <a:latin typeface="Noto Serif SC"/>
                <a:ea typeface="Noto Serif SC"/>
              </a:rPr>
              <a:t>安全治理四件套</a:t>
            </a:r>
            <a:endParaRPr/>
          </a:p>
        </p:txBody>
      </p:sp>
      <p:pic>
        <p:nvPicPr>
          <p:cNvPr id="3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6981825" y="2581275"/>
            <a:ext cx="123825" cy="123825"/>
          </a:xfrm>
          <a:prstGeom prst="rect">
            <a:avLst/>
          </a:prstGeom>
          <a:ln/>
        </p:spPr>
      </p:pic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181850" y="2581275"/>
            <a:ext cx="42672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HMAC-SHA256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无状态签名令牌（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Access 7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天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/ Refresh 30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天），适配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Serverless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多实例</a:t>
            </a:r>
            <a:endParaRPr/>
          </a:p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6981825" y="3076575"/>
            <a:ext cx="123825" cy="123825"/>
          </a:xfrm>
          <a:prstGeom prst="rect">
            <a:avLst/>
          </a:prstGeom>
          <a:ln/>
        </p:spPr>
      </p:pic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181850" y="3076575"/>
            <a:ext cx="42672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进程内滑动窗口限流：对话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次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写作文献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次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pic>
        <p:nvPicPr>
          <p:cNvPr id="3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6981825" y="3362325"/>
            <a:ext cx="123825" cy="123825"/>
          </a:xfrm>
          <a:prstGeom prst="rect">
            <a:avLst/>
          </a:prstGeom>
          <a:ln/>
        </p:spPr>
      </p:pic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181850" y="3362325"/>
            <a:ext cx="42672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X-Request-Id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全链路追踪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分级错误码体系</a:t>
            </a:r>
            <a:endParaRPr/>
          </a:p>
        </p:txBody>
      </p:sp>
      <p:pic>
        <p:nvPicPr>
          <p:cNvPr id="3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6981825" y="3648075"/>
            <a:ext cx="123825" cy="123825"/>
          </a:xfrm>
          <a:prstGeom prst="rect">
            <a:avLst/>
          </a:prstGeom>
          <a:ln/>
        </p:spPr>
      </p:pic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181850" y="3648075"/>
            <a:ext cx="42672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智能端口自愈：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EADDRINUSE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自动递增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+ Vite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代理热发现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7010400" y="3962400"/>
            <a:ext cx="4467225" cy="561975"/>
          </a:xfrm>
          <a:prstGeom prst="roundRect">
            <a:avLst>
              <a:gd name="adj" fmla="val 13559"/>
            </a:avLst>
          </a:prstGeom>
          <a:solidFill>
            <a:srgbClr val="E3F1EA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7010400" y="3962400"/>
            <a:ext cx="4467225" cy="561975"/>
          </a:xfrm>
          <a:custGeom>
            <a:pathLst>
              <a:path w="469" h="59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4"/>
                </a:lnTo>
                <a:cubicBezTo>
                  <a:pt x="3" y="56"/>
                  <a:pt x="5" y="58"/>
                  <a:pt x="7" y="59"/>
                </a:cubicBezTo>
                <a:cubicBezTo>
                  <a:pt x="3" y="58"/>
                  <a:pt x="0" y="55"/>
                  <a:pt x="0" y="51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105650" y="4038600"/>
            <a:ext cx="42481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863" b="1">
                <a:solidFill>
                  <a:srgbClr val="234038"/>
                </a:solidFill>
                <a:latin typeface="Microsoft YaHei"/>
                <a:ea typeface="Microsoft YaHei"/>
              </a:rPr>
              <a:t xml:space="preserve">⚡ </a:t>
            </a:r>
            <a:r>
              <a:rPr lang="zh-CN" sz="863" b="1">
                <a:solidFill>
                  <a:srgbClr val="234038"/>
                </a:solidFill>
                <a:latin typeface="Microsoft YaHei"/>
                <a:ea typeface="Microsoft YaHei"/>
              </a:rPr>
              <a:t>工程细节亮点：</a:t>
            </a:r>
            <a:r>
              <a:rPr lang="en-US" sz="863">
                <a:solidFill>
                  <a:srgbClr val="234038"/>
                </a:solidFill>
                <a:latin typeface="Microsoft YaHei"/>
                <a:ea typeface="Microsoft YaHei"/>
              </a:rPr>
              <a:t xml:space="preserve">SSE 7 </a:t>
            </a:r>
            <a:r>
              <a:rPr lang="zh-CN" sz="863">
                <a:solidFill>
                  <a:srgbClr val="234038"/>
                </a:solidFill>
                <a:latin typeface="Microsoft YaHei"/>
                <a:ea typeface="Microsoft YaHei"/>
              </a:rPr>
              <a:t>类标准事件前后端逐字渲染一致；多格式文档解析引擎</a:t>
            </a:r>
            <a:r>
              <a:rPr lang="en-US" sz="863">
                <a:solidFill>
                  <a:srgbClr val="234038"/>
                </a:solidFill>
                <a:latin typeface="Microsoft YaHei"/>
                <a:ea typeface="Microsoft YaHei"/>
              </a:rPr>
              <a:t xml:space="preserve"> PDF / Word / Markdown / CAJ </a:t>
            </a:r>
            <a:r>
              <a:rPr lang="zh-CN" sz="863">
                <a:solidFill>
                  <a:srgbClr val="234038"/>
                </a:solidFill>
                <a:latin typeface="Microsoft YaHei"/>
                <a:ea typeface="Microsoft YaHei"/>
              </a:rPr>
              <a:t>零依赖解析。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71500" y="5495925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229975" y="549592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15 / 22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6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C2762B', borderRadius: 4, padding: '3px 10px' }}&gt;&lt;Text style={{ fontSize: 12, color: '#FFFFFF', fontWeight: 600 }}&gt;PART 03 · AI 能力&lt;/Text&gt;&lt;/Box&gt;&#10;        &lt;Text style={{ fontSize: 13, color: '#8A948D' }}&gt;模型 / RAG 检索 / Agent 工作流程&lt;/Text&gt;&#10;      &lt;/Box&gt;&#10;      &lt;Text style={{ fontSize: 27, fontWeight: 'bold', color: '#1F2A26', fontFamily: 'Noto Serif SC, Georgia, serif', marginTop: 4 }}&gt;灵犀引擎：模型中立 · 检索增强 · 多智能体编排&lt;/Text&gt;&#10;    &lt;/Box&gt;&#10;  &lt;/Box&gt;&#10;  &lt;Box style={{ padding: '2px 60px 0', height: 470, flexDirection: 'column', gap: 10 }}&gt;&#10;    {/* 顶段：模型矩阵 */}&#10;    &lt;Box style={{ flexDirection: 'row', gap: 10 }}&gt;&#10;      {[&#10;        { n: 'DeepSeek V4.1 Flash', s: '内置默认 · 极速', c: '#1B7A5E', f: true },&#10;        { n: 'GPT-4o', s: '通用最强', c: '#4A5568', f: false },&#10;        { n: 'Claude 3.7', s: '长文写作', c: '#4A5568', f: false },&#10;        { n: 'Gemini 2.0 Flash', s: '1M 上下文', c: '#4A5568', f: false },&#10;        { n: 'Qwen-Max', s: '中文优化', c: '#4A5568', f: false },&#10;        { n: '自定义模型', s: 'OpenAI 兼容', c: '#C2762B', f: false },&#10;      ].map((m, i) =&gt; (&#10;        &lt;Box key={i} style={{ flex: 1, background: m.f ? '#1B7A5E' : '#FFFFFF', border: `1px solid ${m.f ? '#1B7A5E' : '#DCD8CC'}`, borderRadius: 10, padding: '7px 6px', alignItems: 'center' }}&gt;&#10;          &lt;Text style={{ fontSize: 11.5, fontWeight: 'bold', color: m.f ? '#FFFFFF' : '#1F2A26', textAlign: 'center' }}&gt;{m.n}&lt;/Text&gt;&#10;          &lt;Text style={{ fontSize: 10, color: m.f ? 'rgba(255,255,255,0.8)' : '#8A948D', marginTop: 1, textAlign: 'center' }}&gt;{m.s}&lt;/Text&gt;&#10;        &lt;/Box&gt;&#10;      ))}&#10;    &lt;/Box&gt;&#10;    {/* 中段：RAG 检索增强管线（横向五节点） */}&#10;      &lt;Box style={{ background: '#FFFFFF', borderRadius: 12, border: '1px solid #E6E2D6', padding: '10px 18px', boxShadow: '0 2px 10px rgba(0,0,0,0.05)' }}&gt;&#10;      &lt;Text style={{ fontSize: 14, fontWeight: 'bold', color: '#1F2A26', fontFamily: 'Noto Serif SC, Georgia, serif', marginBottom: 8 }}&gt;RAG 检索增强管线&lt;/Text&gt;&#10;      &lt;Box style={{ flexDirection: 'row', alignItems: 'stretch', justifyContent: 'space-between' }}&gt;&#10;        {[&#10;          { ic: 'file-alt', t: '文档解析', d: 'PDF/Word/CAJ/MD 零依赖' },&#10;          { ic: 'cut', t: '文本切片', d: '版面感知结构切分' },&#10;          { ic: 'square-root-alt', t: '向量化', d: 'Embedding（pgvector）' },&#10;          { ic: 'bullseye', t: '精排召回', d: 'Rerank + 确定性兜底' },&#10;          { ic: 'comment-dots', t: '溯源生成', d: '标注 [p.4 §3.2] 定位' },&#10;        ].map((s, i) =&gt; (&#10;          &lt;Box key={i} style={{ flexDirection: 'row', alignItems: 'center', flex: 1 }}&gt;&#10;            &lt;Box style={{ flex: 1, alignItems: 'center', gap: 4 }}&gt;&#10;              &lt;Box style={{ width: 36, height: 36, borderRadius: '50%', background: '#E3F1EA', justifyContent: 'center', alignItems: 'center', border: '2px solid #CDE4D8' }}&gt;&#10;                &lt;FAIcon name={s.ic} style={{ fill: '#1B7A5E', width: 16, height: 16 }} /&gt;&#10;              &lt;/Box&gt;&#10;              &lt;Text style={{ fontSize: 12, fontWeight: 'bold', color: '#1F2A26', textAlign: 'center' }}&gt;{s.t}&lt;/Text&gt;&#10;              &lt;Text style={{ fontSize: 9.5, color: '#8A948D', textAlign: 'center', lineHeight: 1.3, padding: '0 4px' }}&gt;{s.d}&lt;/Text&gt;&#10;            &lt;/Box&gt;&#10;            {i &lt; 4 &amp;&amp; &lt;Box style={{ width: 20, height: 2, background: '#1B7A5E', opacity: 0.5, flexShrink: 0 }} /&gt;}&#10;          &lt;/Box&gt;&#10;        ))}&#10;      &lt;/Box&gt;&#10;    &lt;/Box&gt;&#10;    {/* 底段：Agent 工作流 */}&#10;    &lt;Box style={{ flexDirection: 'row', gap: 16, flex: 1 }}&gt;&#10;      &lt;Box style={{ flex: 1, background: '#FFFFFF', borderRadius: 12, border: '1px solid #E6E2D6', padding: '12px 16px', boxShadow: '0 2px 10px rgba(0,0,0,0.05)' }}&gt;&#10;        &lt;Text style={{ fontSize: 13.5, fontWeight: 'bold', color: '#1F2A26', fontFamily: 'Noto Serif SC, Georgia, serif', marginBottom: 6 }}&gt;8 类编排模式&lt;/Text&gt;&#10;        &lt;Box style={{ flexDirection: 'column', gap: 3 }}&gt;&#10;          {[&#10;            ['🧠', 'General 通用对话'], ['🔍', 'ReAct 链式推演'], ['📋', 'Plan-Execute 规划流'], ['💻', 'CodeAct 代码沙箱'],&#10;            ['🌐', 'MCP 学术工具检索'], ['🎯', 'Skill 技能调用'], ['🔢', 'Text2SQL 数据查询'], ['📦', 'Structured 结构化输出'],&#10;          ].map((m, i) =&gt; (&#10;            &lt;Text key={i} style={{ fontSize: 11.5, color: '#4A554F', lineHeight: 1.4 }}&gt;{m[0]} {m[1]}&lt;/Text&gt;&#10;          ))}&#10;        &lt;/Box&gt;&#10;      &lt;/Box&gt;&#10;      {/* 终端窗：SSE 事件时序 */}&#10;      &lt;Box style={{ flex: 1.1, background: '#122019', borderRadius: 12, padding: '12px 16px', flexDirection: 'column' }}&gt;&#10;        &lt;Box style={{ flexDirection: 'row', gap: 6, marginBottom: 8, alignItems: 'center' }}&gt;&#10;          &lt;Box style={{ width: 9, height: 9, borderRadius: '50%', background: '#D9534F' }} /&gt;&#10;          &lt;Box style={{ width: 9, height: 9, borderRadius: '50%', background: '#F0C419' }} /&gt;&#10;          &lt;Box style={{ width: 9, height: 9, borderRadius: '50%', background: '#2FA37E' }} /&gt;&#10;          &lt;Text style={{ fontSize: 11, color: 'rgba(255,255,255,0.55)', marginLeft: 6, fontFamily: 'Consolas, monospace' }}&gt;一次 Plan-Execute 对话的真实 SSE 事件流&lt;/Text&gt;&#10;        &lt;/Box&gt;&#10;        &lt;Box style={{ flexDirection: 'column', gap: 3 }}&gt;&#10;          {[&#10;            ['plan', '输出 4 步规划看板', '#F0C419'],&#10;            ['tool_call', '调用 arxiv_search', '#B7E4C7'],&#10;            ['delta', '正文逐字打字机输出', '#FFFFFF'],&#10;            ['memory_injected', '注入课题组三层记忆', '#C5A3FF'],&#10;            ['done', '交付汇总报告', '#2FA37E'],&#10;          ].map((e, i) =&gt; (&#10;            &lt;Box key={i} style={{ flexDirection: 'row', alignItems: 'baseline', gap: 8 }}&gt;&#10;              &lt;Text style={{ fontSize: 11, color: e[2], fontFamily: 'Consolas, monospace', fontWeight: 600, width: 102, flexShrink: 0 }}&gt;event: {e[0]}&lt;/Text&gt;&#10;              &lt;Text style={{ fontSize: 10.5, color: 'rgba(255,255,255,0.78)', fontFamily: 'Consolas, monospace' }}&gt;→ {e[1]}&lt;/Text&gt;&#10;            &lt;/Box&gt;&#10;          ))}&#10;        &lt;/Box&gt;&#10;      &lt;/Box&gt;&#10;    &lt;/Box&gt;&#10;    {/* 记忆引擎条 */}&#10;    &lt;Box style={{ background: '#FAF0E1', borderRadius: 10, border: '1px solid #EFDDC0', padding: '8px 16px', flexDirection: 'row', alignItems: 'center', gap: 12 }}&gt;&#10;      &lt;FAIcon name=&quot;brain&quot; style={{ fill: '#C2762B', width: 18, height: 18 }} /&gt;&#10;      &lt;Text style={{ fontSize: 12, color: '#4A3A22', lineHeight: 1.5 }}&gt;&lt;span style={{ fontWeight: 'bold', color: '#7A4E14' }}&gt;三层记忆引擎：&lt;/span&gt;短期会话 RAM → 滚动摘要 → 长期事实库（基线/协议/目标期刊），跨会话延续科研上下文。&lt;/Text&gt;&#10;    &lt;/Box&gt;&#10;  &lt;/Box&gt;&#10;  &lt;Box style={{ flexDirection: 'row', justifyContent: 'space-between', alignItems: 'center', padding: '0 60px', height: 34, marginTop: 0 }}&gt;&#10;    &lt;Text style={{ fontSize: 12, color: '#8A948D' }}&gt;ScienceX · AI 科研工作台&lt;/Text&gt;&#10;    &lt;Text style={{ fontSize: 12, color: '#8A948D' }}&gt;16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742950" y="171450"/>
            <a:ext cx="1181100" cy="200025"/>
          </a:xfrm>
          <a:prstGeom prst="roundRect">
            <a:avLst>
              <a:gd name="adj" fmla="val 19048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990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03 · AI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2019300" y="200025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模型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/ RAG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检索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/ Agent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工作流程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53244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灵犀引擎：模型中立</a:t>
            </a: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·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检索增强</a:t>
            </a: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·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多智能体编排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71500" y="800100"/>
            <a:ext cx="1762125" cy="390525"/>
          </a:xfrm>
          <a:prstGeom prst="roundRect">
            <a:avLst>
              <a:gd name="adj" fmla="val 24390"/>
            </a:avLst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85825" y="866775"/>
            <a:ext cx="1143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DeepSeek V4.1 Flash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123950" y="1009650"/>
            <a:ext cx="6572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内置默认</a:t>
            </a:r>
            <a:r>
              <a:rPr lang="en-US" sz="7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极速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2428875" y="800100"/>
            <a:ext cx="176212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DCD8CC"/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3105150" y="866775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63" b="1">
                <a:solidFill>
                  <a:srgbClr val="1F2A26"/>
                </a:solidFill>
                <a:latin typeface="Microsoft YaHei"/>
                <a:ea typeface="Microsoft YaHei"/>
              </a:rPr>
              <a:t>GPT-4o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3124200" y="1009650"/>
            <a:ext cx="38100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948D"/>
                </a:solidFill>
                <a:latin typeface="Microsoft YaHei"/>
                <a:ea typeface="Microsoft YaHei"/>
              </a:rPr>
              <a:t>通用最强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286250" y="800100"/>
            <a:ext cx="176212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DCD8CC"/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876800" y="866775"/>
            <a:ext cx="58102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63" b="1">
                <a:solidFill>
                  <a:srgbClr val="1F2A26"/>
                </a:solidFill>
                <a:latin typeface="Microsoft YaHei"/>
                <a:ea typeface="Microsoft YaHei"/>
              </a:rPr>
              <a:t>Claude 3.7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981575" y="1009650"/>
            <a:ext cx="38100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948D"/>
                </a:solidFill>
                <a:latin typeface="Microsoft YaHei"/>
                <a:ea typeface="Microsoft YaHei"/>
              </a:rPr>
              <a:t>长文写作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143625" y="800100"/>
            <a:ext cx="176212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DCD8CC"/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572250" y="866775"/>
            <a:ext cx="904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63" b="1">
                <a:solidFill>
                  <a:srgbClr val="1F2A26"/>
                </a:solidFill>
                <a:latin typeface="Microsoft YaHei"/>
                <a:ea typeface="Microsoft YaHei"/>
              </a:rPr>
              <a:t>Gemini 2.0 Flash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791325" y="1009650"/>
            <a:ext cx="46672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8A948D"/>
                </a:solidFill>
                <a:latin typeface="Microsoft YaHei"/>
                <a:ea typeface="Microsoft YaHei"/>
              </a:rPr>
              <a:t xml:space="preserve">1M </a:t>
            </a:r>
            <a:r>
              <a:rPr lang="zh-CN" sz="750">
                <a:solidFill>
                  <a:srgbClr val="8A948D"/>
                </a:solidFill>
                <a:latin typeface="Microsoft YaHei"/>
                <a:ea typeface="Microsoft YaHei"/>
              </a:rPr>
              <a:t>上下文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001000" y="800100"/>
            <a:ext cx="176212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DCD8CC"/>
            </a:solidFill>
            <a:prstDash val="solid"/>
          </a:ln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582025" y="866775"/>
            <a:ext cx="6096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63" b="1">
                <a:solidFill>
                  <a:srgbClr val="1F2A26"/>
                </a:solidFill>
                <a:latin typeface="Microsoft YaHei"/>
                <a:ea typeface="Microsoft YaHei"/>
              </a:rPr>
              <a:t>Qwen-Max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696325" y="1009650"/>
            <a:ext cx="38100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948D"/>
                </a:solidFill>
                <a:latin typeface="Microsoft YaHei"/>
                <a:ea typeface="Microsoft YaHei"/>
              </a:rPr>
              <a:t>中文优化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9858375" y="800100"/>
            <a:ext cx="1762125" cy="390525"/>
          </a:xfrm>
          <a:prstGeom prst="roundRect">
            <a:avLst>
              <a:gd name="adj" fmla="val 24390"/>
            </a:avLst>
          </a:prstGeom>
          <a:solidFill>
            <a:srgbClr val="FFFFFF"/>
          </a:solidFill>
          <a:ln w="12700">
            <a:solidFill>
              <a:srgbClr val="DCD8CC"/>
            </a:solidFill>
            <a:prstDash val="solid"/>
          </a:ln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0467975" y="866775"/>
            <a:ext cx="55245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63" b="1">
                <a:solidFill>
                  <a:srgbClr val="1F2A26"/>
                </a:solidFill>
                <a:latin typeface="Microsoft YaHei"/>
                <a:ea typeface="Microsoft YaHei"/>
              </a:rPr>
              <a:t>自定义模型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0458450" y="1009650"/>
            <a:ext cx="57150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8A948D"/>
                </a:solidFill>
                <a:latin typeface="Microsoft YaHei"/>
                <a:ea typeface="Microsoft YaHei"/>
              </a:rPr>
              <a:t xml:space="preserve">OpenAI </a:t>
            </a:r>
            <a:r>
              <a:rPr lang="zh-CN" sz="750">
                <a:solidFill>
                  <a:srgbClr val="8A948D"/>
                </a:solidFill>
                <a:latin typeface="Microsoft YaHei"/>
                <a:ea typeface="Microsoft YaHei"/>
              </a:rPr>
              <a:t>兼容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571500" y="1285875"/>
            <a:ext cx="110490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42950" y="1381125"/>
            <a:ext cx="10706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F2A26"/>
                </a:solidFill>
                <a:latin typeface="Noto Serif SC"/>
                <a:ea typeface="Noto Serif SC"/>
              </a:rPr>
              <a:t xml:space="preserve">RAG </a:t>
            </a:r>
            <a:r>
              <a:rPr lang="zh-CN" sz="1050" b="1">
                <a:solidFill>
                  <a:srgbClr val="1F2A26"/>
                </a:solidFill>
                <a:latin typeface="Noto Serif SC"/>
                <a:ea typeface="Noto Serif SC"/>
              </a:rPr>
              <a:t>检索增强管线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1552575" y="1619250"/>
            <a:ext cx="342900" cy="342900"/>
          </a:xfrm>
          <a:custGeom>
            <a:pathLst>
              <a:path w="36" h="36">
                <a:moveTo>
                  <a:pt x="18" y="0"/>
                </a:moveTo>
                <a:lnTo>
                  <a:pt x="18" y="0"/>
                </a:lnTo>
                <a:cubicBezTo>
                  <a:pt x="28" y="0"/>
                  <a:pt x="36" y="8"/>
                  <a:pt x="36" y="18"/>
                </a:cubicBezTo>
                <a:lnTo>
                  <a:pt x="36" y="18"/>
                </a:lnTo>
                <a:cubicBezTo>
                  <a:pt x="36" y="28"/>
                  <a:pt x="28" y="36"/>
                  <a:pt x="18" y="36"/>
                </a:cubicBezTo>
                <a:lnTo>
                  <a:pt x="18" y="36"/>
                </a:lnTo>
                <a:cubicBezTo>
                  <a:pt x="8" y="36"/>
                  <a:pt x="0" y="28"/>
                  <a:pt x="0" y="18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close/>
              </a:path>
            </a:pathLst>
          </a:custGeom>
          <a:solidFill>
            <a:srgbClr val="E3F1EA"/>
          </a:solidFill>
          <a:ln w="25400">
            <a:solidFill>
              <a:srgbClr val="CDE4D8"/>
            </a:solidFill>
            <a:prstDash val="solid"/>
          </a:ln>
        </p:spPr>
        <p:txBody>
          <a:bodyPr/>
          <a:p/>
        </p:txBody>
      </p:sp>
      <p:pic>
        <p:nvPicPr>
          <p:cNvPr id="3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47825" y="1714500"/>
            <a:ext cx="152400" cy="152400"/>
          </a:xfrm>
          <a:prstGeom prst="rect">
            <a:avLst/>
          </a:prstGeom>
          <a:ln/>
        </p:spPr>
      </p:pic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495425" y="2000250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1F2A26"/>
                </a:solidFill>
                <a:latin typeface="Microsoft YaHei"/>
                <a:ea typeface="Microsoft YaHei"/>
              </a:rPr>
              <a:t>文档解析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04900" y="2181225"/>
            <a:ext cx="1228725" cy="142875"/>
          </a:xfrm>
          <a:prstGeom prst="rect"/>
        </p:spPr>
        <p:txBody>
          <a:bodyPr wrap="none" lIns="28575" tIns="0" rIns="28575" bIns="0"/>
          <a:p>
            <a:pPr algn="ctr">
              <a:lnSpc>
                <a:spcPct val="130000"/>
              </a:lnSpc>
            </a:pPr>
            <a:r>
              <a:rPr lang="en-US" sz="713">
                <a:solidFill>
                  <a:srgbClr val="8A948D"/>
                </a:solidFill>
                <a:latin typeface="Microsoft YaHei"/>
                <a:ea typeface="Microsoft YaHei"/>
              </a:rPr>
              <a:t xml:space="preserve">PDF/Word/CAJ/MD </a:t>
            </a:r>
            <a:r>
              <a:rPr lang="zh-CN" sz="713">
                <a:solidFill>
                  <a:srgbClr val="8A948D"/>
                </a:solidFill>
                <a:latin typeface="Microsoft YaHei"/>
                <a:ea typeface="Microsoft YaHei"/>
              </a:rPr>
              <a:t>零依赖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3695700" y="1619250"/>
            <a:ext cx="342900" cy="342900"/>
          </a:xfrm>
          <a:custGeom>
            <a:pathLst>
              <a:path w="36" h="36">
                <a:moveTo>
                  <a:pt x="18" y="0"/>
                </a:moveTo>
                <a:lnTo>
                  <a:pt x="18" y="0"/>
                </a:lnTo>
                <a:cubicBezTo>
                  <a:pt x="28" y="0"/>
                  <a:pt x="36" y="8"/>
                  <a:pt x="36" y="18"/>
                </a:cubicBezTo>
                <a:lnTo>
                  <a:pt x="36" y="18"/>
                </a:lnTo>
                <a:cubicBezTo>
                  <a:pt x="36" y="28"/>
                  <a:pt x="28" y="36"/>
                  <a:pt x="18" y="36"/>
                </a:cubicBezTo>
                <a:lnTo>
                  <a:pt x="18" y="36"/>
                </a:lnTo>
                <a:cubicBezTo>
                  <a:pt x="8" y="36"/>
                  <a:pt x="0" y="28"/>
                  <a:pt x="0" y="18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close/>
              </a:path>
            </a:pathLst>
          </a:custGeom>
          <a:solidFill>
            <a:srgbClr val="E3F1EA"/>
          </a:solidFill>
          <a:ln w="25400">
            <a:solidFill>
              <a:srgbClr val="CDE4D8"/>
            </a:solidFill>
            <a:prstDash val="solid"/>
          </a:ln>
        </p:spPr>
        <p:txBody>
          <a:bodyPr/>
          <a:p/>
        </p:txBody>
      </p:sp>
      <p:pic>
        <p:nvPicPr>
          <p:cNvPr id="3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90950" y="1714500"/>
            <a:ext cx="152400" cy="152400"/>
          </a:xfrm>
          <a:prstGeom prst="rect">
            <a:avLst/>
          </a:prstGeom>
          <a:ln/>
        </p:spPr>
      </p:pic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638550" y="2000250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1F2A26"/>
                </a:solidFill>
                <a:latin typeface="Microsoft YaHei"/>
                <a:ea typeface="Microsoft YaHei"/>
              </a:rPr>
              <a:t>文本切片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467100" y="2181225"/>
            <a:ext cx="800100" cy="142875"/>
          </a:xfrm>
          <a:prstGeom prst="rect"/>
        </p:spPr>
        <p:txBody>
          <a:bodyPr wrap="none" lIns="28575" tIns="0" rIns="28575" bIns="0"/>
          <a:p>
            <a:pPr algn="ctr">
              <a:lnSpc>
                <a:spcPct val="130000"/>
              </a:lnSpc>
            </a:pPr>
            <a:r>
              <a:rPr lang="zh-CN" sz="713">
                <a:solidFill>
                  <a:srgbClr val="8A948D"/>
                </a:solidFill>
                <a:latin typeface="Microsoft YaHei"/>
                <a:ea typeface="Microsoft YaHei"/>
              </a:rPr>
              <a:t>版面感知结构切分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5829300" y="1619250"/>
            <a:ext cx="342900" cy="342900"/>
          </a:xfrm>
          <a:custGeom>
            <a:pathLst>
              <a:path w="36" h="36">
                <a:moveTo>
                  <a:pt x="18" y="0"/>
                </a:moveTo>
                <a:lnTo>
                  <a:pt x="18" y="0"/>
                </a:lnTo>
                <a:cubicBezTo>
                  <a:pt x="28" y="0"/>
                  <a:pt x="36" y="8"/>
                  <a:pt x="36" y="18"/>
                </a:cubicBezTo>
                <a:lnTo>
                  <a:pt x="36" y="18"/>
                </a:lnTo>
                <a:cubicBezTo>
                  <a:pt x="36" y="28"/>
                  <a:pt x="28" y="36"/>
                  <a:pt x="18" y="36"/>
                </a:cubicBezTo>
                <a:lnTo>
                  <a:pt x="18" y="36"/>
                </a:lnTo>
                <a:cubicBezTo>
                  <a:pt x="8" y="36"/>
                  <a:pt x="0" y="28"/>
                  <a:pt x="0" y="18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close/>
              </a:path>
            </a:pathLst>
          </a:custGeom>
          <a:solidFill>
            <a:srgbClr val="E3F1EA"/>
          </a:solidFill>
          <a:ln w="25400">
            <a:solidFill>
              <a:srgbClr val="CDE4D8"/>
            </a:solidFill>
            <a:prstDash val="solid"/>
          </a:ln>
        </p:spPr>
        <p:txBody>
          <a:bodyPr/>
          <a:p/>
        </p:txBody>
      </p:sp>
      <p:pic>
        <p:nvPicPr>
          <p:cNvPr id="3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924550" y="1714500"/>
            <a:ext cx="152400" cy="152400"/>
          </a:xfrm>
          <a:prstGeom prst="rect">
            <a:avLst/>
          </a:prstGeom>
          <a:ln/>
        </p:spPr>
      </p:pic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829300" y="2000250"/>
            <a:ext cx="3429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1F2A26"/>
                </a:solidFill>
                <a:latin typeface="Microsoft YaHei"/>
                <a:ea typeface="Microsoft YaHei"/>
              </a:rPr>
              <a:t>向量化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429250" y="2181225"/>
            <a:ext cx="1143000" cy="142875"/>
          </a:xfrm>
          <a:prstGeom prst="rect"/>
        </p:spPr>
        <p:txBody>
          <a:bodyPr wrap="none" lIns="28575" tIns="0" rIns="28575" bIns="0"/>
          <a:p>
            <a:pPr algn="ctr">
              <a:lnSpc>
                <a:spcPct val="130000"/>
              </a:lnSpc>
            </a:pPr>
            <a:r>
              <a:rPr lang="en-US" sz="713">
                <a:solidFill>
                  <a:srgbClr val="8A948D"/>
                </a:solidFill>
                <a:latin typeface="Microsoft YaHei"/>
                <a:ea typeface="Microsoft YaHei"/>
              </a:rPr>
              <a:t>Embedding</a:t>
            </a:r>
            <a:r>
              <a:rPr lang="zh-CN" sz="713">
                <a:solidFill>
                  <a:srgbClr val="8A948D"/>
                </a:solidFill>
                <a:latin typeface="Microsoft YaHei"/>
                <a:ea typeface="Microsoft YaHei"/>
              </a:rPr>
              <a:t>（</a:t>
            </a:r>
            <a:r>
              <a:rPr lang="en-US" sz="713">
                <a:solidFill>
                  <a:srgbClr val="8A948D"/>
                </a:solidFill>
                <a:latin typeface="Microsoft YaHei"/>
                <a:ea typeface="Microsoft YaHei"/>
              </a:rPr>
              <a:t>pgvector</a:t>
            </a:r>
            <a:r>
              <a:rPr lang="zh-CN" sz="713">
                <a:solidFill>
                  <a:srgbClr val="8A948D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7972425" y="1619250"/>
            <a:ext cx="342900" cy="342900"/>
          </a:xfrm>
          <a:custGeom>
            <a:pathLst>
              <a:path w="36" h="36">
                <a:moveTo>
                  <a:pt x="18" y="0"/>
                </a:moveTo>
                <a:lnTo>
                  <a:pt x="18" y="0"/>
                </a:lnTo>
                <a:cubicBezTo>
                  <a:pt x="28" y="0"/>
                  <a:pt x="36" y="8"/>
                  <a:pt x="36" y="18"/>
                </a:cubicBezTo>
                <a:lnTo>
                  <a:pt x="36" y="18"/>
                </a:lnTo>
                <a:cubicBezTo>
                  <a:pt x="36" y="28"/>
                  <a:pt x="28" y="36"/>
                  <a:pt x="18" y="36"/>
                </a:cubicBezTo>
                <a:lnTo>
                  <a:pt x="18" y="36"/>
                </a:lnTo>
                <a:cubicBezTo>
                  <a:pt x="8" y="36"/>
                  <a:pt x="0" y="28"/>
                  <a:pt x="0" y="18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close/>
              </a:path>
            </a:pathLst>
          </a:custGeom>
          <a:solidFill>
            <a:srgbClr val="E3F1EA"/>
          </a:solidFill>
          <a:ln w="25400">
            <a:solidFill>
              <a:srgbClr val="CDE4D8"/>
            </a:solidFill>
            <a:prstDash val="solid"/>
          </a:ln>
        </p:spPr>
        <p:txBody>
          <a:bodyPr/>
          <a:p/>
        </p:txBody>
      </p:sp>
      <p:pic>
        <p:nvPicPr>
          <p:cNvPr id="3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067675" y="1714500"/>
            <a:ext cx="152400" cy="152400"/>
          </a:xfrm>
          <a:prstGeom prst="rect">
            <a:avLst/>
          </a:prstGeom>
          <a:ln/>
        </p:spPr>
      </p:pic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915275" y="2000250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1F2A26"/>
                </a:solidFill>
                <a:latin typeface="Microsoft YaHei"/>
                <a:ea typeface="Microsoft YaHei"/>
              </a:rPr>
              <a:t>精排召回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7667625" y="2181225"/>
            <a:ext cx="952500" cy="142875"/>
          </a:xfrm>
          <a:prstGeom prst="rect"/>
        </p:spPr>
        <p:txBody>
          <a:bodyPr wrap="none" lIns="28575" tIns="0" rIns="28575" bIns="0"/>
          <a:p>
            <a:pPr algn="ctr">
              <a:lnSpc>
                <a:spcPct val="130000"/>
              </a:lnSpc>
            </a:pPr>
            <a:r>
              <a:rPr lang="en-US" sz="713">
                <a:solidFill>
                  <a:srgbClr val="8A948D"/>
                </a:solidFill>
                <a:latin typeface="Microsoft YaHei"/>
                <a:ea typeface="Microsoft YaHei"/>
              </a:rPr>
              <a:t xml:space="preserve">Rerank + </a:t>
            </a:r>
            <a:r>
              <a:rPr lang="zh-CN" sz="713">
                <a:solidFill>
                  <a:srgbClr val="8A948D"/>
                </a:solidFill>
                <a:latin typeface="Microsoft YaHei"/>
                <a:ea typeface="Microsoft YaHei"/>
              </a:rPr>
              <a:t>确定性兜底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10210800" y="1619250"/>
            <a:ext cx="342900" cy="342900"/>
          </a:xfrm>
          <a:custGeom>
            <a:pathLst>
              <a:path w="36" h="36">
                <a:moveTo>
                  <a:pt x="18" y="0"/>
                </a:moveTo>
                <a:lnTo>
                  <a:pt x="18" y="0"/>
                </a:lnTo>
                <a:cubicBezTo>
                  <a:pt x="28" y="0"/>
                  <a:pt x="36" y="8"/>
                  <a:pt x="36" y="18"/>
                </a:cubicBezTo>
                <a:lnTo>
                  <a:pt x="36" y="18"/>
                </a:lnTo>
                <a:cubicBezTo>
                  <a:pt x="36" y="28"/>
                  <a:pt x="28" y="36"/>
                  <a:pt x="18" y="36"/>
                </a:cubicBezTo>
                <a:lnTo>
                  <a:pt x="18" y="36"/>
                </a:lnTo>
                <a:cubicBezTo>
                  <a:pt x="8" y="36"/>
                  <a:pt x="0" y="28"/>
                  <a:pt x="0" y="18"/>
                </a:cubicBezTo>
                <a:lnTo>
                  <a:pt x="0" y="18"/>
                </a:lnTo>
                <a:cubicBezTo>
                  <a:pt x="0" y="8"/>
                  <a:pt x="8" y="0"/>
                  <a:pt x="18" y="0"/>
                </a:cubicBezTo>
                <a:close/>
              </a:path>
            </a:pathLst>
          </a:custGeom>
          <a:solidFill>
            <a:srgbClr val="E3F1EA"/>
          </a:solidFill>
          <a:ln w="25400">
            <a:solidFill>
              <a:srgbClr val="CDE4D8"/>
            </a:solidFill>
            <a:prstDash val="solid"/>
          </a:ln>
        </p:spPr>
        <p:txBody>
          <a:bodyPr/>
          <a:p/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306050" y="1714500"/>
            <a:ext cx="152400" cy="152400"/>
          </a:xfrm>
          <a:prstGeom prst="rect">
            <a:avLst/>
          </a:prstGeom>
          <a:ln/>
        </p:spPr>
      </p:pic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0153650" y="2000250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1F2A26"/>
                </a:solidFill>
                <a:latin typeface="Microsoft YaHei"/>
                <a:ea typeface="Microsoft YaHei"/>
              </a:rPr>
              <a:t>溯源生成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9934575" y="2181225"/>
            <a:ext cx="885825" cy="142875"/>
          </a:xfrm>
          <a:prstGeom prst="rect"/>
        </p:spPr>
        <p:txBody>
          <a:bodyPr wrap="none" lIns="28575" tIns="0" rIns="28575" bIns="0"/>
          <a:p>
            <a:pPr algn="ctr">
              <a:lnSpc>
                <a:spcPct val="130000"/>
              </a:lnSpc>
            </a:pPr>
            <a:r>
              <a:rPr lang="zh-CN" sz="713">
                <a:solidFill>
                  <a:srgbClr val="8A948D"/>
                </a:solidFill>
                <a:latin typeface="Microsoft YaHei"/>
                <a:ea typeface="Microsoft YaHei"/>
              </a:rPr>
              <a:t>标注</a:t>
            </a:r>
            <a:r>
              <a:rPr lang="en-US" sz="713">
                <a:solidFill>
                  <a:srgbClr val="8A948D"/>
                </a:solidFill>
                <a:latin typeface="Microsoft YaHei"/>
                <a:ea typeface="Microsoft YaHei"/>
              </a:rPr>
              <a:t xml:space="preserve"> [p.4 §3.2] </a:t>
            </a:r>
            <a:r>
              <a:rPr lang="zh-CN" sz="713">
                <a:solidFill>
                  <a:srgbClr val="8A948D"/>
                </a:solidFill>
                <a:latin typeface="Microsoft YaHei"/>
                <a:ea typeface="Microsoft YaHei"/>
              </a:rPr>
              <a:t>定位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571500" y="2514600"/>
            <a:ext cx="519112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23900" y="2628900"/>
            <a:ext cx="488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1F2A26"/>
                </a:solidFill>
                <a:latin typeface="Noto Serif SC"/>
                <a:ea typeface="Noto Serif SC"/>
              </a:rPr>
              <a:t xml:space="preserve">8 </a:t>
            </a:r>
            <a:r>
              <a:rPr lang="zh-CN" sz="1013" b="1">
                <a:solidFill>
                  <a:srgbClr val="1F2A26"/>
                </a:solidFill>
                <a:latin typeface="Noto Serif SC"/>
                <a:ea typeface="Noto Serif SC"/>
              </a:rPr>
              <a:t>类编排模式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23900" y="2847975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863">
                <a:solidFill>
                  <a:srgbClr val="4A554F"/>
                </a:solidFill>
                <a:latin typeface="Microsoft YaHei"/>
                <a:ea typeface="Microsoft YaHei"/>
              </a:rPr>
              <a:t>🧠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General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通用对话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23900" y="3067050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863">
                <a:solidFill>
                  <a:srgbClr val="4A554F"/>
                </a:solidFill>
                <a:latin typeface="Microsoft YaHei"/>
                <a:ea typeface="Microsoft YaHei"/>
              </a:rPr>
              <a:t>🔍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链式推演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23900" y="3286125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863">
                <a:solidFill>
                  <a:srgbClr val="4A554F"/>
                </a:solidFill>
                <a:latin typeface="Microsoft YaHei"/>
                <a:ea typeface="Microsoft YaHei"/>
              </a:rPr>
              <a:t>📋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Plan-Execute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规划流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23900" y="3505200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863">
                <a:solidFill>
                  <a:srgbClr val="4A554F"/>
                </a:solidFill>
                <a:latin typeface="Microsoft YaHei"/>
                <a:ea typeface="Microsoft YaHei"/>
              </a:rPr>
              <a:t>💻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CodeAct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代码沙箱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23900" y="3724275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863">
                <a:solidFill>
                  <a:srgbClr val="4A554F"/>
                </a:solidFill>
                <a:latin typeface="Microsoft YaHei"/>
                <a:ea typeface="Microsoft YaHei"/>
              </a:rPr>
              <a:t>🌐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学术工具检索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723900" y="3943350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863">
                <a:solidFill>
                  <a:srgbClr val="4A554F"/>
                </a:solidFill>
                <a:latin typeface="Microsoft YaHei"/>
                <a:ea typeface="Microsoft YaHei"/>
              </a:rPr>
              <a:t>🎯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技能调用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723900" y="4162425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863">
                <a:solidFill>
                  <a:srgbClr val="4A554F"/>
                </a:solidFill>
                <a:latin typeface="Microsoft YaHei"/>
                <a:ea typeface="Microsoft YaHei"/>
              </a:rPr>
              <a:t>🔢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Text2SQL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数据查询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23900" y="4381500"/>
            <a:ext cx="488632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863">
                <a:solidFill>
                  <a:srgbClr val="4A554F"/>
                </a:solidFill>
                <a:latin typeface="Microsoft YaHei"/>
                <a:ea typeface="Microsoft YaHei"/>
              </a:rPr>
              <a:t>📦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Structured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5915025" y="2514600"/>
            <a:ext cx="5705475" cy="2286000"/>
          </a:xfrm>
          <a:prstGeom prst="roundRect">
            <a:avLst>
              <a:gd name="adj" fmla="val 5000"/>
            </a:avLst>
          </a:prstGeom>
          <a:solidFill>
            <a:srgbClr val="122019"/>
          </a:solidFill>
          <a:ln/>
        </p:spPr>
        <p:txBody>
          <a:bodyPr/>
          <a:p/>
        </p:txBody>
      </p:sp>
      <p:sp>
        <p:nvSpPr>
          <p:cNvPr id="384" name=""/>
          <p:cNvSpPr/>
          <p:nvPr/>
        </p:nvSpPr>
        <p:spPr>
          <a:xfrm rot="0" flipH="0" flipV="0">
            <a:off x="6067425" y="2657475"/>
            <a:ext cx="85725" cy="85725"/>
          </a:xfrm>
          <a:custGeom>
            <a:pathLst>
              <a:path w="9" h="9">
                <a:moveTo>
                  <a:pt x="5" y="0"/>
                </a:moveTo>
                <a:lnTo>
                  <a:pt x="5" y="0"/>
                </a:lnTo>
                <a:cubicBezTo>
                  <a:pt x="7" y="0"/>
                  <a:pt x="9" y="2"/>
                  <a:pt x="9" y="5"/>
                </a:cubicBezTo>
                <a:lnTo>
                  <a:pt x="9" y="5"/>
                </a:lnTo>
                <a:cubicBezTo>
                  <a:pt x="9" y="7"/>
                  <a:pt x="7" y="9"/>
                  <a:pt x="5" y="9"/>
                </a:cubicBezTo>
                <a:lnTo>
                  <a:pt x="5" y="9"/>
                </a:lnTo>
                <a:cubicBezTo>
                  <a:pt x="2" y="9"/>
                  <a:pt x="0" y="7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6210300" y="2657475"/>
            <a:ext cx="85725" cy="85725"/>
          </a:xfrm>
          <a:custGeom>
            <a:pathLst>
              <a:path w="9" h="9">
                <a:moveTo>
                  <a:pt x="5" y="0"/>
                </a:moveTo>
                <a:lnTo>
                  <a:pt x="5" y="0"/>
                </a:lnTo>
                <a:cubicBezTo>
                  <a:pt x="7" y="0"/>
                  <a:pt x="9" y="2"/>
                  <a:pt x="9" y="5"/>
                </a:cubicBezTo>
                <a:lnTo>
                  <a:pt x="9" y="5"/>
                </a:lnTo>
                <a:cubicBezTo>
                  <a:pt x="9" y="7"/>
                  <a:pt x="7" y="9"/>
                  <a:pt x="5" y="9"/>
                </a:cubicBezTo>
                <a:lnTo>
                  <a:pt x="5" y="9"/>
                </a:lnTo>
                <a:cubicBezTo>
                  <a:pt x="2" y="9"/>
                  <a:pt x="0" y="7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0C419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6353175" y="2657475"/>
            <a:ext cx="85725" cy="85725"/>
          </a:xfrm>
          <a:custGeom>
            <a:pathLst>
              <a:path w="9" h="9">
                <a:moveTo>
                  <a:pt x="5" y="0"/>
                </a:moveTo>
                <a:lnTo>
                  <a:pt x="5" y="0"/>
                </a:lnTo>
                <a:cubicBezTo>
                  <a:pt x="7" y="0"/>
                  <a:pt x="9" y="2"/>
                  <a:pt x="9" y="5"/>
                </a:cubicBezTo>
                <a:lnTo>
                  <a:pt x="9" y="5"/>
                </a:lnTo>
                <a:cubicBezTo>
                  <a:pt x="9" y="7"/>
                  <a:pt x="7" y="9"/>
                  <a:pt x="5" y="9"/>
                </a:cubicBezTo>
                <a:lnTo>
                  <a:pt x="5" y="9"/>
                </a:lnTo>
                <a:cubicBezTo>
                  <a:pt x="2" y="9"/>
                  <a:pt x="0" y="7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FA37E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2143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一次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 xml:space="preserve"> Plan-Execute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对话的真实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 xml:space="preserve"> SSE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事件流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067425" y="2838450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0C419"/>
                </a:solidFill>
                <a:latin typeface="Consolas"/>
                <a:ea typeface="Consolas"/>
              </a:rPr>
              <a:t xml:space="preserve">event: </a:t>
            </a:r>
            <a:r>
              <a:rPr lang="en-US" sz="825" b="1">
                <a:solidFill>
                  <a:srgbClr val="F0C419"/>
                </a:solidFill>
                <a:latin typeface="Consolas"/>
                <a:ea typeface="Consolas"/>
              </a:rPr>
              <a:t>plan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115175" y="2838450"/>
            <a:ext cx="981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 xml:space="preserve">→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>输出</a:t>
            </a:r>
            <a:r>
              <a:rPr lang="en-US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 xml:space="preserve"> 4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>步规划看板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067425" y="3000375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B7E4C7"/>
                </a:solidFill>
                <a:latin typeface="Consolas"/>
                <a:ea typeface="Consolas"/>
              </a:rPr>
              <a:t xml:space="preserve">event: </a:t>
            </a:r>
            <a:r>
              <a:rPr lang="en-US" sz="825" b="1">
                <a:solidFill>
                  <a:srgbClr val="B7E4C7"/>
                </a:solidFill>
                <a:latin typeface="Consolas"/>
                <a:ea typeface="Consolas"/>
              </a:rPr>
              <a:t>tool_call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115175" y="3000375"/>
            <a:ext cx="1028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 xml:space="preserve">→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>调用</a:t>
            </a:r>
            <a:r>
              <a:rPr lang="en-US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 xml:space="preserve"> arxiv_search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067425" y="3162300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Consolas"/>
                <a:ea typeface="Consolas"/>
              </a:rPr>
              <a:t xml:space="preserve">event: </a:t>
            </a:r>
            <a:r>
              <a:rPr lang="en-US" sz="825" b="1">
                <a:solidFill>
                  <a:srgbClr val="FFFFFF"/>
                </a:solidFill>
                <a:latin typeface="Consolas"/>
                <a:ea typeface="Consolas"/>
              </a:rPr>
              <a:t>delta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115175" y="3162300"/>
            <a:ext cx="1019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 xml:space="preserve">→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>正文逐字打字机输出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067425" y="3324225"/>
            <a:ext cx="971550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5A3FF"/>
                </a:solidFill>
                <a:latin typeface="Consolas"/>
                <a:ea typeface="Consolas"/>
              </a:rPr>
              <a:t xml:space="preserve">event: </a:t>
            </a:r>
            <a:r>
              <a:rPr lang="en-US" sz="825" b="1">
                <a:solidFill>
                  <a:srgbClr val="C5A3FF"/>
                </a:solidFill>
                <a:latin typeface="Consolas"/>
                <a:ea typeface="Consolas"/>
              </a:rPr>
              <a:t>memory_injected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115175" y="3324225"/>
            <a:ext cx="1019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 xml:space="preserve">→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>注入课题组三层记忆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067425" y="3609975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2FA37E"/>
                </a:solidFill>
                <a:latin typeface="Consolas"/>
                <a:ea typeface="Consolas"/>
              </a:rPr>
              <a:t xml:space="preserve">event: </a:t>
            </a:r>
            <a:r>
              <a:rPr lang="en-US" sz="825" b="1">
                <a:solidFill>
                  <a:srgbClr val="2FA37E"/>
                </a:solidFill>
                <a:latin typeface="Consolas"/>
                <a:ea typeface="Consolas"/>
              </a:rPr>
              <a:t>done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115175" y="3609975"/>
            <a:ext cx="714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 xml:space="preserve">→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Consolas"/>
                <a:ea typeface="Consolas"/>
              </a:rPr>
              <a:t>交付汇总报告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571500" y="4895850"/>
            <a:ext cx="11049000" cy="361950"/>
          </a:xfrm>
          <a:prstGeom prst="roundRect">
            <a:avLst>
              <a:gd name="adj" fmla="val 26316"/>
            </a:avLst>
          </a:prstGeom>
          <a:solidFill>
            <a:srgbClr val="FAF0E1"/>
          </a:solidFill>
          <a:ln w="12700">
            <a:solidFill>
              <a:srgbClr val="EFDDC0"/>
            </a:solidFill>
            <a:prstDash val="solid"/>
          </a:ln>
        </p:spPr>
        <p:txBody>
          <a:bodyPr/>
          <a:p/>
        </p:txBody>
      </p:sp>
      <p:pic>
        <p:nvPicPr>
          <p:cNvPr id="3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23900" y="4991100"/>
            <a:ext cx="171450" cy="171450"/>
          </a:xfrm>
          <a:prstGeom prst="rect">
            <a:avLst/>
          </a:prstGeom>
          <a:ln/>
        </p:spPr>
      </p:pic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009650" y="4972050"/>
            <a:ext cx="55721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7A4E14"/>
                </a:solidFill>
                <a:latin typeface="Microsoft YaHei"/>
                <a:ea typeface="Microsoft YaHei"/>
              </a:rPr>
              <a:t>三层记忆引擎：</a:t>
            </a:r>
            <a:r>
              <a:rPr lang="zh-CN" sz="900">
                <a:solidFill>
                  <a:srgbClr val="4A3A22"/>
                </a:solidFill>
                <a:latin typeface="Microsoft YaHei"/>
                <a:ea typeface="Microsoft YaHei"/>
              </a:rPr>
              <a:t>短期会话</a:t>
            </a:r>
            <a:r>
              <a:rPr lang="en-US" sz="900">
                <a:solidFill>
                  <a:srgbClr val="4A3A22"/>
                </a:solidFill>
                <a:latin typeface="Microsoft YaHei"/>
                <a:ea typeface="Microsoft YaHei"/>
              </a:rPr>
              <a:t xml:space="preserve"> RAM → </a:t>
            </a:r>
            <a:r>
              <a:rPr lang="zh-CN" sz="900">
                <a:solidFill>
                  <a:srgbClr val="4A3A22"/>
                </a:solidFill>
                <a:latin typeface="Microsoft YaHei"/>
                <a:ea typeface="Microsoft YaHei"/>
              </a:rPr>
              <a:t>滚动摘要</a:t>
            </a:r>
            <a:r>
              <a:rPr lang="en-US" sz="900">
                <a:solidFill>
                  <a:srgbClr val="4A3A22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4A3A22"/>
                </a:solidFill>
                <a:latin typeface="Microsoft YaHei"/>
                <a:ea typeface="Microsoft YaHei"/>
              </a:rPr>
              <a:t>长期事实库（基线</a:t>
            </a:r>
            <a:r>
              <a:rPr lang="en-US" sz="900">
                <a:solidFill>
                  <a:srgbClr val="4A3A22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3A22"/>
                </a:solidFill>
                <a:latin typeface="Microsoft YaHei"/>
                <a:ea typeface="Microsoft YaHei"/>
              </a:rPr>
              <a:t>协议</a:t>
            </a:r>
            <a:r>
              <a:rPr lang="en-US" sz="900">
                <a:solidFill>
                  <a:srgbClr val="4A3A22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3A22"/>
                </a:solidFill>
                <a:latin typeface="Microsoft YaHei"/>
                <a:ea typeface="Microsoft YaHei"/>
              </a:rPr>
              <a:t>目标期刊），跨会话延续科研上下文。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71500" y="535305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229975" y="53530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16 / 22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2695575" y="1962150"/>
            <a:ext cx="19050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4838700" y="1962150"/>
            <a:ext cx="19050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6972300" y="1962150"/>
            <a:ext cx="19050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9115425" y="1962150"/>
            <a:ext cx="190500" cy="19050"/>
          </a:xfrm>
          <a:prstGeom prst="rect">
            <a:avLst/>
          </a:prstGeom>
          <a:solidFill>
            <a:srgbClr val="1B7A5E">
              <a:alpha val="50000"/>
            </a:srgbClr>
          </a:solidFill>
          <a:ln/>
        </p:spPr>
        <p:txBody>
          <a:bodyPr/>
          <a:p/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07" name="" descr="&lt;Slide style={{ padding: 0, background: '#0E4A37' }}&gt;&#10;  &lt;Box style={{ width: '100%', height: '100%', position: 'relative', justifyContent: 'center', padding: '0 72px' }}&gt;&#10;    &lt;Box style={{ position: 'absolute', top: 0, left: 0, width: '100%', height: '100%', opacity: 0.05, background: 'linear-gradient(0deg, transparent 31px, #FFFFFF 32px), linear-gradient(90deg, transparent 31px, #FFFFFF 32px)', backgroundSize: '32px 32px' }} /&gt;&#10;    &lt;Text style={{ position: 'absolute', right: 64, bottom: 8, fontSize: 260, fontWeight: 'bold', color: '#C2762B', opacity: 0.12, fontFamily: 'Noto Serif SC, Georgia, serif', lineHeight: 1 }}&gt;04&lt;/Text&gt;&#10;    &lt;Box style={{ position: 'relative', zIndex: 1, gap: 22 }}&gt;&#10;      &lt;Text style={{ fontSize: 15, color: '#C2762B', letterSpacing: 5, fontWeight: 600 }}&gt;PART 04 · 商业模式及创新&lt;/Text&gt;&#10;      &lt;Text style={{ fontSize: 40, fontWeight: 'bold', color: '#FFFFFF', fontFamily: 'Noto Serif SC, Georgia, serif', lineHeight: 1.4 }}&gt;&#10;        让每一次研究进展，都成为可持续的价值。&lt;br /&gt;从一个人的灵感，到整个团队的突破，再到行业的效率革命。&#10;      &lt;/Text&gt;&#10;      &lt;Box style={{ width: 72, height: 4, background: '#C2762B', borderRadius: 2 }} /&gt;&#10;      &lt;Text style={{ fontSize: 16, color: 'rgba(255,255,255,0.72)', lineHeight: 1.8 }}&gt;成本 · 收益 · 市场 · 行业价值 · 公益计划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4A37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FFFFFF">
                  <a:alpha val="0"/>
                </a:srgbClr>
              </a:gs>
              <a:gs pos="32000">
                <a:srgbClr val="FFFFFF">
                  <a:alpha val="5000"/>
                </a:srgbClr>
              </a:gs>
            </a:gsLst>
            <a:lin ang="16200000" scaled="1"/>
          </a:gra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31000">
                <a:srgbClr val="FFFFFF">
                  <a:alpha val="0"/>
                </a:srgbClr>
              </a:gs>
              <a:gs pos="32000">
                <a:srgbClr val="FFFFFF">
                  <a:alpha val="5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229600" y="3810000"/>
            <a:ext cx="335280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C2762B">
                    <a:alpha val="12000"/>
                  </a:srgbClr>
                </a:solidFill>
                <a:latin typeface="Noto Serif SC"/>
                <a:ea typeface="Noto Serif SC"/>
              </a:rPr>
              <a:t>04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375">
                <a:solidFill>
                  <a:srgbClr val="C2762B"/>
                </a:solidFill>
                <a:latin typeface="Microsoft YaHei"/>
                <a:ea typeface="Microsoft YaHei"/>
              </a:rPr>
              <a:t xml:space="preserve">PART 04 · </a:t>
            </a:r>
            <a:r>
              <a:rPr lang="zh-CN" sz="1125" b="1" spc="375">
                <a:solidFill>
                  <a:srgbClr val="C2762B"/>
                </a:solidFill>
                <a:latin typeface="Microsoft YaHei"/>
                <a:ea typeface="Microsoft YaHei"/>
              </a:rPr>
              <a:t>商业模式及创新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85800" y="2581275"/>
            <a:ext cx="10820400" cy="12858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3000" b="1">
                <a:solidFill>
                  <a:srgbClr val="FFFFFF"/>
                </a:solidFill>
                <a:latin typeface="Noto Serif SC"/>
                <a:ea typeface="Noto Serif SC"/>
              </a:rPr>
              <a:t>让每一次研究进展，都成为可持续的价值。</a:t>
            </a:r>
            <a:endParaRPr/>
          </a:p>
          <a:p>
            <a:pPr>
              <a:lnSpc>
                <a:spcPct val="140000"/>
              </a:lnSpc>
            </a:pPr>
            <a:r>
              <a:rPr lang="zh-CN" sz="3000" b="1">
                <a:solidFill>
                  <a:srgbClr val="FFFFFF"/>
                </a:solidFill>
                <a:latin typeface="Noto Serif SC"/>
                <a:ea typeface="Noto Serif SC"/>
              </a:rPr>
              <a:t>从一个人的灵感，到整个团队的突破，再到行业的效率革命。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85800" y="40767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85800" y="43243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成本</a:t>
            </a:r>
            <a:r>
              <a:rPr lang="en-US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收益</a:t>
            </a:r>
            <a:r>
              <a:rPr lang="en-US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市场</a:t>
            </a:r>
            <a:r>
              <a:rPr lang="en-US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行业价值</a:t>
            </a:r>
            <a:r>
              <a:rPr lang="en-US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公益计划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16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4 · 商业模式&lt;/Text&gt;&lt;/Box&gt;&#10;        &lt;Text style={{ fontSize: 13, color: '#8A948D' }}&gt;成本 · 收益 · 市场 · 定价&lt;/Text&gt;&#10;      &lt;/Box&gt;&#10;      &lt;Text style={{ fontSize: 27, fontWeight: 'bold', color: '#1F2A26', fontFamily: 'Noto Serif SC, Georgia, serif', marginTop: 4 }}&gt;清晰的 LTV 结构：免费 → Pro → Team → 机构&lt;/Text&gt;&#10;    &lt;/Box&gt;&#10;  &lt;/Box&gt;&#10;  &lt;Box style={{ padding: '4px 60px 0', height: 478, flexDirection: 'column', gap: 12 }}&gt;&#10;    {/* 上层三列 */}&#10;    &lt;Box style={{ flexDirection: 'row', gap: 16 }}&gt;&#10;      {[&#10;        { ic: 'coins', t: '成本结构', c: '#C2762B', items: ['LLM 调用成本（弹性）：单轮对话 ≈ $0.015，七段总结 ≈ $0.075，综述生成 ≈ $0.005', '算力与存储（按量）', '模型路由降本：贵任务用 GPT-4o，批量任务用 Flash'] },&#10;        { ic: 'dollar-sign', t: '收益模型', c: '#1B7A5E', items: ['订阅制（主力收入）', 'API / 算力增值服务', '企业私有化部署', '生态分成（模型/插件）', '增值：深度查重 / 评审 / 综述'] },&#10;        { ic: 'chart-line', t: '市场空间', c: '#0E4A37', items: ['AI for Science 确定性高景气赛道', '全国在校研究生 365万+', '高校/院所/企业研发中心数十万家', '闭环平台粘性强，数据飞轮显著'] },&#10;      ].map((c, i) =&gt; (&#10;        &lt;Box key={i} style={{ flex: 1, background: '#FFFFFF', borderRadius: 12, border: '1px solid #E6E2D6', padding: '12px 16px', boxShadow: '0 2px 10px rgba(0,0,0,0.05)', borderTop: `4px solid ${c.c}` }}&gt;&#10;          &lt;Box style={{ flexDirection: 'row', alignItems: 'center', gap: 8, marginBottom: 7 }}&gt;&#10;            &lt;FAIcon name={c.ic} style={{ fill: c.c, width: 17, height: 17 }} /&gt;&#10;            &lt;Text style={{ fontSize: 16.5, fontWeight: 'bold', color: '#1F2A26', fontFamily: 'Noto Serif SC, Georgia, serif' }}&gt;{c.t}&lt;/Text&gt;&#10;          &lt;/Box&gt;&#10;          &lt;Box style={{ flexDirection: 'column', gap: 5 }}&gt;&#10;            {c.items.map((it, j) =&gt; (&#10;              &lt;Box key={j} style={{ flexDirection: 'row', gap: 6, alignItems: 'flex-start' }}&gt;&#10;                &lt;Box style={{ width: 4, height: 4, borderRadius: '50%', background: c.c, marginTop: 6, flexShrink: 0 }} /&gt;&#10;                &lt;Text style={{ fontSize: 12, color: '#4A554F', lineHeight: 1.5 }}&gt;{it}&lt;/Text&gt;&#10;              &lt;/Box&gt;&#10;            ))}&#10;          &lt;/Box&gt;&#10;        &lt;/Box&gt;&#10;      ))}&#10;    &lt;/Box&gt;&#10;    {/* 下层：四档定价阶梯 */}&#10;    &lt;Box style={{ flexDirection: 'row', gap: 14, flex: 1 }}&gt;&#10;      {[&#10;        { t: '🌱 探索版', p: 'FREE · ¥0', s: '永久免费', items: ['30 次/日 基础对话', '5 篇/月 文献分析', '基础润色翻译'], hi: false },&#10;        { t: '⭐ 科研进阶版', p: 'PRO · ¥19.9/月', s: '论文冲刺首选', items: ['无限对话交互', '三栏精读 + 引用图谱', '消融方案矩阵', '完整盲审 10 次/月', '查重降重 · PPTX 一键生成'], hi: true },&#10;        { t: '👥 课题组', p: 'TEAM · ¥299/月', s: '团队共享', items: ['15 席位团队成员', '共享 RAG 知识库', 'GPU 调度', '成果看板'], hi: false },&#10;        { t: '🏛️ 机构私有版', p: 'ENTERPRISE · 按需定制', s: '按年付费', items: ['单机/K8s 私有化部署', '本地模型集成', 'SSO + 审计', '定制 Agent'], hi: false },&#10;      ].map((pl, i) =&gt; (&#10;        &lt;Box key={i} style={{ flex: 1, background: pl.hi ? '#FFF9F0' : '#FFFFFF', borderRadius: 12, border: pl.hi ? '2px solid #C2762B' : '1px solid #E6E2D6', padding: '12px 14px', position: 'relative', boxShadow: pl.hi ? '0 8px 24px rgba(194,118,43,0.14)' : '0 2px 10px rgba(0,0,0,0.05)', flexDirection: 'column', gap: 6 }}&gt;&#10;          {pl.hi &amp;&amp; &lt;Box style={{ position: 'absolute', top: 6, right: 10, background: '#C2762B', borderRadius: 10, padding: '2px 12px' }}&gt;&lt;Text style={{ fontSize: 10.5, color: '#fff', fontWeight: 700 }}&gt;推荐方案&lt;/Text&gt;&lt;/Box&gt;}&#10;          &lt;Text style={{ fontSize: 15, fontWeight: 'bold', color: '#1F2A26', fontFamily: 'Noto Serif SC, Georgia, serif', marginTop: 4 }}&gt;{pl.t}&lt;/Text&gt;&#10;          &lt;Text style={{ fontSize: 13.5, fontWeight: 'bold', color: pl.hi ? '#C2762B' : '#1B7A5E', fontFamily: 'Consolas, monospace' }}&gt;{pl.p}&lt;/Text&gt;&#10;          &lt;Text style={{ fontSize: 10.5, color: '#8A948D' }}&gt;{pl.s}&lt;/Text&gt;&#10;          &lt;Box style={{ flexDirection: 'column', gap: 3, marginTop: 4 }}&gt;&#10;            {pl.items.map((it, j) =&gt; (&#10;              &lt;Box key={j} style={{ flexDirection: 'row', gap: 5, alignItems: 'flex-start' }}&gt;&#10;                &lt;FAIcon name=&quot;check&quot; style={{ fill: pl.hi ? '#C2762B' : '#1B7A5E', width: 11, height: 11 }} /&gt;&#10;                &lt;Text style={{ fontSize: 11, color: '#4A554F', lineHeight: 1.4 }}&gt;{it}&lt;/Text&gt;&#10;              &lt;/Box&gt;&#10;            ))}&#10;          &lt;/Box&gt;&#10;        &lt;/Box&gt;&#10;      ))}&#10;    &lt;/Box&gt;&#10;  &lt;/Box&gt;&#10;  &lt;Box style={{ flexDirection: 'row', justifyContent: 'space-between', alignItems: 'center', padding: '0 60px', height: 38, marginTop: 2 }}&gt;&#10;    &lt;Text style={{ fontSize: 12, color: '#8A948D' }}&gt;ScienceX · AI 科研工作台&lt;/Text&gt;&#10;    &lt;Text style={{ fontSize: 12, color: '#8A948D' }}&gt;18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742950" y="17145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04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商业模式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2085975" y="200025"/>
            <a:ext cx="1304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成本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收益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市场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定价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56292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清晰的</a:t>
            </a: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LTV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结构：免费</a:t>
            </a: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→ Pro → Team →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机构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571500" y="857250"/>
            <a:ext cx="35814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571500" y="857250"/>
            <a:ext cx="3581400" cy="1762125"/>
          </a:xfrm>
          <a:custGeom>
            <a:pathLst>
              <a:path w="376" h="185">
                <a:moveTo>
                  <a:pt x="365" y="0"/>
                </a:moveTo>
                <a:cubicBezTo>
                  <a:pt x="370" y="0"/>
                  <a:pt x="375" y="4"/>
                  <a:pt x="376" y="10"/>
                </a:cubicBezTo>
                <a:cubicBezTo>
                  <a:pt x="375" y="6"/>
                  <a:pt x="372" y="4"/>
                  <a:pt x="36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990600"/>
            <a:ext cx="161925" cy="161925"/>
          </a:xfrm>
          <a:prstGeom prst="rect">
            <a:avLst/>
          </a:prstGeom>
          <a:ln/>
        </p:spPr>
      </p:pic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962025" y="971550"/>
            <a:ext cx="628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F2A26"/>
                </a:solidFill>
                <a:latin typeface="Noto Serif SC"/>
                <a:ea typeface="Noto Serif SC"/>
              </a:rPr>
              <a:t>成本结构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723900" y="12858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19150" y="1228725"/>
            <a:ext cx="31813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调用成本（弹性）：单轮对话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≈ $0.015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，七段总结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≈ $0.075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，综述生成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≈ $0.005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723900" y="175260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算力与存储（按量）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723900" y="20097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C2762B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19150" y="1952625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模型路由降本：贵任务用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GPT-4o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，批量任务用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Flash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4305300" y="857250"/>
            <a:ext cx="35814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4305300" y="857250"/>
            <a:ext cx="3581400" cy="1762125"/>
          </a:xfrm>
          <a:custGeom>
            <a:pathLst>
              <a:path w="376" h="185">
                <a:moveTo>
                  <a:pt x="365" y="0"/>
                </a:moveTo>
                <a:cubicBezTo>
                  <a:pt x="370" y="0"/>
                  <a:pt x="375" y="4"/>
                  <a:pt x="376" y="10"/>
                </a:cubicBezTo>
                <a:cubicBezTo>
                  <a:pt x="375" y="6"/>
                  <a:pt x="372" y="4"/>
                  <a:pt x="36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pic>
        <p:nvPicPr>
          <p:cNvPr id="4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57700" y="990600"/>
            <a:ext cx="161925" cy="161925"/>
          </a:xfrm>
          <a:prstGeom prst="rect">
            <a:avLst/>
          </a:prstGeom>
          <a:ln/>
        </p:spPr>
      </p:pic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695825" y="971550"/>
            <a:ext cx="628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F2A26"/>
                </a:solidFill>
                <a:latin typeface="Noto Serif SC"/>
                <a:ea typeface="Noto Serif SC"/>
              </a:rPr>
              <a:t>收益模型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4457700" y="12858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552950" y="12287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订阅制（主力收入）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4457700" y="154305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552950" y="1485900"/>
            <a:ext cx="9906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API /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算力增值服务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4457700" y="180022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4552950" y="174307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企业私有化部署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4457700" y="205740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552950" y="20002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生态分成（模型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插件）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4457700" y="23145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552950" y="2257425"/>
            <a:ext cx="14954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增值：深度查重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评审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综述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8039100" y="857250"/>
            <a:ext cx="35814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8039100" y="857250"/>
            <a:ext cx="3581400" cy="1762125"/>
          </a:xfrm>
          <a:custGeom>
            <a:pathLst>
              <a:path w="376" h="185">
                <a:moveTo>
                  <a:pt x="365" y="0"/>
                </a:moveTo>
                <a:cubicBezTo>
                  <a:pt x="370" y="0"/>
                  <a:pt x="375" y="4"/>
                  <a:pt x="376" y="10"/>
                </a:cubicBezTo>
                <a:cubicBezTo>
                  <a:pt x="375" y="6"/>
                  <a:pt x="372" y="4"/>
                  <a:pt x="36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0E4A37"/>
          </a:solidFill>
          <a:ln/>
        </p:spPr>
        <p:txBody>
          <a:bodyPr/>
          <a:p/>
        </p:txBody>
      </p:sp>
      <p:pic>
        <p:nvPicPr>
          <p:cNvPr id="4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191500" y="990600"/>
            <a:ext cx="161925" cy="161925"/>
          </a:xfrm>
          <a:prstGeom prst="rect">
            <a:avLst/>
          </a:prstGeom>
          <a:ln/>
        </p:spPr>
      </p:pic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429625" y="971550"/>
            <a:ext cx="628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1F2A26"/>
                </a:solidFill>
                <a:latin typeface="Noto Serif SC"/>
                <a:ea typeface="Noto Serif SC"/>
              </a:rPr>
              <a:t>市场空间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191500" y="12858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0E4A37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286750" y="1228725"/>
            <a:ext cx="17049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AI for Science 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确定性高景气赛道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8191500" y="154305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0E4A37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286750" y="148590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全国在校研究生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 xml:space="preserve"> 365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万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8191500" y="180022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0E4A37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286750" y="1743075"/>
            <a:ext cx="170497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高校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院所</a:t>
            </a:r>
            <a:r>
              <a:rPr lang="en-US" sz="900">
                <a:solidFill>
                  <a:srgbClr val="4A554F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企业研发中心数十万家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8191500" y="205740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0E4A37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286750" y="2000250"/>
            <a:ext cx="1600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A554F"/>
                </a:solidFill>
                <a:latin typeface="Microsoft YaHei"/>
                <a:ea typeface="Microsoft YaHei"/>
              </a:rPr>
              <a:t>闭环平台粘性强，数据飞轮显著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571500" y="546735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229975" y="54673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18 / 22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571500" y="2695575"/>
            <a:ext cx="2667000" cy="2638425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704850" y="284797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🌱 </a:t>
            </a:r>
            <a:r>
              <a:rPr lang="zh-CN" sz="1125" b="1">
                <a:solidFill>
                  <a:srgbClr val="1F2A26"/>
                </a:solidFill>
                <a:latin typeface="Noto Serif SC"/>
                <a:ea typeface="Noto Serif SC"/>
              </a:rPr>
              <a:t>探索版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04850" y="30765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1B7A5E"/>
                </a:solidFill>
                <a:latin typeface="Consolas"/>
                <a:ea typeface="Consolas"/>
              </a:rPr>
              <a:t>FREE · ¥0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04850" y="3295650"/>
            <a:ext cx="2400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永久免费</a:t>
            </a:r>
            <a:endParaRPr/>
          </a:p>
        </p:txBody>
      </p:sp>
      <p:pic>
        <p:nvPicPr>
          <p:cNvPr id="4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4850" y="3514725"/>
            <a:ext cx="104775" cy="104775"/>
          </a:xfrm>
          <a:prstGeom prst="rect">
            <a:avLst/>
          </a:prstGeom>
          <a:ln/>
        </p:spPr>
      </p:pic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57250" y="3514725"/>
            <a:ext cx="8667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次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日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基础对话</a:t>
            </a:r>
            <a:endParaRPr/>
          </a:p>
        </p:txBody>
      </p:sp>
      <p:pic>
        <p:nvPicPr>
          <p:cNvPr id="4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4850" y="3724275"/>
            <a:ext cx="104775" cy="104775"/>
          </a:xfrm>
          <a:prstGeom prst="rect">
            <a:avLst/>
          </a:prstGeom>
          <a:ln/>
        </p:spPr>
      </p:pic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57250" y="3724275"/>
            <a:ext cx="8001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篇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月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文献分析</a:t>
            </a:r>
            <a:endParaRPr/>
          </a:p>
        </p:txBody>
      </p:sp>
      <p:pic>
        <p:nvPicPr>
          <p:cNvPr id="4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04850" y="3933825"/>
            <a:ext cx="104775" cy="104775"/>
          </a:xfrm>
          <a:prstGeom prst="rect">
            <a:avLst/>
          </a:prstGeom>
          <a:ln/>
        </p:spPr>
      </p:pic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57250" y="3933825"/>
            <a:ext cx="6286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基础润色翻译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3371850" y="2695575"/>
            <a:ext cx="2657475" cy="2638425"/>
          </a:xfrm>
          <a:prstGeom prst="roundRect">
            <a:avLst>
              <a:gd name="adj" fmla="val 4332"/>
            </a:avLst>
          </a:prstGeom>
          <a:solidFill>
            <a:srgbClr val="FFF9F0"/>
          </a:solidFill>
          <a:ln w="25400">
            <a:solidFill>
              <a:srgbClr val="C2762B"/>
            </a:solidFill>
            <a:prstDash val="solid"/>
          </a:ln>
          <a:effectLst>
            <a:outerShdw blurRad="228600" dist="76200" dir="5400000">
              <a:srgbClr val="C2762B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505200" y="28479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⭐ </a:t>
            </a:r>
            <a:r>
              <a:rPr lang="zh-CN" sz="1125" b="1">
                <a:solidFill>
                  <a:srgbClr val="1F2A26"/>
                </a:solidFill>
                <a:latin typeface="Noto Serif SC"/>
                <a:ea typeface="Noto Serif SC"/>
              </a:rPr>
              <a:t>科研进阶版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3505200" y="3076575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2762B"/>
                </a:solidFill>
                <a:latin typeface="Consolas"/>
                <a:ea typeface="Consolas"/>
              </a:rPr>
              <a:t>PRO · ¥19.9/</a:t>
            </a:r>
            <a:r>
              <a:rPr lang="zh-CN" sz="1013" b="1">
                <a:solidFill>
                  <a:srgbClr val="C2762B"/>
                </a:solidFill>
                <a:latin typeface="Consolas"/>
                <a:ea typeface="Consolas"/>
              </a:rPr>
              <a:t>月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3505200" y="3295650"/>
            <a:ext cx="2390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论文冲刺首选</a:t>
            </a:r>
            <a:endParaRPr/>
          </a:p>
        </p:txBody>
      </p:sp>
      <p:pic>
        <p:nvPicPr>
          <p:cNvPr id="4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505200" y="3514725"/>
            <a:ext cx="104775" cy="104775"/>
          </a:xfrm>
          <a:prstGeom prst="rect">
            <a:avLst/>
          </a:prstGeom>
          <a:ln/>
        </p:spPr>
      </p:pic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3657600" y="3514725"/>
            <a:ext cx="6286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无限对话交互</a:t>
            </a:r>
            <a:endParaRPr/>
          </a:p>
        </p:txBody>
      </p:sp>
      <p:pic>
        <p:nvPicPr>
          <p:cNvPr id="4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505200" y="3724275"/>
            <a:ext cx="104775" cy="104775"/>
          </a:xfrm>
          <a:prstGeom prst="rect">
            <a:avLst/>
          </a:prstGeom>
          <a:ln/>
        </p:spPr>
      </p:pic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657600" y="3724275"/>
            <a:ext cx="9810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三栏精读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引用图谱</a:t>
            </a:r>
            <a:endParaRPr/>
          </a:p>
        </p:txBody>
      </p:sp>
      <p:pic>
        <p:nvPicPr>
          <p:cNvPr id="4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505200" y="3933825"/>
            <a:ext cx="104775" cy="104775"/>
          </a:xfrm>
          <a:prstGeom prst="rect">
            <a:avLst/>
          </a:prstGeom>
          <a:ln/>
        </p:spPr>
      </p:pic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3657600" y="3933825"/>
            <a:ext cx="6286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消融方案矩阵</a:t>
            </a:r>
            <a:endParaRPr/>
          </a:p>
        </p:txBody>
      </p:sp>
      <p:pic>
        <p:nvPicPr>
          <p:cNvPr id="4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505200" y="4143375"/>
            <a:ext cx="104775" cy="104775"/>
          </a:xfrm>
          <a:prstGeom prst="rect">
            <a:avLst/>
          </a:prstGeom>
          <a:ln/>
        </p:spPr>
      </p:pic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3657600" y="4143375"/>
            <a:ext cx="8667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完整盲审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次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>/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pic>
        <p:nvPicPr>
          <p:cNvPr id="4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505200" y="4352925"/>
            <a:ext cx="104775" cy="104775"/>
          </a:xfrm>
          <a:prstGeom prst="rect">
            <a:avLst/>
          </a:prstGeom>
          <a:ln/>
        </p:spPr>
      </p:pic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3657600" y="4352925"/>
            <a:ext cx="12192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查重降重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 · PPTX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一键生成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5305425" y="2752725"/>
            <a:ext cx="628650" cy="161925"/>
          </a:xfrm>
          <a:prstGeom prst="roundRect">
            <a:avLst>
              <a:gd name="adj" fmla="val 58824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419725" y="27717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FFFFF"/>
                </a:solidFill>
                <a:latin typeface="Microsoft YaHei"/>
                <a:ea typeface="Microsoft YaHei"/>
              </a:rPr>
              <a:t>推荐方案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6162675" y="2695575"/>
            <a:ext cx="2667000" cy="2638425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296025" y="284797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👥 </a:t>
            </a:r>
            <a:r>
              <a:rPr lang="zh-CN" sz="1125" b="1">
                <a:solidFill>
                  <a:srgbClr val="1F2A26"/>
                </a:solidFill>
                <a:latin typeface="Noto Serif SC"/>
                <a:ea typeface="Noto Serif SC"/>
              </a:rPr>
              <a:t>课题组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296025" y="30765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1B7A5E"/>
                </a:solidFill>
                <a:latin typeface="Consolas"/>
                <a:ea typeface="Consolas"/>
              </a:rPr>
              <a:t>TEAM · ¥299/</a:t>
            </a:r>
            <a:r>
              <a:rPr lang="zh-CN" sz="1013" b="1">
                <a:solidFill>
                  <a:srgbClr val="1B7A5E"/>
                </a:solidFill>
                <a:latin typeface="Consolas"/>
                <a:ea typeface="Consolas"/>
              </a:rPr>
              <a:t>月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296025" y="3295650"/>
            <a:ext cx="2400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团队共享</a:t>
            </a:r>
            <a:endParaRPr/>
          </a:p>
        </p:txBody>
      </p:sp>
      <p:pic>
        <p:nvPicPr>
          <p:cNvPr id="4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296025" y="3514725"/>
            <a:ext cx="104775" cy="104775"/>
          </a:xfrm>
          <a:prstGeom prst="rect">
            <a:avLst/>
          </a:prstGeom>
          <a:ln/>
        </p:spPr>
      </p:pic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448425" y="3514725"/>
            <a:ext cx="7905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15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席位团队成员</a:t>
            </a:r>
            <a:endParaRPr/>
          </a:p>
        </p:txBody>
      </p:sp>
      <p:pic>
        <p:nvPicPr>
          <p:cNvPr id="4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296025" y="3724275"/>
            <a:ext cx="104775" cy="104775"/>
          </a:xfrm>
          <a:prstGeom prst="rect">
            <a:avLst/>
          </a:prstGeom>
          <a:ln/>
        </p:spPr>
      </p:pic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448425" y="3724275"/>
            <a:ext cx="8096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共享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pic>
        <p:nvPicPr>
          <p:cNvPr id="4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296025" y="3933825"/>
            <a:ext cx="104775" cy="104775"/>
          </a:xfrm>
          <a:prstGeom prst="rect">
            <a:avLst/>
          </a:prstGeom>
          <a:ln/>
        </p:spPr>
      </p:pic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6448425" y="3933825"/>
            <a:ext cx="4667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GPU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调度</a:t>
            </a:r>
            <a:endParaRPr/>
          </a:p>
        </p:txBody>
      </p:sp>
      <p:pic>
        <p:nvPicPr>
          <p:cNvPr id="4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296025" y="4143375"/>
            <a:ext cx="104775" cy="104775"/>
          </a:xfrm>
          <a:prstGeom prst="rect">
            <a:avLst/>
          </a:prstGeom>
          <a:ln/>
        </p:spPr>
      </p:pic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448425" y="4143375"/>
            <a:ext cx="4191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成果看板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8963025" y="2695575"/>
            <a:ext cx="2657475" cy="2638425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9096375" y="2847975"/>
            <a:ext cx="239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🏛️ </a:t>
            </a:r>
            <a:r>
              <a:rPr lang="zh-CN" sz="1125" b="1">
                <a:solidFill>
                  <a:srgbClr val="1F2A26"/>
                </a:solidFill>
                <a:latin typeface="Noto Serif SC"/>
                <a:ea typeface="Noto Serif SC"/>
              </a:rPr>
              <a:t>机构私有版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9096375" y="3076575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1B7A5E"/>
                </a:solidFill>
                <a:latin typeface="Consolas"/>
                <a:ea typeface="Consolas"/>
              </a:rPr>
              <a:t xml:space="preserve">ENTERPRISE · </a:t>
            </a:r>
            <a:r>
              <a:rPr lang="zh-CN" sz="1013" b="1">
                <a:solidFill>
                  <a:srgbClr val="1B7A5E"/>
                </a:solidFill>
                <a:latin typeface="Consolas"/>
                <a:ea typeface="Consolas"/>
              </a:rPr>
              <a:t>按需定制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096375" y="3295650"/>
            <a:ext cx="2390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948D"/>
                </a:solidFill>
                <a:latin typeface="Microsoft YaHei"/>
                <a:ea typeface="Microsoft YaHei"/>
              </a:rPr>
              <a:t>按年付费</a:t>
            </a:r>
            <a:endParaRPr/>
          </a:p>
        </p:txBody>
      </p:sp>
      <p:pic>
        <p:nvPicPr>
          <p:cNvPr id="5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96375" y="3514725"/>
            <a:ext cx="104775" cy="104775"/>
          </a:xfrm>
          <a:prstGeom prst="rect">
            <a:avLst/>
          </a:prstGeom>
          <a:ln/>
        </p:spPr>
      </p:pic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9248775" y="3514725"/>
            <a:ext cx="99060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单机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/K8s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私有化部署</a:t>
            </a:r>
            <a:endParaRPr/>
          </a:p>
        </p:txBody>
      </p:sp>
      <p:pic>
        <p:nvPicPr>
          <p:cNvPr id="5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96375" y="3724275"/>
            <a:ext cx="104775" cy="104775"/>
          </a:xfrm>
          <a:prstGeom prst="rect">
            <a:avLst/>
          </a:prstGeom>
          <a:ln/>
        </p:spPr>
      </p:pic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248775" y="3724275"/>
            <a:ext cx="6286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本地模型集成</a:t>
            </a:r>
            <a:endParaRPr/>
          </a:p>
        </p:txBody>
      </p:sp>
      <p:pic>
        <p:nvPicPr>
          <p:cNvPr id="5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96375" y="3933825"/>
            <a:ext cx="104775" cy="104775"/>
          </a:xfrm>
          <a:prstGeom prst="rect">
            <a:avLst/>
          </a:prstGeom>
          <a:ln/>
        </p:spPr>
      </p:pic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248775" y="3933825"/>
            <a:ext cx="5619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SSO + </a:t>
            </a: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审计</a:t>
            </a:r>
            <a:endParaRPr/>
          </a:p>
        </p:txBody>
      </p:sp>
      <p:pic>
        <p:nvPicPr>
          <p:cNvPr id="5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96375" y="4143375"/>
            <a:ext cx="104775" cy="104775"/>
          </a:xfrm>
          <a:prstGeom prst="rect">
            <a:avLst/>
          </a:prstGeom>
          <a:ln/>
        </p:spPr>
      </p:pic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248775" y="4143375"/>
            <a:ext cx="552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4A554F"/>
                </a:solidFill>
                <a:latin typeface="Microsoft YaHei"/>
                <a:ea typeface="Microsoft YaHei"/>
              </a:rPr>
              <a:t>定制</a:t>
            </a:r>
            <a:r>
              <a:rPr lang="en-US" sz="825">
                <a:solidFill>
                  <a:srgbClr val="4A554F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c="http://schemas.openxmlformats.org/drawingml/2006/chart" xmlns:r="http://schemas.openxmlformats.org/officeDocument/2006/relationships" xmlns:mc="http://schemas.openxmlformats.org/markup-compatibility/2006" mc:Ignorable="asvg">
  <p:cSld>
    <p:spTree>
      <p:nvGrpSpPr>
        <p:cNvPr id="540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1B7A5E', borderRadius: 4, padding: '3px 10px' }}&gt;&lt;Text style={{ fontSize: 12, color: '#FFFFFF', fontWeight: 600 }}&gt;PART 04 · 行业落地价值&lt;/Text&gt;&lt;/Box&gt;&#10;        &lt;Text style={{ fontSize: 13, color: '#8A948D' }}&gt;效率提升 · 测试用户数据&lt;/Text&gt;&#10;      &lt;/Box&gt;&#10;      &lt;Text style={{ fontSize: 27, fontWeight: 'bold', color: '#1F2A26', fontFamily: 'Noto Serif SC, Georgia, serif', marginTop: 4 }}&gt;8 位学者实测：论文产出周期目标缩短 50%+&lt;/Text&gt;&#10;    &lt;/Box&gt;&#10;  &lt;/Box&gt;&#10;  &lt;Box style={{ padding: '4px 60px 0', height: 478, flexDirection: 'column', gap: 12 }}&gt;&#10;    {/* 上段：五大行业价值 */}&#10;    &lt;Box style={{ flexDirection: 'row', gap: 12 }}&gt;&#10;      {[&#10;        { ic: 'bolt', t: '科研效率', d: '缩短选题到投稿周期 · 提升人均产出' },&#10;        { ic: 'balance-scale', t: '科研公平', d: '小团队/欠发达地区也有「AI 助理团」' },&#10;        { ic: 'book', t: '知识沉淀', d: '课题组知识资产化 · 可传承可复用' },&#10;        { ic: 'industry', t: '产业转化', d: '加速企业技术调研与成果落地' },&#10;        { ic: 'graduation-cap', t: '教育价值', d: '帮助研究生系统学习科研方法论' },&#10;      ].map((v, i) =&gt; (&#10;        &lt;Box key={i} style={{ flex: 1, background: '#FFFFFF', borderRadius: 10, border: '1px solid #E6E2D6', padding: '10px 8px', alignItems: 'center', gap: 5 }}&gt;&#10;          &lt;FAIcon name={v.ic} style={{ fill: '#1B7A5E', width: 20, height: 20 }} /&gt;&#10;          &lt;Text style={{ fontSize: 13, fontWeight: 'bold', color: '#1F2A26', textAlign: 'center' }}&gt;{v.t}&lt;/Text&gt;&#10;          &lt;Text style={{ fontSize: 9.8, color: '#8A948D', textAlign: 'center', lineHeight: 1.35 }}&gt;{v.d}&lt;/Text&gt;&#10;        &lt;/Box&gt;&#10;      ))}&#10;    &lt;/Box&gt;&#10;    {/* 下段：左条形图 + 右用户数据卡 */}&#10;    &lt;Box style={{ flexDirection: 'row', gap: 20, flex: 1 }}&gt;&#10;      &lt;Box style={{ flex: 1.35, background: '#FFFFFF', borderRadius: 12, border: '1px solid #E6E2D6', padding: '12px 16px', boxShadow: '0 2px 10px rgba(0,0,0,0.05)', flexDirection: 'column' }}&gt;&#10;        &lt;Text style={{ fontSize: 14.5, fontWeight: 'bold', color: '#1F2A26', fontFamily: 'Noto Serif SC, Georgia, serif', marginBottom: 6 }}&gt;效率提升实测（↓ 耗时降低 / ↑ 效率提升）&lt;/Text&gt;&#10;        &lt;Chart&#10;          style={{ flex: 1, minHeight: 300 }}&#10;          chartType=&quot;barChart&quot;&#10;          barDirection=&quot;bar&quot;&#10;          grouping=&quot;clustered&quot;&#10;          showLegend={false}&#10;          showDataLabels={true}&#10;          legendColor=&quot;#8A948D&quot;&#10;          axisColor=&quot;#8A948D&quot;&#10;          dataLabelColor=&quot;#0E4A37&quot;&#10;          colors={['#1B7A5E']}&#10;          background=&quot;#FFFFFF&quot;&#10;          data={[&#10;            ['指标', '提升幅度 %'],&#10;            ['选题调研耗时', 60],&#10;            ['单篇精读耗时', 50],&#10;            ['数据出图+解读耗时', 70],&#10;            ['组会准备耗时', 70],&#10;            ['实验方案设计效率', 40],&#10;            ['论文改稿轮次', 50],&#10;            ['投稿准备耗时', 40],&#10;          ]}&#10;        /&gt;&#10;      &lt;/Box&gt;&#10;      &lt;Box style={{ flex: 1, background: '#F0F7F3', borderRadius: 12, border: '1px solid #CDE4D8', padding: '14px 16px', flexDirection: 'column', gap: 8 }}&gt;&#10;        &lt;Text style={{ fontSize: 14.5, fontWeight: 'bold', color: '#0E4A37', fontFamily: 'Noto Serif SC, Georgia, serif' }}&gt;测试用户数据（8 位真实学者）&lt;/Text&gt;&#10;        &lt;Box style={{ flexDirection: 'column', gap: 5 }}&gt;&#10;          &lt;Text style={{ fontSize: 12.5, color: '#234038', lineHeight: 1.55 }}&gt;👨‍🎓 &lt;span style={{ fontWeight: 'bold' }}&gt;构成：&lt;/span&gt;博士生 4 位 · 硕士生 2 位 · 教师/PI 2 位&lt;/Text&gt;&#10;          &lt;Text style={{ fontSize: 12.5, color: '#234038', lineHeight: 1.55 }}&gt;🏛️ &lt;span style={{ fontWeight: 'bold' }}&gt;机构：&lt;/span&gt;清华 · 北大 · 浙大 · 复旦 · 上交 · 中科大 · 南大 · 中科院&lt;/Text&gt;&#10;          &lt;Text style={{ fontSize: 12.5, color: '#234038', lineHeight: 1.55 }}&gt;📊 &lt;span style={{ fontWeight: 'bold' }}&gt;口碑评分：&lt;/span&gt;&lt;span style={{ color: '#C2762B', fontWeight: 'bold' }}&gt;5.0 / 5.0（全五星）&lt;/span&gt;&lt;/Text&gt;&#10;        &lt;/Box&gt;&#10;        &lt;Box style={{ background: '#FFFFFF', borderRadius: 8, padding: '8px 12px', borderLeft: '3px solid #1B7A5E' }}&gt;&#10;          &lt;Text style={{ fontSize: 11.5, color: '#4A554F', lineHeight: 1.6 }}&gt;💬 「节省整整两周摸索时间」「查出了标注误差」「避免大修拒稿风险」「实验资产 100% 数字化沉淀」&lt;/Text&gt;&#10;        &lt;/Box&gt;&#10;        &lt;Box style={{ marginTop: 'auto', background: '#1B7A5E', borderRadius: 8, padding: '8px 12px', flexDirection: 'row', alignItems: 'center', gap: 8 }}&gt;&#10;          &lt;FAIcon name=&quot;rocket&quot; style={{ fill: '#FFFFFF', width: 15, height: 15 }} /&gt;&#10;          &lt;Text style={{ fontSize: 12.5, color: '#FFFFFF', fontWeight: 'bold' }}&gt;论文产出周期目标：平均缩短 50% 以上&lt;/Text&gt;&#10;        &lt;/Box&gt;&#10;      &lt;/Box&gt;&#10;    &lt;/Box&gt;&#10;  &lt;/Box&gt;&#10;  &lt;Box style={{ flexDirection: 'row', justifyContent: 'space-between', alignItems: 'center', padding: '0 60px', height: 38, marginTop: 2 }}&gt;&#10;    &lt;Text style={{ fontSize: 12, color: '#8A948D' }}&gt;ScienceX · AI 科研工作台&lt;/Text&gt;&#10;    &lt;Text style={{ fontSize: 12, color: '#8A948D' }}&gt;19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742950" y="171450"/>
            <a:ext cx="1476375" cy="200025"/>
          </a:xfrm>
          <a:prstGeom prst="roundRect">
            <a:avLst>
              <a:gd name="adj" fmla="val 19048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1285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04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行业落地价值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2314575" y="200025"/>
            <a:ext cx="1343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效率提升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测试用户数据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51625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8 </a:t>
            </a:r>
            <a:r>
              <a:rPr lang="zh-CN" sz="2025" b="1">
                <a:solidFill>
                  <a:srgbClr val="1F2A26"/>
                </a:solidFill>
                <a:latin typeface="Noto Serif SC"/>
                <a:ea typeface="Noto Serif SC"/>
              </a:rPr>
              <a:t>位学者实测：论文产出周期目标缩短</a:t>
            </a:r>
            <a:r>
              <a:rPr lang="en-US" sz="2025" b="1">
                <a:solidFill>
                  <a:srgbClr val="1F2A26"/>
                </a:solidFill>
                <a:latin typeface="Noto Serif SC"/>
                <a:ea typeface="Noto Serif SC"/>
              </a:rPr>
              <a:t xml:space="preserve"> 50%+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571500" y="819150"/>
            <a:ext cx="211455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pic>
        <p:nvPicPr>
          <p:cNvPr id="5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533525" y="914400"/>
            <a:ext cx="190500" cy="190500"/>
          </a:xfrm>
          <a:prstGeom prst="rect">
            <a:avLst/>
          </a:prstGeom>
          <a:ln/>
        </p:spPr>
      </p:pic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1381125" y="11525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科研效率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85825" y="1352550"/>
            <a:ext cx="1485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缩短选题到投稿周期</a:t>
            </a:r>
            <a:r>
              <a:rPr lang="en-US" sz="73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提升人均产出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2800350" y="819150"/>
            <a:ext cx="2124075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pic>
        <p:nvPicPr>
          <p:cNvPr id="5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771900" y="914400"/>
            <a:ext cx="190500" cy="190500"/>
          </a:xfrm>
          <a:prstGeom prst="rect">
            <a:avLst/>
          </a:prstGeom>
          <a:ln/>
        </p:spPr>
      </p:pic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619500" y="11525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科研公平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086100" y="1352550"/>
            <a:ext cx="15621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小团队</a:t>
            </a:r>
            <a:r>
              <a:rPr lang="en-US" sz="735">
                <a:solidFill>
                  <a:srgbClr val="8A948D"/>
                </a:solidFill>
                <a:latin typeface="Microsoft YaHei"/>
                <a:ea typeface="Microsoft YaHei"/>
              </a:rPr>
              <a:t>/</a:t>
            </a: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欠发达地区也有「</a:t>
            </a:r>
            <a:r>
              <a:rPr lang="en-US" sz="735">
                <a:solidFill>
                  <a:srgbClr val="8A948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助理团」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5038725" y="819150"/>
            <a:ext cx="211455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pic>
        <p:nvPicPr>
          <p:cNvPr id="5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000750" y="914400"/>
            <a:ext cx="190500" cy="190500"/>
          </a:xfrm>
          <a:prstGeom prst="rect">
            <a:avLst/>
          </a:prstGeom>
          <a:ln/>
        </p:spPr>
      </p:pic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848350" y="11525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知识沉淀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400675" y="1352550"/>
            <a:ext cx="13906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课题组知识资产化</a:t>
            </a:r>
            <a:r>
              <a:rPr lang="en-US" sz="73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可传承可复用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7267575" y="819150"/>
            <a:ext cx="2124075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pic>
        <p:nvPicPr>
          <p:cNvPr id="5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239125" y="914400"/>
            <a:ext cx="190500" cy="190500"/>
          </a:xfrm>
          <a:prstGeom prst="rect">
            <a:avLst/>
          </a:prstGeom>
          <a:ln/>
        </p:spPr>
      </p:pic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8086725" y="11525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产业转化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724775" y="1352550"/>
            <a:ext cx="12192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加速企业技术调研与成果落地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9505950" y="819150"/>
            <a:ext cx="211455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</p:spPr>
        <p:txBody>
          <a:bodyPr/>
          <a:p/>
        </p:txBody>
      </p:sp>
      <p:pic>
        <p:nvPicPr>
          <p:cNvPr id="5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10467975" y="914400"/>
            <a:ext cx="190500" cy="190500"/>
          </a:xfrm>
          <a:prstGeom prst="rect">
            <a:avLst/>
          </a:prstGeom>
          <a:ln/>
        </p:spPr>
      </p:pic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0315575" y="11525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1F2A26"/>
                </a:solidFill>
                <a:latin typeface="Microsoft YaHei"/>
                <a:ea typeface="Microsoft YaHei"/>
              </a:rPr>
              <a:t>教育价值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9906000" y="1352550"/>
            <a:ext cx="13144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735">
                <a:solidFill>
                  <a:srgbClr val="8A948D"/>
                </a:solidFill>
                <a:latin typeface="Microsoft YaHei"/>
                <a:ea typeface="Microsoft YaHei"/>
              </a:rPr>
              <a:t>帮助研究生系统学习科研方法论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571500" y="1714500"/>
            <a:ext cx="6238875" cy="3619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2D6"/>
            </a:solidFill>
            <a:prstDash val="solid"/>
          </a:ln>
          <a:effectLst>
            <a:outerShdw blurRad="95250" dist="19050" dir="5400000">
              <a:srgbClr val="000000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23900" y="1828800"/>
            <a:ext cx="5934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1F2A26"/>
                </a:solidFill>
                <a:latin typeface="Noto Serif SC"/>
                <a:ea typeface="Noto Serif SC"/>
              </a:rPr>
              <a:t>效率提升实测（↓</a:t>
            </a:r>
            <a:r>
              <a:rPr lang="en-US" sz="1088" b="1">
                <a:solidFill>
                  <a:srgbClr val="1F2A26"/>
                </a:solidFill>
                <a:latin typeface="Noto Serif SC"/>
                <a:ea typeface="Noto Serif SC"/>
              </a:rPr>
              <a:t xml:space="preserve"> </a:t>
            </a:r>
            <a:r>
              <a:rPr lang="zh-CN" sz="1088" b="1">
                <a:solidFill>
                  <a:srgbClr val="1F2A26"/>
                </a:solidFill>
                <a:latin typeface="Noto Serif SC"/>
                <a:ea typeface="Noto Serif SC"/>
              </a:rPr>
              <a:t>耗时降低</a:t>
            </a:r>
            <a:r>
              <a:rPr lang="en-US" sz="1088" b="1">
                <a:solidFill>
                  <a:srgbClr val="1F2A26"/>
                </a:solidFill>
                <a:latin typeface="Noto Serif SC"/>
                <a:ea typeface="Noto Serif SC"/>
              </a:rPr>
              <a:t xml:space="preserve"> / ↑ </a:t>
            </a:r>
            <a:r>
              <a:rPr lang="zh-CN" sz="1088" b="1">
                <a:solidFill>
                  <a:srgbClr val="1F2A26"/>
                </a:solidFill>
                <a:latin typeface="Noto Serif SC"/>
                <a:ea typeface="Noto Serif SC"/>
              </a:rPr>
              <a:t>效率提升）</a:t>
            </a:r>
            <a:endParaRPr/>
          </a:p>
        </p:txBody>
      </p:sp>
      <p:graphicFrame>
        <p:nvGraphicFramePr>
          <p:cNvPr id="569" name="569"/>
          <p:cNvGraphicFramePr/>
          <p:nvPr/>
        </p:nvGraphicFramePr>
        <p:xfrm rot="0" flipH="0" flipV="0">
          <a:off x="723900" y="2057400"/>
          <a:ext cx="5934075" cy="31623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570" name=""/>
          <p:cNvSpPr/>
          <p:nvPr/>
        </p:nvSpPr>
        <p:spPr>
          <a:xfrm rot="0" flipH="0" flipV="0">
            <a:off x="7000875" y="1714500"/>
            <a:ext cx="4619625" cy="3619500"/>
          </a:xfrm>
          <a:prstGeom prst="roundRect">
            <a:avLst>
              <a:gd name="adj" fmla="val 3158"/>
            </a:avLst>
          </a:prstGeom>
          <a:solidFill>
            <a:srgbClr val="F0F7F3"/>
          </a:solidFill>
          <a:ln w="12700">
            <a:solidFill>
              <a:srgbClr val="CDE4D8"/>
            </a:solidFill>
            <a:prstDash val="solid"/>
          </a:ln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153275" y="1847850"/>
            <a:ext cx="4314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E4A37"/>
                </a:solidFill>
                <a:latin typeface="Noto Serif SC"/>
                <a:ea typeface="Noto Serif SC"/>
              </a:rPr>
              <a:t>测试用户数据（</a:t>
            </a:r>
            <a:r>
              <a:rPr lang="en-US" sz="1088" b="1">
                <a:solidFill>
                  <a:srgbClr val="0E4A37"/>
                </a:solidFill>
                <a:latin typeface="Noto Serif SC"/>
                <a:ea typeface="Noto Serif SC"/>
              </a:rPr>
              <a:t xml:space="preserve">8 </a:t>
            </a:r>
            <a:r>
              <a:rPr lang="zh-CN" sz="1088" b="1">
                <a:solidFill>
                  <a:srgbClr val="0E4A37"/>
                </a:solidFill>
                <a:latin typeface="Noto Serif SC"/>
                <a:ea typeface="Noto Serif SC"/>
              </a:rPr>
              <a:t>位真实学者）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153275" y="2095500"/>
            <a:ext cx="4314825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👨‍🎓 </a:t>
            </a:r>
            <a:r>
              <a:rPr lang="zh-CN" sz="938" b="1">
                <a:solidFill>
                  <a:srgbClr val="234038"/>
                </a:solidFill>
                <a:latin typeface="Microsoft YaHei"/>
                <a:ea typeface="Microsoft YaHei"/>
              </a:rPr>
              <a:t>构成：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博士生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位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硕士生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位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教师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/PI 2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7153275" y="2371725"/>
            <a:ext cx="4314825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🏛️ </a:t>
            </a:r>
            <a:r>
              <a:rPr lang="zh-CN" sz="938" b="1">
                <a:solidFill>
                  <a:srgbClr val="234038"/>
                </a:solidFill>
                <a:latin typeface="Microsoft YaHei"/>
                <a:ea typeface="Microsoft YaHei"/>
              </a:rPr>
              <a:t>机构：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清华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北大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浙大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复旦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上交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中科大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南大</a:t>
            </a: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234038"/>
                </a:solidFill>
                <a:latin typeface="Microsoft YaHei"/>
                <a:ea typeface="Microsoft YaHei"/>
              </a:rPr>
              <a:t>中科院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153275" y="2647950"/>
            <a:ext cx="4314825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>
                <a:solidFill>
                  <a:srgbClr val="234038"/>
                </a:solidFill>
                <a:latin typeface="Microsoft YaHei"/>
                <a:ea typeface="Microsoft YaHei"/>
              </a:rPr>
              <a:t xml:space="preserve">📊 </a:t>
            </a:r>
            <a:r>
              <a:rPr lang="zh-CN" sz="938" b="1">
                <a:solidFill>
                  <a:srgbClr val="234038"/>
                </a:solidFill>
                <a:latin typeface="Microsoft YaHei"/>
                <a:ea typeface="Microsoft YaHei"/>
              </a:rPr>
              <a:t>口碑评分：</a:t>
            </a:r>
            <a:r>
              <a:rPr lang="en-US" sz="938" b="1">
                <a:solidFill>
                  <a:srgbClr val="C2762B"/>
                </a:solidFill>
                <a:latin typeface="Microsoft YaHei"/>
                <a:ea typeface="Microsoft YaHei"/>
              </a:rPr>
              <a:t>5.0 / 5.0</a:t>
            </a:r>
            <a:r>
              <a:rPr lang="zh-CN" sz="938" b="1">
                <a:solidFill>
                  <a:srgbClr val="C2762B"/>
                </a:solidFill>
                <a:latin typeface="Microsoft YaHei"/>
                <a:ea typeface="Microsoft YaHei"/>
              </a:rPr>
              <a:t>（全五星）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7181850" y="2952750"/>
            <a:ext cx="4314825" cy="581025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7181850" y="2952750"/>
            <a:ext cx="4314825" cy="581025"/>
          </a:xfrm>
          <a:custGeom>
            <a:pathLst>
              <a:path w="453" h="6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6"/>
                </a:lnTo>
                <a:cubicBezTo>
                  <a:pt x="3" y="58"/>
                  <a:pt x="5" y="60"/>
                  <a:pt x="7" y="61"/>
                </a:cubicBezTo>
                <a:cubicBezTo>
                  <a:pt x="3" y="60"/>
                  <a:pt x="0" y="57"/>
                  <a:pt x="0" y="5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7296150" y="3028950"/>
            <a:ext cx="40576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💬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「节省整整两周摸索时间」「查出了标注误差」「避免大修拒稿风险」「实验资产</a:t>
            </a:r>
            <a:r>
              <a:rPr lang="en-US" sz="863">
                <a:solidFill>
                  <a:srgbClr val="4A554F"/>
                </a:solidFill>
                <a:latin typeface="Microsoft YaHei"/>
                <a:ea typeface="Microsoft YaHei"/>
              </a:rPr>
              <a:t xml:space="preserve"> 100% </a:t>
            </a:r>
            <a:r>
              <a:rPr lang="zh-CN" sz="863">
                <a:solidFill>
                  <a:srgbClr val="4A554F"/>
                </a:solidFill>
                <a:latin typeface="Microsoft YaHei"/>
                <a:ea typeface="Microsoft YaHei"/>
              </a:rPr>
              <a:t>数字化沉淀」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7153275" y="4905375"/>
            <a:ext cx="4314825" cy="295275"/>
          </a:xfrm>
          <a:prstGeom prst="roundRect">
            <a:avLst>
              <a:gd name="adj" fmla="val 25806"/>
            </a:avLst>
          </a:prstGeom>
          <a:solidFill>
            <a:srgbClr val="1B7A5E"/>
          </a:solidFill>
          <a:ln/>
        </p:spPr>
        <p:txBody>
          <a:bodyPr/>
          <a:p/>
        </p:txBody>
      </p:sp>
      <p:pic>
        <p:nvPicPr>
          <p:cNvPr id="5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267575" y="4981575"/>
            <a:ext cx="142875" cy="142875"/>
          </a:xfrm>
          <a:prstGeom prst="rect">
            <a:avLst/>
          </a:prstGeom>
          <a:ln/>
        </p:spPr>
      </p:pic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486650" y="4981575"/>
            <a:ext cx="2124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论文产出周期目标：平均缩短</a:t>
            </a:r>
            <a:r>
              <a:rPr lang="en-US" sz="938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50% </a:t>
            </a: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以上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571500" y="5467350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229975" y="5467350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19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83" name="" descr="&lt;Slide style={{ padding: 0, background: '#F6F4EE' }}&gt;&#10;  &lt;Box style={{ flexDirection: 'row', alignItems: 'center', padding: '18px 60px 6px', gap: 14 }}&gt;&#10;    &lt;Box style={{ width: 4, height: 40, background: '#1B7A5E', borderRadius: 2 }} /&gt;&#10;    &lt;Box&gt;&#10;      &lt;Box style={{ flexDirection: 'row', alignItems: 'center', gap: 10 }}&gt;&#10;        &lt;Box style={{ background: '#C2762B', borderRadius: 4, padding: '3px 10px' }}&gt;&lt;Text style={{ fontSize: 12, color: '#FFFFFF', fontWeight: 600 }}&gt;PART 04 · 公益计划&lt;/Text&gt;&lt;/Box&gt;&#10;        &lt;Text style={{ fontSize: 13, color: '#8A948D' }}&gt;科研公平 · 四级阶梯&lt;/Text&gt;&#10;      &lt;/Box&gt;&#10;      &lt;Text style={{ fontSize: 26, fontWeight: 'bold', color: '#1F2A26', fontFamily: 'Noto Serif SC, Georgia, serif', marginTop: 4 }}&gt;让科研的光，照到每一张书桌&lt;/Text&gt;&#10;    &lt;/Box&gt;&#10;  &lt;/Box&gt;&#10;  &lt;Box style={{ padding: '4px 60px 0', height: 446, flexDirection: 'column', gap: 0 }}&gt;&#10;    {/* 四步阶梯（逐级抬升） */}&#10;    &lt;Box style={{ flexDirection: 'row', gap: 16, alignItems: 'flex-end', flex: 1 }}&gt;&#10;      {[&#10;        { n: '①', ic: 'unlock', t: '免费开放基础能力', items: ['对中西部高校与欠发达地区院校', '捐赠课题组版一学年使用权', '保留完整数据私有可控承诺'], h: 176, c: '#D2E8DC', t: '#0E4A37' },&#10;        { n: '②', ic: 'university', t: '高校公益版', items: ['青年教师 / 博后科研启动期免费升级 Pro', '首届本科生毕业论文公益陪跑计划', '学术导师 1v1 润色辅导'], h: 224, c: '#BBDCCB', t: '#0E4A37' },&#10;        { n: '③', ic: 'user-graduate', t: '青年学者扶持', items: ['青年教师 / 博后免费升级 Pro', '首届本科生毕业论文公益陪跑', '学术导师 1v1 润色辅导'], h: 272, c: '#9CC9B4', t: '#0E4A37' },&#10;        { n: '④', ic: 'hands-helping', t: '开源生态共建', items: ['核心技能市场开源', '高校科研 Agent 插件共创大赛', '与开源社区共建学术 MCP 工具生态', 'DreamPaper 复现模板开源共建'], h: 330, c: '#1B7A5E', t: '#FFFFFF' },&#10;      ].map((s, i) =&gt; (&#10;        &lt;Box key={i} style={{ flex: 1, height: s.h, background: s.c, borderRadius: 12, padding: '14px 14px', flexDirection: 'column', gap: 6, border: '1px solid rgba(0,0,0,0.05)' }}&gt;&#10;          &lt;Text style={{ fontSize: 22, fontWeight: 'bold', color: s.t === '#FFFFFF' ? '#F0C419' : '#C2762B', fontFamily: 'Noto Serif SC, Georgia, serif' }}&gt;{s.n}&lt;/Text&gt;&#10;          &lt;Box style={{ flexDirection: 'row', alignItems: 'center', gap: 6 }}&gt;&#10;            &lt;FAIcon name={s.ic} style={{ fill: s.t === '#FFFFFF' ? '#FFFFFF' : '#1B7A5E', width: 16, height: 16 }} /&gt;&#10;            &lt;Text style={{ fontSize: 14.5, fontWeight: 'bold', color: s.t, fontFamily: 'Noto Serif SC, Georgia, serif' }}&gt;{s.t}&lt;/Text&gt;&#10;          &lt;/Box&gt;&#10;          &lt;Box style={{ flexDirection: 'column', gap: 4 }}&gt;&#10;            {s.items.map((it, j) =&gt; (&#10;              &lt;Box key={j} style={{ flexDirection: 'row', gap: 5, alignItems: 'flex-start' }}&gt;&#10;                &lt;Box style={{ width: 4, height: 4, borderRadius: '50%', background: s.t === '#FFFFFF' ? 'rgba(255,255,255,0.7)' : '#1B7A5E', marginTop: 5, flexShrink: 0 }} /&gt;&#10;                &lt;Text style={{ fontSize: 10.8, color: s.t, lineHeight: 1.45, opacity: s.t === '#FFFFFF' ? 0.9 : 1 }}&gt;{it}&lt;/Text&gt;&#10;              &lt;/Box&gt;&#10;            ))}&#10;          &lt;/Box&gt;&#10;        &lt;/Box&gt;&#10;      ))}&#10;    &lt;/Box&gt;&#10;    {/* 愿景金句 */}&#10;    &lt;Box style={{ background: '#0E4A37', borderRadius: 12, padding: '14px 24px', marginTop: 16, alignItems: 'center' }}&gt;&#10;      &lt;Text style={{ fontSize: 17, color: '#FFFFFF', fontFamily: 'Noto Serif SC, Georgia, serif', lineHeight: 1.6, textAlign: 'center' }}&gt;&#10;        「科研的起点不应由资源决定。我们希望让每一个怀揣好奇心的人，&lt;br /&gt;都拥有一支随叫随到的 &lt;span style={{ color: '#F0C419', fontWeight: 'bold' }}&gt;AI 科研助理团&lt;/span&gt;。」&#10;      &lt;/Text&gt;&#10;    &lt;/Box&gt;&#10;  &lt;/Box&gt;&#10;  &lt;Box style={{ flexDirection: 'row', justifyContent: 'space-between', alignItems: 'center', padding: '0 60px', height: 38, marginTop: 4 }}&gt;&#10;    &lt;Text style={{ fontSize: 12, color: '#8A948D' }}&gt;ScienceX · AI 科研工作台&lt;/Text&gt;&#10;    &lt;Text style={{ fontSize: 12, color: '#8A948D' }}&gt;20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571500" y="257175"/>
            <a:ext cx="38100" cy="381000"/>
          </a:xfrm>
          <a:prstGeom prst="roundRect">
            <a:avLst>
              <a:gd name="adj" fmla="val 50000"/>
            </a:avLst>
          </a:prstGeom>
          <a:solidFill>
            <a:srgbClr val="1B7A5E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742950" y="171450"/>
            <a:ext cx="1247775" cy="200025"/>
          </a:xfrm>
          <a:prstGeom prst="roundRect">
            <a:avLst>
              <a:gd name="adj" fmla="val 19048"/>
            </a:avLst>
          </a:prstGeom>
          <a:solidFill>
            <a:srgbClr val="C2762B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38200" y="20002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PART 04 ·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公益计划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2085975" y="20002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科研公平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四级阶梯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742950" y="409575"/>
            <a:ext cx="3219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F2A26"/>
                </a:solidFill>
                <a:latin typeface="Noto Serif SC"/>
                <a:ea typeface="Noto Serif SC"/>
              </a:rPr>
              <a:t>让科研的光，照到每一张书桌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571500" y="2295525"/>
            <a:ext cx="2647950" cy="1676400"/>
          </a:xfrm>
          <a:prstGeom prst="roundRect">
            <a:avLst>
              <a:gd name="adj" fmla="val 6818"/>
            </a:avLst>
          </a:prstGeom>
          <a:solidFill>
            <a:srgbClr val="D2E8DC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04850" y="2428875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2762B"/>
                </a:solidFill>
                <a:latin typeface="Noto Serif SC"/>
                <a:ea typeface="Noto Serif SC"/>
              </a:rPr>
              <a:t>①</a:t>
            </a:r>
            <a:endParaRPr/>
          </a:p>
        </p:txBody>
      </p:sp>
      <p:pic>
        <p:nvPicPr>
          <p:cNvPr id="5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2752725"/>
            <a:ext cx="152400" cy="152400"/>
          </a:xfrm>
          <a:prstGeom prst="rect">
            <a:avLst/>
          </a:prstGeom>
          <a:ln/>
        </p:spPr>
      </p:pic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14400" y="2743200"/>
            <a:ext cx="65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0E4A37"/>
                </a:solidFill>
                <a:latin typeface="Noto Serif SC"/>
                <a:ea typeface="Noto Serif SC"/>
              </a:rPr>
              <a:t>#0E4A37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04850" y="301942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90575" y="2971800"/>
            <a:ext cx="14478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对中西部高校与欠发达地区院校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704850" y="323850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90575" y="3190875"/>
            <a:ext cx="12382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捐赠课题组版一学年使用权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04850" y="34575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90575" y="3409950"/>
            <a:ext cx="12382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保留完整数据私有可控承诺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3371850" y="1838325"/>
            <a:ext cx="2647950" cy="2133600"/>
          </a:xfrm>
          <a:prstGeom prst="roundRect">
            <a:avLst>
              <a:gd name="adj" fmla="val 5357"/>
            </a:avLst>
          </a:prstGeom>
          <a:solidFill>
            <a:srgbClr val="BBDCCB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3505200" y="1971675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2762B"/>
                </a:solidFill>
                <a:latin typeface="Noto Serif SC"/>
                <a:ea typeface="Noto Serif SC"/>
              </a:rPr>
              <a:t>②</a:t>
            </a:r>
            <a:endParaRPr/>
          </a:p>
        </p:txBody>
      </p:sp>
      <p:pic>
        <p:nvPicPr>
          <p:cNvPr id="6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505200" y="2295525"/>
            <a:ext cx="152400" cy="152400"/>
          </a:xfrm>
          <a:prstGeom prst="rect">
            <a:avLst/>
          </a:prstGeom>
          <a:ln/>
        </p:spPr>
      </p:pic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3714750" y="2286000"/>
            <a:ext cx="65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0E4A37"/>
                </a:solidFill>
                <a:latin typeface="Noto Serif SC"/>
                <a:ea typeface="Noto Serif SC"/>
              </a:rPr>
              <a:t>#0E4A37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3505200" y="256222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3590925" y="2514600"/>
            <a:ext cx="18478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青年教师</a:t>
            </a:r>
            <a:r>
              <a:rPr lang="en-US" sz="810">
                <a:solidFill>
                  <a:srgbClr val="0E4A3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博后科研启动期免费升级</a:t>
            </a:r>
            <a:r>
              <a:rPr lang="en-US" sz="810">
                <a:solidFill>
                  <a:srgbClr val="0E4A37"/>
                </a:solidFill>
                <a:latin typeface="Microsoft YaHei"/>
                <a:ea typeface="Microsoft YaHei"/>
              </a:rPr>
              <a:t xml:space="preserve"> Pro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3505200" y="278130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3590925" y="2733675"/>
            <a:ext cx="15430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首届本科生毕业论文公益陪跑计划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3505200" y="30003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3590925" y="2952750"/>
            <a:ext cx="10668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学术导师</a:t>
            </a:r>
            <a:r>
              <a:rPr lang="en-US" sz="810">
                <a:solidFill>
                  <a:srgbClr val="0E4A37"/>
                </a:solidFill>
                <a:latin typeface="Microsoft YaHei"/>
                <a:ea typeface="Microsoft YaHei"/>
              </a:rPr>
              <a:t xml:space="preserve"> 1v1 </a:t>
            </a: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润色辅导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172200" y="1381125"/>
            <a:ext cx="2647950" cy="2590800"/>
          </a:xfrm>
          <a:prstGeom prst="roundRect">
            <a:avLst>
              <a:gd name="adj" fmla="val 4412"/>
            </a:avLst>
          </a:prstGeom>
          <a:solidFill>
            <a:srgbClr val="9CC9B4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305550" y="1514475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2762B"/>
                </a:solidFill>
                <a:latin typeface="Noto Serif SC"/>
                <a:ea typeface="Noto Serif SC"/>
              </a:rPr>
              <a:t>③</a:t>
            </a:r>
            <a:endParaRPr/>
          </a:p>
        </p:txBody>
      </p:sp>
      <p:pic>
        <p:nvPicPr>
          <p:cNvPr id="6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05550" y="1838325"/>
            <a:ext cx="152400" cy="152400"/>
          </a:xfrm>
          <a:prstGeom prst="rect">
            <a:avLst/>
          </a:prstGeom>
          <a:ln/>
        </p:spPr>
      </p:pic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515100" y="1828800"/>
            <a:ext cx="65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0E4A37"/>
                </a:solidFill>
                <a:latin typeface="Noto Serif SC"/>
                <a:ea typeface="Noto Serif SC"/>
              </a:rPr>
              <a:t>#0E4A37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305550" y="210502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391275" y="2057400"/>
            <a:ext cx="13335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青年教师</a:t>
            </a:r>
            <a:r>
              <a:rPr lang="en-US" sz="810">
                <a:solidFill>
                  <a:srgbClr val="0E4A3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博后免费升级</a:t>
            </a:r>
            <a:r>
              <a:rPr lang="en-US" sz="810">
                <a:solidFill>
                  <a:srgbClr val="0E4A37"/>
                </a:solidFill>
                <a:latin typeface="Microsoft YaHei"/>
                <a:ea typeface="Microsoft YaHei"/>
              </a:rPr>
              <a:t xml:space="preserve"> Pro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305550" y="232410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391275" y="2276475"/>
            <a:ext cx="13430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首届本科生毕业论文公益陪跑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305550" y="25431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B7A5E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391275" y="2495550"/>
            <a:ext cx="10668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学术导师</a:t>
            </a:r>
            <a:r>
              <a:rPr lang="en-US" sz="810">
                <a:solidFill>
                  <a:srgbClr val="0E4A37"/>
                </a:solidFill>
                <a:latin typeface="Microsoft YaHei"/>
                <a:ea typeface="Microsoft YaHei"/>
              </a:rPr>
              <a:t xml:space="preserve"> 1v1 </a:t>
            </a:r>
            <a:r>
              <a:rPr lang="zh-CN" sz="810">
                <a:solidFill>
                  <a:srgbClr val="0E4A37"/>
                </a:solidFill>
                <a:latin typeface="Microsoft YaHei"/>
                <a:ea typeface="Microsoft YaHei"/>
              </a:rPr>
              <a:t>润色辅导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8972550" y="828675"/>
            <a:ext cx="2647950" cy="3143250"/>
          </a:xfrm>
          <a:prstGeom prst="roundRect">
            <a:avLst>
              <a:gd name="adj" fmla="val 4317"/>
            </a:avLst>
          </a:prstGeom>
          <a:solidFill>
            <a:srgbClr val="1B7A5E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9105900" y="962025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0C419"/>
                </a:solidFill>
                <a:latin typeface="Noto Serif SC"/>
                <a:ea typeface="Noto Serif SC"/>
              </a:rPr>
              <a:t>④</a:t>
            </a:r>
            <a:endParaRPr/>
          </a:p>
        </p:txBody>
      </p:sp>
      <p:pic>
        <p:nvPicPr>
          <p:cNvPr id="6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05900" y="1285875"/>
            <a:ext cx="152400" cy="152400"/>
          </a:xfrm>
          <a:prstGeom prst="rect">
            <a:avLst/>
          </a:prstGeom>
          <a:ln/>
        </p:spPr>
      </p:pic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9315450" y="1276350"/>
            <a:ext cx="65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FFFFFF"/>
                </a:solidFill>
                <a:latin typeface="Noto Serif SC"/>
                <a:ea typeface="Noto Serif SC"/>
              </a:rPr>
              <a:t>#FFFFFF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9105900" y="155257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625" name=""/>
          <p:cNvSpPr/>
          <p:nvPr/>
        </p:nvSpPr>
        <p:spPr>
          <a:xfrm rot="0" flipH="0" flipV="0">
            <a:off x="9105900" y="177165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626" name=""/>
          <p:cNvSpPr/>
          <p:nvPr/>
        </p:nvSpPr>
        <p:spPr>
          <a:xfrm rot="0" flipH="0" flipV="0">
            <a:off x="9105900" y="1990725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9105900" y="2209800"/>
            <a:ext cx="38100" cy="38100"/>
          </a:xfrm>
          <a:custGeom>
            <a:pathLst>
              <a:path w="4" h="4">
                <a:moveTo>
                  <a:pt x="2" y="0"/>
                </a:moveTo>
                <a:lnTo>
                  <a:pt x="2" y="0"/>
                </a:lnTo>
                <a:cubicBezTo>
                  <a:pt x="3" y="0"/>
                  <a:pt x="4" y="1"/>
                  <a:pt x="4" y="2"/>
                </a:cubicBezTo>
                <a:lnTo>
                  <a:pt x="4" y="2"/>
                </a:lnTo>
                <a:cubicBezTo>
                  <a:pt x="4" y="3"/>
                  <a:pt x="3" y="4"/>
                  <a:pt x="2" y="4"/>
                </a:cubicBezTo>
                <a:lnTo>
                  <a:pt x="2" y="4"/>
                </a:lnTo>
                <a:cubicBezTo>
                  <a:pt x="1" y="4"/>
                  <a:pt x="0" y="3"/>
                  <a:pt x="0" y="2"/>
                </a:cubicBez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571500" y="4124325"/>
            <a:ext cx="11049000" cy="895350"/>
          </a:xfrm>
          <a:prstGeom prst="roundRect">
            <a:avLst>
              <a:gd name="adj" fmla="val 12766"/>
            </a:avLst>
          </a:prstGeom>
          <a:solidFill>
            <a:srgbClr val="0E4A37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3667125" y="4257675"/>
            <a:ext cx="4857750" cy="6286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275">
                <a:solidFill>
                  <a:srgbClr val="FFFFFF"/>
                </a:solidFill>
                <a:latin typeface="Noto Serif SC"/>
                <a:ea typeface="Noto Serif SC"/>
              </a:rPr>
              <a:t>「科研的起点不应由资源决定。我们希望让每一个怀揣好奇心的人，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275">
                <a:solidFill>
                  <a:srgbClr val="FFFFFF"/>
                </a:solidFill>
                <a:latin typeface="Noto Serif SC"/>
                <a:ea typeface="Noto Serif SC"/>
              </a:rPr>
              <a:t>都拥有一支随叫随到的</a:t>
            </a:r>
            <a:r>
              <a:rPr lang="en-US" sz="1275">
                <a:solidFill>
                  <a:srgbClr val="FFFFFF"/>
                </a:solidFill>
                <a:latin typeface="Noto Serif SC"/>
                <a:ea typeface="Noto Serif SC"/>
              </a:rPr>
              <a:t xml:space="preserve"> </a:t>
            </a:r>
            <a:r>
              <a:rPr lang="en-US" sz="1275" b="1">
                <a:solidFill>
                  <a:srgbClr val="F0C419"/>
                </a:solidFill>
                <a:latin typeface="Noto Serif SC"/>
                <a:ea typeface="Noto Serif SC"/>
              </a:rPr>
              <a:t xml:space="preserve">AI </a:t>
            </a:r>
            <a:r>
              <a:rPr lang="zh-CN" sz="1275" b="1">
                <a:solidFill>
                  <a:srgbClr val="F0C419"/>
                </a:solidFill>
                <a:latin typeface="Noto Serif SC"/>
                <a:ea typeface="Noto Serif SC"/>
              </a:rPr>
              <a:t>科研助理团</a:t>
            </a:r>
            <a:r>
              <a:rPr lang="zh-CN" sz="1275">
                <a:solidFill>
                  <a:srgbClr val="FFFFFF"/>
                </a:solidFill>
                <a:latin typeface="Noto Serif SC"/>
                <a:ea typeface="Noto Serif SC"/>
              </a:rPr>
              <a:t>。」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71500" y="5172075"/>
            <a:ext cx="1304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 xml:space="preserve">ScienceX · AI </a:t>
            </a:r>
            <a:r>
              <a:rPr lang="zh-CN" sz="900">
                <a:solidFill>
                  <a:srgbClr val="8A948D"/>
                </a:solidFill>
                <a:latin typeface="Microsoft YaHei"/>
                <a:ea typeface="Microsoft YaHei"/>
              </a:rPr>
              <a:t>科研工作台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1229975" y="5172075"/>
            <a:ext cx="390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948D"/>
                </a:solidFill>
                <a:latin typeface="Microsoft YaHei"/>
                <a:ea typeface="Microsoft YaHei"/>
              </a:rPr>
              <a:t>20 / 22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9191625" y="1504950"/>
            <a:ext cx="8286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核心技能市场开源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9191625" y="1724025"/>
            <a:ext cx="13906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高校科研</a:t>
            </a:r>
            <a:r>
              <a:rPr lang="en-US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插件共创大赛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9191625" y="1943100"/>
            <a:ext cx="16383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与开源社区共建学术</a:t>
            </a:r>
            <a:r>
              <a:rPr lang="en-US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工具生态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9191625" y="2162175"/>
            <a:ext cx="14668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DreamPaper </a:t>
            </a:r>
            <a:r>
              <a:rPr lang="zh-CN" sz="81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复现模板开源共建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36" name="" descr="&lt;Slide style={{ padding: 0, background: '#F6F4EE' }}&gt;&#10;  &lt;Box style={{ flexDirection: 'row', width: '100%', height: '100%' }}&gt;&#10;    {/* 左侧金句区 */}&#10;    &lt;Box style={{ width: '58%', height: '100%', padding: '72px 32px 64px 64px', justifyContent: 'center', gap: 24, position: 'relative' }}&gt;&#10;      &lt;Box style={{ position: 'absolute', top: 40, right: 20, width: 200, height: 200, borderRadius: '50%', background: '#C2762B', opacity: 0.07 }} /&gt;&#10;      &lt;Text style={{ fontSize: 46, fontWeight: 'bold', color: '#1F2A26', fontFamily: 'Noto Serif SC, Georgia, serif', lineHeight: 1.35 }}&gt;&#10;        准备好让 AI 成为你&lt;br /&gt;&lt;span style={{ color: '#1B7A5E' }}&gt;终身科研协同伴侣&lt;/span&gt;了吗？&#10;      &lt;/Text&gt;&#10;      &lt;Box style={{ background: '#1B7A5E', borderRadius: 12, padding: '14px 24px', alignSelf: 'flex-start', boxShadow: '0 6px 18px rgba(27,122,94,0.28)' }}&gt;&#10;        &lt;Text style={{ fontSize: 17, color: '#FFFFFF', fontWeight: 'bold' }}&gt;🚀 立即开启科研之旅 · 免费使用&lt;/Text&gt;&#10;      &lt;/Box&gt;&#10;      &lt;Box style={{ flexDirection: 'column', gap: 4, marginTop: 10 }}&gt;&#10;        &lt;Text style={{ fontSize: 13, color: '#8A948D' }}&gt;演示账号：demo@sciencex.cn&lt;/Text&gt;&#10;        &lt;Text style={{ fontSize: 13, color: '#8A948D' }}&gt;让科学探索更高效，让科研创新更专注。&lt;/Text&gt;&#10;      &lt;/Box&gt;&#10;    &lt;/Box&gt;&#10;    {/* 右侧品牌区 */}&#10;    &lt;Box style={{ width: '42%', height: '100%', position: 'relative', justifyContent: 'center', alignItems: 'center', background: 'linear-gradient(160deg, #F0EDE4 0%, #E7EFEA 55%, #F5EFE3 100%)' }}&gt;&#10;      &lt;Box style={{ position: 'absolute', top: 0, left: 0, width: 200, height: 200, borderRadius: '50%', background: '#1B7A5E', opacity: 0.07 }} /&gt;&#10;      &lt;Box style={{ alignItems: 'center', gap: 14, position: 'relative', zIndex: 1 }}&gt;&#10;        &lt;Image src=&quot;assets/logo.png&quot; style={{ width: 150, height: 150, objectFit: 'contain' }} /&gt;&#10;        &lt;Text style={{ fontSize: 22, fontWeight: 'bold', color: '#1F2A26', fontFamily: 'Noto Serif SC, Georgia, serif' }}&gt;ScienceX · AI 科研工作台&lt;/Text&gt;&#10;        &lt;Text style={{ fontSize: 13, color: '#8A948D', textAlign: 'center', lineHeight: 1.7 }}&gt;欢迎现场扫码体验&lt;br /&gt;期待您的交流与合作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4EE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609600" y="2076450"/>
            <a:ext cx="6153150" cy="14287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450" b="1">
                <a:solidFill>
                  <a:srgbClr val="1F2A26"/>
                </a:solidFill>
                <a:latin typeface="Noto Serif SC"/>
                <a:ea typeface="Noto Serif SC"/>
              </a:rPr>
              <a:t>准备好让</a:t>
            </a:r>
            <a:r>
              <a:rPr lang="en-US" sz="3450" b="1">
                <a:solidFill>
                  <a:srgbClr val="1F2A26"/>
                </a:solidFill>
                <a:latin typeface="Noto Serif SC"/>
                <a:ea typeface="Noto Serif SC"/>
              </a:rPr>
              <a:t xml:space="preserve"> AI </a:t>
            </a:r>
            <a:r>
              <a:rPr lang="zh-CN" sz="3450" b="1">
                <a:solidFill>
                  <a:srgbClr val="1F2A26"/>
                </a:solidFill>
                <a:latin typeface="Noto Serif SC"/>
                <a:ea typeface="Noto Serif SC"/>
              </a:rPr>
              <a:t>成为你</a:t>
            </a:r>
            <a:endParaRPr/>
          </a:p>
          <a:p>
            <a:pPr>
              <a:lnSpc>
                <a:spcPct val="135000"/>
              </a:lnSpc>
            </a:pPr>
            <a:r>
              <a:rPr lang="zh-CN" sz="3450" b="1">
                <a:solidFill>
                  <a:srgbClr val="1B7A5E"/>
                </a:solidFill>
                <a:latin typeface="Noto Serif SC"/>
                <a:ea typeface="Noto Serif SC"/>
              </a:rPr>
              <a:t>终身科研协同伴侣</a:t>
            </a:r>
            <a:r>
              <a:rPr lang="zh-CN" sz="3450" b="1">
                <a:solidFill>
                  <a:srgbClr val="1F2A26"/>
                </a:solidFill>
                <a:latin typeface="Noto Serif SC"/>
                <a:ea typeface="Noto Serif SC"/>
              </a:rPr>
              <a:t>了吗？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09600" y="3733800"/>
            <a:ext cx="2847975" cy="466725"/>
          </a:xfrm>
          <a:prstGeom prst="roundRect">
            <a:avLst>
              <a:gd name="adj" fmla="val 24490"/>
            </a:avLst>
          </a:prstGeom>
          <a:solidFill>
            <a:srgbClr val="1B7A5E"/>
          </a:solidFill>
          <a:ln/>
          <a:effectLst>
            <a:outerShdw blurRad="171450" dist="57150" dir="5400000">
              <a:srgbClr val="1B7A5E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2390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🚀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立即开启科研之旅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免费使用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09600" y="4524375"/>
            <a:ext cx="615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演示账号：</a:t>
            </a:r>
            <a:r>
              <a:rPr lang="en-US" sz="975">
                <a:solidFill>
                  <a:srgbClr val="8A948D"/>
                </a:solidFill>
                <a:latin typeface="Microsoft YaHei"/>
                <a:ea typeface="Microsoft YaHei"/>
              </a:rPr>
              <a:t>demo@sciencex.cn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09600" y="4714875"/>
            <a:ext cx="615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让科学探索更高效，让科研创新更专注。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4972050" y="381000"/>
            <a:ext cx="1905000" cy="1905000"/>
          </a:xfrm>
          <a:custGeom>
            <a:pathLst>
              <a:path w="200" h="200">
                <a:moveTo>
                  <a:pt x="100" y="0"/>
                </a:moveTo>
                <a:lnTo>
                  <a:pt x="100" y="0"/>
                </a:lnTo>
                <a:cubicBezTo>
                  <a:pt x="155" y="0"/>
                  <a:pt x="200" y="45"/>
                  <a:pt x="200" y="100"/>
                </a:cubicBezTo>
                <a:lnTo>
                  <a:pt x="200" y="100"/>
                </a:lnTo>
                <a:cubicBezTo>
                  <a:pt x="200" y="155"/>
                  <a:pt x="155" y="200"/>
                  <a:pt x="100" y="200"/>
                </a:cubicBezTo>
                <a:lnTo>
                  <a:pt x="100" y="200"/>
                </a:lnTo>
                <a:cubicBezTo>
                  <a:pt x="45" y="200"/>
                  <a:pt x="0" y="155"/>
                  <a:pt x="0" y="100"/>
                </a:cubicBezTo>
                <a:lnTo>
                  <a:pt x="0" y="100"/>
                </a:lnTo>
                <a:cubicBezTo>
                  <a:pt x="0" y="45"/>
                  <a:pt x="45" y="0"/>
                  <a:pt x="100" y="0"/>
                </a:cubicBezTo>
                <a:close/>
              </a:path>
            </a:pathLst>
          </a:custGeom>
          <a:solidFill>
            <a:srgbClr val="C2762B">
              <a:alpha val="7000"/>
            </a:srgbClr>
          </a:solidFill>
          <a:ln/>
        </p:spPr>
        <p:txBody>
          <a:bodyPr/>
          <a:p/>
        </p:txBody>
      </p:sp>
      <p:sp>
        <p:nvSpPr>
          <p:cNvPr id="644" name=""/>
          <p:cNvSpPr/>
          <p:nvPr/>
        </p:nvSpPr>
        <p:spPr>
          <a:xfrm rot="0" flipH="0" flipV="0">
            <a:off x="7067550" y="0"/>
            <a:ext cx="5124450" cy="6858000"/>
          </a:xfrm>
          <a:prstGeom prst="rect">
            <a:avLst/>
          </a:prstGeom>
          <a:gradFill>
            <a:gsLst>
              <a:gs pos="0">
                <a:srgbClr val="F0EDE4"/>
              </a:gs>
              <a:gs pos="55000">
                <a:srgbClr val="E7EFEA"/>
              </a:gs>
              <a:gs pos="100000">
                <a:srgbClr val="F5EFE3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7067550" y="0"/>
            <a:ext cx="1905000" cy="1905000"/>
          </a:xfrm>
          <a:custGeom>
            <a:pathLst>
              <a:path w="200" h="200">
                <a:moveTo>
                  <a:pt x="100" y="0"/>
                </a:moveTo>
                <a:lnTo>
                  <a:pt x="100" y="0"/>
                </a:lnTo>
                <a:cubicBezTo>
                  <a:pt x="155" y="0"/>
                  <a:pt x="200" y="45"/>
                  <a:pt x="200" y="100"/>
                </a:cubicBezTo>
                <a:lnTo>
                  <a:pt x="200" y="100"/>
                </a:lnTo>
                <a:cubicBezTo>
                  <a:pt x="200" y="155"/>
                  <a:pt x="155" y="200"/>
                  <a:pt x="100" y="200"/>
                </a:cubicBezTo>
                <a:lnTo>
                  <a:pt x="100" y="200"/>
                </a:lnTo>
                <a:cubicBezTo>
                  <a:pt x="45" y="200"/>
                  <a:pt x="0" y="155"/>
                  <a:pt x="0" y="100"/>
                </a:cubicBezTo>
                <a:lnTo>
                  <a:pt x="0" y="100"/>
                </a:lnTo>
                <a:cubicBezTo>
                  <a:pt x="0" y="45"/>
                  <a:pt x="45" y="0"/>
                  <a:pt x="100" y="0"/>
                </a:cubicBezTo>
                <a:close/>
              </a:path>
            </a:pathLst>
          </a:custGeom>
          <a:solidFill>
            <a:srgbClr val="1B7A5E">
              <a:alpha val="7000"/>
            </a:srgbClr>
          </a:solidFill>
          <a:ln/>
        </p:spPr>
        <p:txBody>
          <a:bodyPr/>
          <a:p/>
        </p:txBody>
      </p:sp>
      <p:pic>
        <p:nvPicPr>
          <p:cNvPr id="64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8924925" y="2200275"/>
            <a:ext cx="1428750" cy="1428750"/>
          </a:xfrm>
          <a:prstGeom prst="rect">
            <a:avLst/>
          </a:prstGeom>
          <a:ln/>
        </p:spPr>
      </p:pic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372475" y="3762375"/>
            <a:ext cx="2524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2A26"/>
                </a:solidFill>
                <a:latin typeface="Noto Serif SC"/>
                <a:ea typeface="Noto Serif SC"/>
              </a:rPr>
              <a:t xml:space="preserve">ScienceX · AI </a:t>
            </a:r>
            <a:r>
              <a:rPr lang="zh-CN" sz="1650" b="1">
                <a:solidFill>
                  <a:srgbClr val="1F2A26"/>
                </a:solidFill>
                <a:latin typeface="Noto Serif SC"/>
                <a:ea typeface="Noto Serif SC"/>
              </a:rPr>
              <a:t>科研工作台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9077325" y="4152900"/>
            <a:ext cx="1114425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欢迎现场扫码体验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975">
                <a:solidFill>
                  <a:srgbClr val="8A948D"/>
                </a:solidFill>
                <a:latin typeface="Microsoft YaHei"/>
                <a:ea typeface="Microsoft YaHei"/>
              </a:rPr>
              <a:t>期待您的交流与合作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2026-10-03T18:18:32Z</dcterms:created>
  <dcterms:modified xsi:type="dcterms:W3CDTF">2026-10-03T18:18:32Z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{"AIGC":{"Label":"1","ContentProducer":"00119111010856365494821B355","ProduceID":"01a100f852137e71ac9f635825aefe39","ReservedCode1":"","ContentPropagator":"00119111010856365494821B355","PropagateID":"01a100f852137e71ac9f635825aefe39","ReservedCode2":""}}</vt:lpwstr>
  </property>
</Properties>
</file>