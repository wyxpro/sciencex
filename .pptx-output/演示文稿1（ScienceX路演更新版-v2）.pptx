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9d2f8ce9d46e1" /><Relationship Type="http://schemas.openxmlformats.org/officeDocument/2006/relationships/extended-properties" Target="/docProps/app.xml" Id="Rb89911acebf04ae2" /><Relationship Type="http://schemas.openxmlformats.org/officeDocument/2006/relationships/officeDocument" Target="/ppt/presentation.xml" Id="Rc4a2d43c8a1d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57f55984c4f9a"/>
  </p:sldMasterIdLst>
  <p:notesMasterIdLst>
    <p:notesMasterId xmlns:r="http://schemas.openxmlformats.org/officeDocument/2006/relationships" r:id="R99c09829ae9d4097"/>
  </p:notesMasterIdLst>
  <p:sldIdLst>
    <p:sldId xmlns:r="http://schemas.openxmlformats.org/officeDocument/2006/relationships" id="256" r:id="Rd6db4b9ad0fe4a68"/>
    <p:sldId xmlns:r="http://schemas.openxmlformats.org/officeDocument/2006/relationships" id="257" r:id="R636c8265d9df471c"/>
    <p:sldId xmlns:r="http://schemas.openxmlformats.org/officeDocument/2006/relationships" id="258" r:id="Re9bc727dece44ea4"/>
    <p:sldId xmlns:r="http://schemas.openxmlformats.org/officeDocument/2006/relationships" id="259" r:id="R194d66f8b36f45a8"/>
    <p:sldId xmlns:r="http://schemas.openxmlformats.org/officeDocument/2006/relationships" id="260" r:id="R363723852efb4fe2"/>
    <p:sldId xmlns:r="http://schemas.openxmlformats.org/officeDocument/2006/relationships" id="261" r:id="R4489a3aadc7b4227"/>
    <p:sldId xmlns:r="http://schemas.openxmlformats.org/officeDocument/2006/relationships" id="262" r:id="R21916fd1a29f43ff"/>
    <p:sldId xmlns:r="http://schemas.openxmlformats.org/officeDocument/2006/relationships" id="263" r:id="R6fefe04e1f544727"/>
    <p:sldId xmlns:r="http://schemas.openxmlformats.org/officeDocument/2006/relationships" id="264" r:id="R698d4b5ed7f24dba"/>
    <p:sldId xmlns:r="http://schemas.openxmlformats.org/officeDocument/2006/relationships" id="265" r:id="Rb12969e26974488f"/>
    <p:sldId xmlns:r="http://schemas.openxmlformats.org/officeDocument/2006/relationships" id="266" r:id="Ra42724e40b6d4822"/>
    <p:sldId xmlns:r="http://schemas.openxmlformats.org/officeDocument/2006/relationships" id="267" r:id="R2fadf68f7c594728"/>
    <p:sldId xmlns:r="http://schemas.openxmlformats.org/officeDocument/2006/relationships" id="268" r:id="R4ee13512ae334cdb"/>
    <p:sldId xmlns:r="http://schemas.openxmlformats.org/officeDocument/2006/relationships" id="269" r:id="R155a280d0a70453e"/>
    <p:sldId xmlns:r="http://schemas.openxmlformats.org/officeDocument/2006/relationships" id="270" r:id="Ree42b56c633846f6"/>
    <p:sldId xmlns:r="http://schemas.openxmlformats.org/officeDocument/2006/relationships" id="271" r:id="R2c36c87ad63446b9"/>
    <p:sldId xmlns:r="http://schemas.openxmlformats.org/officeDocument/2006/relationships" id="272" r:id="R9008f2278ca346cf"/>
    <p:sldId xmlns:r="http://schemas.openxmlformats.org/officeDocument/2006/relationships" id="273" r:id="Rcaab6235155b4644"/>
    <p:sldId xmlns:r="http://schemas.openxmlformats.org/officeDocument/2006/relationships" id="274" r:id="R285042c6979848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3b0ad45a7d475e" /><Relationship Type="http://schemas.openxmlformats.org/officeDocument/2006/relationships/slideMaster" Target="/ppt/slideMasters/slideMaster1.xml" Id="R5f157f55984c4f9a" /><Relationship Type="http://schemas.openxmlformats.org/officeDocument/2006/relationships/notesMaster" Target="/ppt/notesMasters/notesMaster1.xml" Id="R99c09829ae9d4097" /><Relationship Type="http://schemas.openxmlformats.org/officeDocument/2006/relationships/presProps" Target="/ppt/presProps.xml" Id="R3b619ea89aa94427" /><Relationship Type="http://schemas.openxmlformats.org/officeDocument/2006/relationships/viewProps" Target="/ppt/viewProps.xml" Id="Rb5c2717bc1d947ce" /><Relationship Type="http://schemas.openxmlformats.org/officeDocument/2006/relationships/tableStyles" Target="/ppt/tableStyles.xml" Id="R95bf84e652a14bb5" /><Relationship Type="http://schemas.openxmlformats.org/officeDocument/2006/relationships/slide" Target="/ppt/slides/slide1.xml" Id="Rd6db4b9ad0fe4a68" /><Relationship Type="http://schemas.openxmlformats.org/officeDocument/2006/relationships/slide" Target="/ppt/slides/slide2.xml" Id="R636c8265d9df471c" /><Relationship Type="http://schemas.openxmlformats.org/officeDocument/2006/relationships/slide" Target="/ppt/slides/slide3.xml" Id="Re9bc727dece44ea4" /><Relationship Type="http://schemas.openxmlformats.org/officeDocument/2006/relationships/slide" Target="/ppt/slides/slide4.xml" Id="R194d66f8b36f45a8" /><Relationship Type="http://schemas.openxmlformats.org/officeDocument/2006/relationships/slide" Target="/ppt/slides/slide5.xml" Id="R363723852efb4fe2" /><Relationship Type="http://schemas.openxmlformats.org/officeDocument/2006/relationships/slide" Target="/ppt/slides/slide6.xml" Id="R4489a3aadc7b4227" /><Relationship Type="http://schemas.openxmlformats.org/officeDocument/2006/relationships/slide" Target="/ppt/slides/slide7.xml" Id="R21916fd1a29f43ff" /><Relationship Type="http://schemas.openxmlformats.org/officeDocument/2006/relationships/slide" Target="/ppt/slides/slide8.xml" Id="R6fefe04e1f544727" /><Relationship Type="http://schemas.openxmlformats.org/officeDocument/2006/relationships/slide" Target="/ppt/slides/slide9.xml" Id="R698d4b5ed7f24dba" /><Relationship Type="http://schemas.openxmlformats.org/officeDocument/2006/relationships/slide" Target="/ppt/slides/slide10.xml" Id="Rb12969e26974488f" /><Relationship Type="http://schemas.openxmlformats.org/officeDocument/2006/relationships/slide" Target="/ppt/slides/slide11.xml" Id="Ra42724e40b6d4822" /><Relationship Type="http://schemas.openxmlformats.org/officeDocument/2006/relationships/slide" Target="/ppt/slides/slide12.xml" Id="R2fadf68f7c594728" /><Relationship Type="http://schemas.openxmlformats.org/officeDocument/2006/relationships/slide" Target="/ppt/slides/slide13.xml" Id="R4ee13512ae334cdb" /><Relationship Type="http://schemas.openxmlformats.org/officeDocument/2006/relationships/slide" Target="/ppt/slides/slide14.xml" Id="R155a280d0a70453e" /><Relationship Type="http://schemas.openxmlformats.org/officeDocument/2006/relationships/slide" Target="/ppt/slides/slide15.xml" Id="Ree42b56c633846f6" /><Relationship Type="http://schemas.openxmlformats.org/officeDocument/2006/relationships/slide" Target="/ppt/slides/slide16.xml" Id="R2c36c87ad63446b9" /><Relationship Type="http://schemas.openxmlformats.org/officeDocument/2006/relationships/slide" Target="/ppt/slides/slide17.xml" Id="R9008f2278ca346cf" /><Relationship Type="http://schemas.openxmlformats.org/officeDocument/2006/relationships/slide" Target="/ppt/slides/slide18.xml" Id="Rcaab6235155b4644" /><Relationship Type="http://schemas.openxmlformats.org/officeDocument/2006/relationships/slide" Target="/ppt/slides/slide19.xml" Id="R285042c6979848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6419de543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fe5724c654539" /><Relationship Type="http://schemas.openxmlformats.org/officeDocument/2006/relationships/notesMaster" Target="/ppt/notesMasters/notesMaster1.xml" Id="R7dcfe2790a5e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ce6de800444ac" /><Relationship Type="http://schemas.openxmlformats.org/officeDocument/2006/relationships/notesMaster" Target="/ppt/notesMasters/notesMaster1.xml" Id="R757f4217542040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7ab4e3edc446fe" /><Relationship Type="http://schemas.openxmlformats.org/officeDocument/2006/relationships/notesMaster" Target="/ppt/notesMasters/notesMaster1.xml" Id="Ra21df690cdef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7b0c2f95a4b9a" /><Relationship Type="http://schemas.openxmlformats.org/officeDocument/2006/relationships/notesMaster" Target="/ppt/notesMasters/notesMaster1.xml" Id="Re6fb6408db3a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e68e078844b5c" /><Relationship Type="http://schemas.openxmlformats.org/officeDocument/2006/relationships/notesMaster" Target="/ppt/notesMasters/notesMaster1.xml" Id="R8ca8a269ba93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a229011314877" /><Relationship Type="http://schemas.openxmlformats.org/officeDocument/2006/relationships/notesMaster" Target="/ppt/notesMasters/notesMaster1.xml" Id="Rec0be6dab90d46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dd65af3e94a9d" /><Relationship Type="http://schemas.openxmlformats.org/officeDocument/2006/relationships/notesMaster" Target="/ppt/notesMasters/notesMaster1.xml" Id="Raeaf34691342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6d9f6bcae44fb" /><Relationship Type="http://schemas.openxmlformats.org/officeDocument/2006/relationships/notesMaster" Target="/ppt/notesMasters/notesMaster1.xml" Id="R528a480146df45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4ae44d5ff14d04" /><Relationship Type="http://schemas.openxmlformats.org/officeDocument/2006/relationships/notesMaster" Target="/ppt/notesMasters/notesMaster1.xml" Id="R51bffa35c19d4a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0b63b58ac349d6" /><Relationship Type="http://schemas.openxmlformats.org/officeDocument/2006/relationships/notesMaster" Target="/ppt/notesMasters/notesMaster1.xml" Id="R043c2387aa8646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add27304e74c12" /><Relationship Type="http://schemas.openxmlformats.org/officeDocument/2006/relationships/notesMaster" Target="/ppt/notesMasters/notesMaster1.xml" Id="R59fe5d0fc6814f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47fd14d50d4d55" /><Relationship Type="http://schemas.openxmlformats.org/officeDocument/2006/relationships/notesMaster" Target="/ppt/notesMasters/notesMaster1.xml" Id="R977337563ee140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7545bb1fe3491b" /><Relationship Type="http://schemas.openxmlformats.org/officeDocument/2006/relationships/notesMaster" Target="/ppt/notesMasters/notesMaster1.xml" Id="R72e4abed496948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29cc1c0b84407e" /><Relationship Type="http://schemas.openxmlformats.org/officeDocument/2006/relationships/notesMaster" Target="/ppt/notesMasters/notesMaster1.xml" Id="Rfed5ec0c09164a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b1564bcc9344f5" /><Relationship Type="http://schemas.openxmlformats.org/officeDocument/2006/relationships/notesMaster" Target="/ppt/notesMasters/notesMaster1.xml" Id="Rb20c07d068594c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3f6f086b984bf8" /><Relationship Type="http://schemas.openxmlformats.org/officeDocument/2006/relationships/notesMaster" Target="/ppt/notesMasters/notesMaster1.xml" Id="Rdd44c9c384cf40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ab7f1d550e4f72" /><Relationship Type="http://schemas.openxmlformats.org/officeDocument/2006/relationships/notesMaster" Target="/ppt/notesMasters/notesMaster1.xml" Id="R91dee49cf25345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84ba09b0f64d61" /><Relationship Type="http://schemas.openxmlformats.org/officeDocument/2006/relationships/notesMaster" Target="/ppt/notesMasters/notesMaster1.xml" Id="Ra490fea7f6034c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72d8d9c1cc4d95" /><Relationship Type="http://schemas.openxmlformats.org/officeDocument/2006/relationships/notesMaster" Target="/ppt/notesMasters/notesMaster1.xml" Id="R2ccd8ce3d1a2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26ef3692243b5" /></Relationships>
</file>

<file path=ppt/slideLayouts/slideLayout1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e95bdc1e7e4e56" /><Relationship Type="http://schemas.openxmlformats.org/officeDocument/2006/relationships/slideLayout" Target="/ppt/slideLayouts/slideLayout1.xml" Id="R4f153127ca4a47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153127ca4a47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e6a45a5914b23" /><Relationship Type="http://schemas.openxmlformats.org/officeDocument/2006/relationships/image" Target="/ppt/media/image.png" Id="Rb07583f53b7344ed" /><Relationship Type="http://schemas.openxmlformats.org/officeDocument/2006/relationships/image" Target="/ppt/media/image.svg" Id="R70bb05b243ef4b8c" /><Relationship Type="http://schemas.openxmlformats.org/officeDocument/2006/relationships/image" Target="/ppt/media/image.jpeg" Id="Raaf0962ba00d41b7" /><Relationship Type="http://schemas.openxmlformats.org/officeDocument/2006/relationships/image" Target="/ppt/media/image2.png" Id="R23751b8ba7fb4143" /><Relationship Type="http://schemas.openxmlformats.org/officeDocument/2006/relationships/image" Target="/ppt/media/image2.jpeg" Id="Rc957ed593d7f4ee9" /><Relationship Type="http://schemas.openxmlformats.org/officeDocument/2006/relationships/notesSlide" Target="/ppt/notesSlides/notesSlide1.xml" Id="R6ce7c817418a4a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07400e36f42fe" /><Relationship Type="http://schemas.openxmlformats.org/officeDocument/2006/relationships/image" Target="/ppt/media/image3.png" Id="R7e33bcfdb3314b71" /><Relationship Type="http://schemas.openxmlformats.org/officeDocument/2006/relationships/image" Target="/ppt/media/image2.svg" Id="Rbeb1913839f04a1e" /><Relationship Type="http://schemas.openxmlformats.org/officeDocument/2006/relationships/image" Target="/ppt/media/image4.png" Id="R164d8f78ec044b0d" /><Relationship Type="http://schemas.openxmlformats.org/officeDocument/2006/relationships/image" Target="/ppt/media/image3.jpeg" Id="R4e96f135273340af" /><Relationship Type="http://schemas.openxmlformats.org/officeDocument/2006/relationships/notesSlide" Target="/ppt/notesSlides/notesSlide2.xml" Id="R2e8d4a4752e0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34d1a45c54045" /><Relationship Type="http://schemas.openxmlformats.org/officeDocument/2006/relationships/image" Target="/ppt/media/image5.png" Id="Rbcda9bbf2c464acf" /><Relationship Type="http://schemas.openxmlformats.org/officeDocument/2006/relationships/image" Target="/ppt/media/image3.svg" Id="R1216025aa92b4536" /><Relationship Type="http://schemas.openxmlformats.org/officeDocument/2006/relationships/image" Target="/ppt/media/image6.png" Id="Rcf8e56f1200f4e34" /><Relationship Type="http://schemas.openxmlformats.org/officeDocument/2006/relationships/image" Target="/ppt/media/image4.svg" Id="R6535462dfc9040fc" /><Relationship Type="http://schemas.openxmlformats.org/officeDocument/2006/relationships/image" Target="/ppt/media/image7.png" Id="Rc1a799fa52c04d90" /><Relationship Type="http://schemas.openxmlformats.org/officeDocument/2006/relationships/image" Target="/ppt/media/image8.png" Id="Ra44693cfa3794528" /><Relationship Type="http://schemas.openxmlformats.org/officeDocument/2006/relationships/image" Target="/ppt/media/image4.jpeg" Id="Rd48ca91a25974416" /><Relationship Type="http://schemas.openxmlformats.org/officeDocument/2006/relationships/notesSlide" Target="/ppt/notesSlides/notesSlide3.xml" Id="Rc4a1efb15d214a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5394f31d44fa" /><Relationship Type="http://schemas.openxmlformats.org/officeDocument/2006/relationships/image" Target="/ppt/media/image9.png" Id="R8d780f43e8a84d05" /><Relationship Type="http://schemas.openxmlformats.org/officeDocument/2006/relationships/image" Target="/ppt/media/image5.svg" Id="R87f351feede24d34" /><Relationship Type="http://schemas.openxmlformats.org/officeDocument/2006/relationships/image" Target="/ppt/media/image10.png" Id="Rd64d46d4d7354465" /><Relationship Type="http://schemas.openxmlformats.org/officeDocument/2006/relationships/image" Target="/ppt/media/image6.svg" Id="R23d6dffffa774ed9" /><Relationship Type="http://schemas.openxmlformats.org/officeDocument/2006/relationships/image" Target="/ppt/media/image11.png" Id="Rc7d7ab58b0034aee" /><Relationship Type="http://schemas.openxmlformats.org/officeDocument/2006/relationships/image" Target="/ppt/media/image7.svg" Id="R4c1582b0dd014338" /><Relationship Type="http://schemas.openxmlformats.org/officeDocument/2006/relationships/image" Target="/ppt/media/image12.png" Id="R1f45a77a36f2457f" /><Relationship Type="http://schemas.openxmlformats.org/officeDocument/2006/relationships/image" Target="/ppt/media/image8.svg" Id="R7a05422ac02044dc" /><Relationship Type="http://schemas.openxmlformats.org/officeDocument/2006/relationships/image" Target="/ppt/media/image13.png" Id="R15a2f294febf4215" /><Relationship Type="http://schemas.openxmlformats.org/officeDocument/2006/relationships/image" Target="/ppt/media/image5.jpeg" Id="Rcd84338142f84166" /><Relationship Type="http://schemas.openxmlformats.org/officeDocument/2006/relationships/notesSlide" Target="/ppt/notesSlides/notesSlide4.xml" Id="Ra43e56ce6592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b920c7f454676" /><Relationship Type="http://schemas.openxmlformats.org/officeDocument/2006/relationships/image" Target="/ppt/media/image14.png" Id="Rbc7a9608d5ba471f" /><Relationship Type="http://schemas.openxmlformats.org/officeDocument/2006/relationships/image" Target="/ppt/media/image9.svg" Id="R60462a1c71dd4bea" /><Relationship Type="http://schemas.openxmlformats.org/officeDocument/2006/relationships/image" Target="/ppt/media/image15.png" Id="Rff995a21f79a4da9" /><Relationship Type="http://schemas.openxmlformats.org/officeDocument/2006/relationships/image" Target="/ppt/media/image10.svg" Id="R575dcf1e5cce4399" /><Relationship Type="http://schemas.openxmlformats.org/officeDocument/2006/relationships/image" Target="/ppt/media/image16.png" Id="Rfdb8dc49b1904721" /><Relationship Type="http://schemas.openxmlformats.org/officeDocument/2006/relationships/image" Target="/ppt/media/image11.svg" Id="R5652c2099f0741e2" /><Relationship Type="http://schemas.openxmlformats.org/officeDocument/2006/relationships/image" Target="/ppt/media/image17.png" Id="Re5c8ec668f1146a5" /><Relationship Type="http://schemas.openxmlformats.org/officeDocument/2006/relationships/image" Target="/ppt/media/image12.svg" Id="Rba98271e7c5d4c8b" /><Relationship Type="http://schemas.openxmlformats.org/officeDocument/2006/relationships/image" Target="/ppt/media/image18.png" Id="R493235b728d04cfe" /><Relationship Type="http://schemas.openxmlformats.org/officeDocument/2006/relationships/image" Target="/ppt/media/image6.jpeg" Id="R1d25c2a068ff4cb0" /><Relationship Type="http://schemas.openxmlformats.org/officeDocument/2006/relationships/notesSlide" Target="/ppt/notesSlides/notesSlide5.xml" Id="R44e3dd6c7edb4d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7bad9def34589" /><Relationship Type="http://schemas.openxmlformats.org/officeDocument/2006/relationships/image" Target="/ppt/media/image5.png" Id="R7f468e04464642f2" /><Relationship Type="http://schemas.openxmlformats.org/officeDocument/2006/relationships/image" Target="/ppt/media/image3.svg" Id="R7ee1013640f848f4" /><Relationship Type="http://schemas.openxmlformats.org/officeDocument/2006/relationships/image" Target="/ppt/media/image19.png" Id="Rf3a0faba12274412" /><Relationship Type="http://schemas.openxmlformats.org/officeDocument/2006/relationships/image" Target="/ppt/media/image7.jpeg" Id="R8bbea781319e4bda" /><Relationship Type="http://schemas.openxmlformats.org/officeDocument/2006/relationships/notesSlide" Target="/ppt/notesSlides/notesSlide6.xml" Id="Re907cdfe3c17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e1c2c88a84f72" /><Relationship Type="http://schemas.openxmlformats.org/officeDocument/2006/relationships/image" Target="/ppt/media/image20.png" Id="Rf870b3760d404019" /><Relationship Type="http://schemas.openxmlformats.org/officeDocument/2006/relationships/image" Target="/ppt/media/image13.svg" Id="R1ff86fae966143a9" /><Relationship Type="http://schemas.openxmlformats.org/officeDocument/2006/relationships/image" Target="/ppt/media/image21.png" Id="R2a81a55705ad4795" /><Relationship Type="http://schemas.openxmlformats.org/officeDocument/2006/relationships/image" Target="/ppt/media/image14.svg" Id="Rf02aa3b01b2d4102" /><Relationship Type="http://schemas.openxmlformats.org/officeDocument/2006/relationships/image" Target="/ppt/media/image22.png" Id="R0b3c0317c90140b1" /><Relationship Type="http://schemas.openxmlformats.org/officeDocument/2006/relationships/image" Target="/ppt/media/image23.png" Id="Rd46807e353234dae" /><Relationship Type="http://schemas.openxmlformats.org/officeDocument/2006/relationships/image" Target="/ppt/media/image8.jpeg" Id="Rb590eaf25e5a47c0" /><Relationship Type="http://schemas.openxmlformats.org/officeDocument/2006/relationships/notesSlide" Target="/ppt/notesSlides/notesSlide7.xml" Id="Rf5c0ba7d624e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424bc08f4732" /><Relationship Type="http://schemas.openxmlformats.org/officeDocument/2006/relationships/image" Target="/ppt/media/image24.png" Id="Raeb5205edb0d406d" /><Relationship Type="http://schemas.openxmlformats.org/officeDocument/2006/relationships/image" Target="/ppt/media/image15.svg" Id="Rd1292da95310450f" /><Relationship Type="http://schemas.openxmlformats.org/officeDocument/2006/relationships/image" Target="/ppt/media/image25.png" Id="R8ea4d7c51cf445b4" /><Relationship Type="http://schemas.openxmlformats.org/officeDocument/2006/relationships/image" Target="/ppt/media/image16.svg" Id="Rcb7840c244e84bfc" /><Relationship Type="http://schemas.openxmlformats.org/officeDocument/2006/relationships/image" Target="/ppt/media/image26.png" Id="R958fe61ca3bb4aa1" /><Relationship Type="http://schemas.openxmlformats.org/officeDocument/2006/relationships/image" Target="/ppt/media/image17.svg" Id="Rd2fc352b5fb747c5" /><Relationship Type="http://schemas.openxmlformats.org/officeDocument/2006/relationships/image" Target="/ppt/media/image27.png" Id="Rb9b2a090c3794104" /><Relationship Type="http://schemas.openxmlformats.org/officeDocument/2006/relationships/image" Target="/ppt/media/image18.svg" Id="Ra0d8c570a5214675" /><Relationship Type="http://schemas.openxmlformats.org/officeDocument/2006/relationships/image" Target="/ppt/media/image28.png" Id="R22c3f0e5d61d4260" /><Relationship Type="http://schemas.openxmlformats.org/officeDocument/2006/relationships/image" Target="/ppt/media/image19.svg" Id="R51cca75f10094a2d" /><Relationship Type="http://schemas.openxmlformats.org/officeDocument/2006/relationships/image" Target="/ppt/media/image29.png" Id="R4ec0b1abefa14bee" /><Relationship Type="http://schemas.openxmlformats.org/officeDocument/2006/relationships/image" Target="/ppt/media/image20.svg" Id="R9748c14bb22a40eb" /><Relationship Type="http://schemas.openxmlformats.org/officeDocument/2006/relationships/image" Target="/ppt/media/image30.png" Id="R2c60f46888e24cd9" /><Relationship Type="http://schemas.openxmlformats.org/officeDocument/2006/relationships/image" Target="/ppt/media/image31.png" Id="Rbf77ba92cff0430a" /><Relationship Type="http://schemas.openxmlformats.org/officeDocument/2006/relationships/image" Target="/ppt/media/image9.jpeg" Id="Rbe3e2f75c5e24a55" /><Relationship Type="http://schemas.openxmlformats.org/officeDocument/2006/relationships/notesSlide" Target="/ppt/notesSlides/notesSlide8.xml" Id="R35db07863abd4c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0a6c4e64849ea" /><Relationship Type="http://schemas.openxmlformats.org/officeDocument/2006/relationships/image" Target="/ppt/media/image32.png" Id="R75464850728a42ab" /><Relationship Type="http://schemas.openxmlformats.org/officeDocument/2006/relationships/image" Target="/ppt/media/image21.svg" Id="Rc2f2e36d6a2044d1" /><Relationship Type="http://schemas.openxmlformats.org/officeDocument/2006/relationships/image" Target="/ppt/media/image33.png" Id="R6bf3d5dfa1e640f9" /><Relationship Type="http://schemas.openxmlformats.org/officeDocument/2006/relationships/image" Target="/ppt/media/image22.svg" Id="R73ee6dd1229043b2" /><Relationship Type="http://schemas.openxmlformats.org/officeDocument/2006/relationships/image" Target="/ppt/media/image34.png" Id="Rf37c764d1d9942f6" /><Relationship Type="http://schemas.openxmlformats.org/officeDocument/2006/relationships/image" Target="/ppt/media/image23.svg" Id="R3d42c3bedc7945f4" /><Relationship Type="http://schemas.openxmlformats.org/officeDocument/2006/relationships/image" Target="/ppt/media/image35.png" Id="R08b979dd165248e9" /><Relationship Type="http://schemas.openxmlformats.org/officeDocument/2006/relationships/image" Target="/ppt/media/image24.svg" Id="R668d5aa4d9044e7d" /><Relationship Type="http://schemas.openxmlformats.org/officeDocument/2006/relationships/image" Target="/ppt/media/image7.png" Id="R9f6f389128ef4178" /><Relationship Type="http://schemas.openxmlformats.org/officeDocument/2006/relationships/image" Target="/ppt/media/image36.png" Id="Ra50daa3ec55143bc" /><Relationship Type="http://schemas.openxmlformats.org/officeDocument/2006/relationships/image" Target="/ppt/media/image10.jpeg" Id="Rb27a9c67e8eb44ac" /><Relationship Type="http://schemas.openxmlformats.org/officeDocument/2006/relationships/notesSlide" Target="/ppt/notesSlides/notesSlide9.xml" Id="Rc142c5466c9842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466dfac847b0" /><Relationship Type="http://schemas.openxmlformats.org/officeDocument/2006/relationships/image" Target="/ppt/media/image37.png" Id="R57f1e4eaa74b41f1" /><Relationship Type="http://schemas.openxmlformats.org/officeDocument/2006/relationships/image" Target="/ppt/media/image25.svg" Id="R53d8064b581a42ce" /><Relationship Type="http://schemas.openxmlformats.org/officeDocument/2006/relationships/image" Target="/ppt/media/image38.png" Id="R31a22a1aa3834f77" /><Relationship Type="http://schemas.openxmlformats.org/officeDocument/2006/relationships/image" Target="/ppt/media/image11.jpeg" Id="R1754e80c8643449f" /><Relationship Type="http://schemas.openxmlformats.org/officeDocument/2006/relationships/notesSlide" Target="/ppt/notesSlides/notesSlide10.xml" Id="R52abbdffbc9246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28d3e2fe34cf1" /><Relationship Type="http://schemas.openxmlformats.org/officeDocument/2006/relationships/image" Target="/ppt/media/image39.png" Id="R4a822fd90a93494d" /><Relationship Type="http://schemas.openxmlformats.org/officeDocument/2006/relationships/image" Target="/ppt/media/image26.svg" Id="R89307083fc9d496a" /><Relationship Type="http://schemas.openxmlformats.org/officeDocument/2006/relationships/image" Target="/ppt/media/image3.png" Id="Rf6855adb32f843e6" /><Relationship Type="http://schemas.openxmlformats.org/officeDocument/2006/relationships/image" Target="/ppt/media/image2.svg" Id="Rdfa1e07849f943ba" /><Relationship Type="http://schemas.openxmlformats.org/officeDocument/2006/relationships/image" Target="/ppt/media/image40.png" Id="Rf3359c25b91a4ccc" /><Relationship Type="http://schemas.openxmlformats.org/officeDocument/2006/relationships/image" Target="/ppt/media/image12.jpeg" Id="R9a8a81f6afc74c14" /><Relationship Type="http://schemas.openxmlformats.org/officeDocument/2006/relationships/notesSlide" Target="/ppt/notesSlides/notesSlide11.xml" Id="R52f2b5ebfd8140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a191e155486d" /><Relationship Type="http://schemas.openxmlformats.org/officeDocument/2006/relationships/image" Target="/ppt/media/image41.png" Id="R5a862d469fb340b9" /><Relationship Type="http://schemas.openxmlformats.org/officeDocument/2006/relationships/image" Target="/ppt/media/image27.svg" Id="R37ba01d5f0f8450d" /><Relationship Type="http://schemas.openxmlformats.org/officeDocument/2006/relationships/image" Target="/ppt/media/image42.png" Id="R5d8557f6095e4aec" /><Relationship Type="http://schemas.openxmlformats.org/officeDocument/2006/relationships/image" Target="/ppt/media/image28.svg" Id="R0053ae361eff4b0a" /><Relationship Type="http://schemas.openxmlformats.org/officeDocument/2006/relationships/image" Target="/ppt/media/image43.png" Id="Rfd382dd839214c27" /><Relationship Type="http://schemas.openxmlformats.org/officeDocument/2006/relationships/image" Target="/ppt/media/image29.svg" Id="Rb57429b3b3cd4f11" /><Relationship Type="http://schemas.openxmlformats.org/officeDocument/2006/relationships/image" Target="/ppt/media/image44.png" Id="R0c0c76c4fbec4995" /><Relationship Type="http://schemas.openxmlformats.org/officeDocument/2006/relationships/image" Target="/ppt/media/image30.svg" Id="R3a33e58d7b1f40dd" /><Relationship Type="http://schemas.openxmlformats.org/officeDocument/2006/relationships/image" Target="/ppt/media/image45.png" Id="Re028fbf344144084" /><Relationship Type="http://schemas.openxmlformats.org/officeDocument/2006/relationships/image" Target="/ppt/media/image13.jpeg" Id="Rf65f6305fd874efb" /><Relationship Type="http://schemas.openxmlformats.org/officeDocument/2006/relationships/notesSlide" Target="/ppt/notesSlides/notesSlide12.xml" Id="R8809a6e185804b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a3539b8704f77" /><Relationship Type="http://schemas.openxmlformats.org/officeDocument/2006/relationships/image" Target="/ppt/media/image46.png" Id="R4b52cd398cfe4157" /><Relationship Type="http://schemas.openxmlformats.org/officeDocument/2006/relationships/image" Target="/ppt/media/image31.svg" Id="R94130c3b71894d34" /><Relationship Type="http://schemas.openxmlformats.org/officeDocument/2006/relationships/image" Target="/ppt/media/image47.png" Id="R3c74677892a1447b" /><Relationship Type="http://schemas.openxmlformats.org/officeDocument/2006/relationships/image" Target="/ppt/media/image14.jpeg" Id="Rb8aae5f4992843c9" /><Relationship Type="http://schemas.openxmlformats.org/officeDocument/2006/relationships/notesSlide" Target="/ppt/notesSlides/notesSlide13.xml" Id="Rfcfa51980df44c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b87e3125541e5" /><Relationship Type="http://schemas.openxmlformats.org/officeDocument/2006/relationships/image" Target="/ppt/media/image48.png" Id="R3b19ed4ea65c477c" /><Relationship Type="http://schemas.openxmlformats.org/officeDocument/2006/relationships/image" Target="/ppt/media/image49.png" Id="Re6b70e9d80d94e5d" /><Relationship Type="http://schemas.openxmlformats.org/officeDocument/2006/relationships/image" Target="/ppt/media/image50.png" Id="Rc7acf93daeb04799" /><Relationship Type="http://schemas.openxmlformats.org/officeDocument/2006/relationships/image" Target="/ppt/media/image15.jpeg" Id="Rdc2856b1430b4096" /><Relationship Type="http://schemas.openxmlformats.org/officeDocument/2006/relationships/notesSlide" Target="/ppt/notesSlides/notesSlide14.xml" Id="Refad8673a0af4a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ee944420d445b" /><Relationship Type="http://schemas.openxmlformats.org/officeDocument/2006/relationships/image" Target="/ppt/media/image51.png" Id="R3096f2553eee40c9" /><Relationship Type="http://schemas.openxmlformats.org/officeDocument/2006/relationships/image" Target="/ppt/media/image32.svg" Id="Re6ec1e806c8e4fd4" /><Relationship Type="http://schemas.openxmlformats.org/officeDocument/2006/relationships/image" Target="/ppt/media/image52.png" Id="Re68f3b9580f64735" /><Relationship Type="http://schemas.openxmlformats.org/officeDocument/2006/relationships/image" Target="/ppt/media/image33.svg" Id="R92ef7321399149db" /><Relationship Type="http://schemas.openxmlformats.org/officeDocument/2006/relationships/image" Target="/ppt/media/image53.png" Id="Ra516ab13221d4b55" /><Relationship Type="http://schemas.openxmlformats.org/officeDocument/2006/relationships/image" Target="/ppt/media/image34.svg" Id="R05548cd9df864888" /><Relationship Type="http://schemas.openxmlformats.org/officeDocument/2006/relationships/image" Target="/ppt/media/image54.png" Id="Re4eaae2c5e94464c" /><Relationship Type="http://schemas.openxmlformats.org/officeDocument/2006/relationships/image" Target="/ppt/media/image35.svg" Id="R6450a8a16d934e6b" /><Relationship Type="http://schemas.openxmlformats.org/officeDocument/2006/relationships/image" Target="/ppt/media/image55.png" Id="R0ef8cfae9c274e82" /><Relationship Type="http://schemas.openxmlformats.org/officeDocument/2006/relationships/image" Target="/ppt/media/image16.jpeg" Id="R55cd01c8f0b74c8a" /><Relationship Type="http://schemas.openxmlformats.org/officeDocument/2006/relationships/notesSlide" Target="/ppt/notesSlides/notesSlide15.xml" Id="R804e745fab5145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7df94802945b7" /><Relationship Type="http://schemas.openxmlformats.org/officeDocument/2006/relationships/image" Target="/ppt/media/image56.png" Id="R68f7681e36074517" /><Relationship Type="http://schemas.openxmlformats.org/officeDocument/2006/relationships/image" Target="/ppt/media/image36.svg" Id="R89fa0b37a56d4477" /><Relationship Type="http://schemas.openxmlformats.org/officeDocument/2006/relationships/image" Target="/ppt/media/image57.png" Id="Reb066866341a4c85" /><Relationship Type="http://schemas.openxmlformats.org/officeDocument/2006/relationships/image" Target="/ppt/media/image37.svg" Id="Rcfc1c27f5af14da0" /><Relationship Type="http://schemas.openxmlformats.org/officeDocument/2006/relationships/image" Target="/ppt/media/image58.png" Id="Rd37b996ab1fe440d" /><Relationship Type="http://schemas.openxmlformats.org/officeDocument/2006/relationships/image" Target="/ppt/media/image38.svg" Id="Rc0ddaf028be548e0" /><Relationship Type="http://schemas.openxmlformats.org/officeDocument/2006/relationships/image" Target="/ppt/media/image59.png" Id="Ra1488aff812f4a89" /><Relationship Type="http://schemas.openxmlformats.org/officeDocument/2006/relationships/image" Target="/ppt/media/image39.svg" Id="R424bad07cbfa466a" /><Relationship Type="http://schemas.openxmlformats.org/officeDocument/2006/relationships/image" Target="/ppt/media/image60.png" Id="Rdbe83b39fded4f3d" /><Relationship Type="http://schemas.openxmlformats.org/officeDocument/2006/relationships/image" Target="/ppt/media/image17.jpeg" Id="R833c7cbaa3dd4389" /><Relationship Type="http://schemas.openxmlformats.org/officeDocument/2006/relationships/notesSlide" Target="/ppt/notesSlides/notesSlide16.xml" Id="R846a71bf747c4b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3bc6f96a14be1" /><Relationship Type="http://schemas.openxmlformats.org/officeDocument/2006/relationships/image" Target="/ppt/media/image61.png" Id="R0fd4242b3ae84935" /><Relationship Type="http://schemas.openxmlformats.org/officeDocument/2006/relationships/image" Target="/ppt/media/image40.svg" Id="R347dc83118304906" /><Relationship Type="http://schemas.openxmlformats.org/officeDocument/2006/relationships/image" Target="/ppt/media/image62.png" Id="R93a3066161714629" /><Relationship Type="http://schemas.openxmlformats.org/officeDocument/2006/relationships/image" Target="/ppt/media/image41.svg" Id="R0ee82dd2d4494151" /><Relationship Type="http://schemas.openxmlformats.org/officeDocument/2006/relationships/image" Target="/ppt/media/image63.png" Id="R28b1bd80411a4f32" /><Relationship Type="http://schemas.openxmlformats.org/officeDocument/2006/relationships/image" Target="/ppt/media/image42.svg" Id="Rc821fb1c9465448f" /><Relationship Type="http://schemas.openxmlformats.org/officeDocument/2006/relationships/image" Target="/ppt/media/image64.png" Id="R4855f627846148c3" /><Relationship Type="http://schemas.openxmlformats.org/officeDocument/2006/relationships/image" Target="/ppt/media/image43.svg" Id="Rcf1b9bc5dba1454e" /><Relationship Type="http://schemas.openxmlformats.org/officeDocument/2006/relationships/image" Target="/ppt/media/image65.png" Id="R0367f928bcfa4014" /><Relationship Type="http://schemas.openxmlformats.org/officeDocument/2006/relationships/image" Target="/ppt/media/image18.jpeg" Id="R38b1aa2241a14462" /><Relationship Type="http://schemas.openxmlformats.org/officeDocument/2006/relationships/notesSlide" Target="/ppt/notesSlides/notesSlide17.xml" Id="R40845135bfcc4f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f5ceb21041b7" /><Relationship Type="http://schemas.openxmlformats.org/officeDocument/2006/relationships/image" Target="/ppt/media/image66.png" Id="Ra568c31a9d3b47f7" /><Relationship Type="http://schemas.openxmlformats.org/officeDocument/2006/relationships/image" Target="/ppt/media/image44.svg" Id="Rf65675760a134d19" /><Relationship Type="http://schemas.openxmlformats.org/officeDocument/2006/relationships/image" Target="/ppt/media/image67.png" Id="Rd56d5eca2cd14e93" /><Relationship Type="http://schemas.openxmlformats.org/officeDocument/2006/relationships/image" Target="/ppt/media/image45.svg" Id="Rf280d7c8e1d04920" /><Relationship Type="http://schemas.openxmlformats.org/officeDocument/2006/relationships/image" Target="/ppt/media/image68.png" Id="Rccb50dd42fed4d28" /><Relationship Type="http://schemas.openxmlformats.org/officeDocument/2006/relationships/image" Target="/ppt/media/image46.svg" Id="Rc77ae0bc8fec4529" /><Relationship Type="http://schemas.openxmlformats.org/officeDocument/2006/relationships/image" Target="/ppt/media/image69.png" Id="R7a3d90f9383442cf" /><Relationship Type="http://schemas.openxmlformats.org/officeDocument/2006/relationships/image" Target="/ppt/media/image47.svg" Id="R72994c801a0040fc" /><Relationship Type="http://schemas.openxmlformats.org/officeDocument/2006/relationships/image" Target="/ppt/media/image70.png" Id="R4a0923aa703543b8" /><Relationship Type="http://schemas.openxmlformats.org/officeDocument/2006/relationships/image" Target="/ppt/media/image48.svg" Id="Rbea714a2807d418c" /><Relationship Type="http://schemas.openxmlformats.org/officeDocument/2006/relationships/image" Target="/ppt/media/image71.png" Id="R71b31457933347ff" /><Relationship Type="http://schemas.openxmlformats.org/officeDocument/2006/relationships/image" Target="/ppt/media/image49.svg" Id="R69a99f2848014274" /><Relationship Type="http://schemas.openxmlformats.org/officeDocument/2006/relationships/image" Target="/ppt/media/image72.png" Id="Red2f8d2f6b034605" /><Relationship Type="http://schemas.openxmlformats.org/officeDocument/2006/relationships/image" Target="/ppt/media/image19.jpeg" Id="R4b68c581d39f4382" /><Relationship Type="http://schemas.openxmlformats.org/officeDocument/2006/relationships/notesSlide" Target="/ppt/notesSlides/notesSlide18.xml" Id="R85428156a5ed47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4ebdb68124046" /><Relationship Type="http://schemas.openxmlformats.org/officeDocument/2006/relationships/image" Target="/ppt/media/image.png" Id="R59b468fb4a254f9e" /><Relationship Type="http://schemas.openxmlformats.org/officeDocument/2006/relationships/image" Target="/ppt/media/image.svg" Id="R24b3ddc96f684a6e" /><Relationship Type="http://schemas.openxmlformats.org/officeDocument/2006/relationships/image" Target="/ppt/media/image73.png" Id="R7ef44ebe2d2c4fcd" /><Relationship Type="http://schemas.openxmlformats.org/officeDocument/2006/relationships/image" Target="/ppt/media/image20.jpeg" Id="Rcb330a58d1614a19" /><Relationship Type="http://schemas.openxmlformats.org/officeDocument/2006/relationships/notesSlide" Target="/ppt/notesSlides/notesSlide19.xml" Id="R223bfa635a91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A8DFEC-3B2C-4709-9C74-79B9F4C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4572E790-9449-45FD-A8A4-246567D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09725"/>
            <a:ext cx="3943350" cy="295275"/>
          </a:xfrm>
          <a:prstGeom xmlns:a="http://schemas.openxmlformats.org/drawingml/2006/main" prst="roundRect">
            <a:avLst>
              <a:gd name="adj" fmla="val 64516"/>
            </a:avLst>
          </a:prstGeom>
          <a:ln xmlns:a="http://schemas.openxmlformats.org/drawingml/2006/main" w="12700">
            <a:solidFill>
              <a:srgbClr val="5B9B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DA7D3B2-2ACF-4DAD-8326-B3F21B6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524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4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HACKATHON 2026 · ROADSHOW</a:t>
            </a:r>
            <a:endParaRPr sz="1050" spc="4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AAA8557-8FB5-4BE7-9C9E-E68D119C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52650"/>
            <a:ext cx="51435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8700" b="1" spc="2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ScienceX</a:t>
            </a:r>
            <a:endParaRPr sz="8700" b="1" spc="2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0AC7EE6-F290-4304-8984-2FED9FFF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6715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 spc="7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3000" b="1" spc="7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3000" b="1" spc="750">
              <a:solidFill>
                <a:srgbClr val="DCE8F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22D2E0-330C-4488-BDA6-969628A7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863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B9E58B-3C08-4A4C-9584-61D67B37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863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64B0673-9DF5-4543-9657-4DD9D24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72050"/>
            <a:ext cx="5591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让科研从文献到投稿，在一个工作台里完成闭环。</a:t>
            </a:r>
            <a:endParaRPr sz="18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583f53b7344ed">
            <a:extLst>
              <a:ext uri="{96DAC541-7B7A-43D3-8B79-37D633B846F1}">
                <asvg:svgBlip xmlns:asvg="http://schemas.microsoft.com/office/drawing/2016/SVG/main" r:embed="R70bb05b243ef4b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CD68CD5-4B60-454A-9E26-5B14D1D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7425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9F11802-E6B2-4CCF-B9CD-F72B6DBF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276975"/>
            <a:ext cx="15430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汇报：</a:t>
            </a: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</a:t>
            </a: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两人小队</a:t>
            </a:r>
            <a:endParaRPr sz="10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9574190-5620-4A0B-9E01-9CDB85B3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2960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4A3F18A-550E-45D4-97DA-F0E0AD42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276975"/>
            <a:ext cx="8286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10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10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05FDCC-7E60-4413-874D-070BFDD1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2960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5FCFDBB-5F09-4AD5-A578-EBD19E0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76975"/>
            <a:ext cx="19431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依据《产品需求文档</a:t>
            </a: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PRD v1.0</a:t>
            </a:r>
            <a:r>
              <a:rPr sz="105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》</a:t>
            </a:r>
            <a:endParaRPr sz="10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0962ba00d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" y="383540"/>
            <a:ext cx="2581275" cy="2577465"/>
          </a:xfrm>
          <a:prstGeom xmlns:a="http://schemas.openxmlformats.org/drawingml/2006/main" prst="rect">
            <a:avLst/>
          </a:prstGeom>
        </p:spPr>
      </p:pic>
      <p:sp>
        <p:nvSpPr>
          <p:cNvPr id="20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89C4E6E1-0CF4-4A9D-B9B0-0218C77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21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B3A49247-92A8-4E5F-8904-A413B25F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51b8ba7fb4143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7ed593d7f4ee9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63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6" name="矩形 285">
            <a:extLst xmlns:a="http://schemas.openxmlformats.org/drawingml/2006/main">
              <a:ext uri="{FF2B5EF4-FFF2-40B4-BE49-F238E27FC236}">
                <a16:creationId xmlns:a16="http://schemas.microsoft.com/office/drawing/2014/main" id="{819244D4-0A22-4C7C-AA10-5299E667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7" name="文本框 286">
            <a:extLst xmlns:a="http://schemas.openxmlformats.org/drawingml/2006/main">
              <a:ext uri="{FF2B5EF4-FFF2-40B4-BE49-F238E27FC236}">
                <a16:creationId xmlns:a16="http://schemas.microsoft.com/office/drawing/2014/main" id="{E6CCB32A-E66F-497D-B840-1A065AF9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05156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450">
                <a:solidFill>
                  <a:srgbClr val="1467D8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050" spc="45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8" name="文本框 287">
            <a:extLst xmlns:a="http://schemas.openxmlformats.org/drawingml/2006/main">
              <a:ext uri="{FF2B5EF4-FFF2-40B4-BE49-F238E27FC236}">
                <a16:creationId xmlns:a16="http://schemas.microsoft.com/office/drawing/2014/main" id="{6139C0CA-AFB2-4277-A6B9-37D45214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10515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目录：四章看懂</a:t>
            </a:r>
            <a:r>
              <a:rPr sz="28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ScienceX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9" name="文本框 288">
            <a:extLst xmlns:a="http://schemas.openxmlformats.org/drawingml/2006/main">
              <a:ext uri="{FF2B5EF4-FFF2-40B4-BE49-F238E27FC236}">
                <a16:creationId xmlns:a16="http://schemas.microsoft.com/office/drawing/2014/main" id="{A640201A-C5CF-4371-85A9-B118CC3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0175"/>
            <a:ext cx="105156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从真实痛点出发，落到可持续的商业模式</a:t>
            </a:r>
            <a:endParaRPr sz="12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0" name="圆角矩形 289">
            <a:extLst xmlns:a="http://schemas.openxmlformats.org/drawingml/2006/main">
              <a:ext uri="{FF2B5EF4-FFF2-40B4-BE49-F238E27FC236}">
                <a16:creationId xmlns:a16="http://schemas.microsoft.com/office/drawing/2014/main" id="{4BC10BC3-52EE-4EB6-BE9D-56878AC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1" name="任意多边形 290">
            <a:extLst xmlns:a="http://schemas.openxmlformats.org/drawingml/2006/main">
              <a:ext uri="{FF2B5EF4-FFF2-40B4-BE49-F238E27FC236}">
                <a16:creationId xmlns:a16="http://schemas.microsoft.com/office/drawing/2014/main" id="{EFD0FB67-F3A0-42D8-9C7A-DE556B0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0515600" cy="1085850"/>
          </a:xfrm>
          <a:custGeom xmlns:a="http://schemas.openxmlformats.org/drawingml/2006/main">
            <a:pathLst>
              <a:path w="1104" h="114">
                <a:moveTo>
                  <a:pt x="0" y="113"/>
                </a:moveTo>
                <a:lnTo>
                  <a:pt x="1104" y="113"/>
                </a:lnTo>
                <a:lnTo>
                  <a:pt x="1104" y="114"/>
                </a:lnTo>
                <a:lnTo>
                  <a:pt x="0" y="114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2" name="文本框 291">
            <a:extLst xmlns:a="http://schemas.openxmlformats.org/drawingml/2006/main">
              <a:ext uri="{FF2B5EF4-FFF2-40B4-BE49-F238E27FC236}">
                <a16:creationId xmlns:a16="http://schemas.microsoft.com/office/drawing/2014/main" id="{337BF7CB-0D47-49F4-B4D8-A7D11E3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952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9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3" name="文本框 292">
            <a:extLst xmlns:a="http://schemas.openxmlformats.org/drawingml/2006/main">
              <a:ext uri="{FF2B5EF4-FFF2-40B4-BE49-F238E27FC236}">
                <a16:creationId xmlns:a16="http://schemas.microsoft.com/office/drawing/2014/main" id="{D502F91A-9629-43E9-B950-AA1E003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52650"/>
            <a:ext cx="87439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需求洞察</a:t>
            </a:r>
            <a:endParaRPr sz="20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4" name="文本框 293">
            <a:extLst xmlns:a="http://schemas.openxmlformats.org/drawingml/2006/main">
              <a:ext uri="{FF2B5EF4-FFF2-40B4-BE49-F238E27FC236}">
                <a16:creationId xmlns:a16="http://schemas.microsoft.com/office/drawing/2014/main" id="{F8AF31C6-3D08-4630-A9CC-1161B27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05075"/>
            <a:ext cx="874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8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个真实痛点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一个闭环解法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9" name="图片 2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bcfdb3314b71">
            <a:extLst>
              <a:ext uri="{96DAC541-7B7A-43D3-8B79-37D633B846F1}">
                <asvg:svgBlip xmlns:asvg="http://schemas.microsoft.com/office/drawing/2016/SVG/main" r:embed="Rbeb1913839f04a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0" y="23145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96" name="任意多边形 295">
            <a:extLst xmlns:a="http://schemas.openxmlformats.org/drawingml/2006/main">
              <a:ext uri="{FF2B5EF4-FFF2-40B4-BE49-F238E27FC236}">
                <a16:creationId xmlns:a16="http://schemas.microsoft.com/office/drawing/2014/main" id="{483D135B-CA11-491D-9D4A-1CF71D78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10515600" cy="1085850"/>
          </a:xfrm>
          <a:custGeom xmlns:a="http://schemas.openxmlformats.org/drawingml/2006/main">
            <a:pathLst>
              <a:path w="1104" h="114">
                <a:moveTo>
                  <a:pt x="0" y="113"/>
                </a:moveTo>
                <a:lnTo>
                  <a:pt x="1104" y="113"/>
                </a:lnTo>
                <a:lnTo>
                  <a:pt x="1104" y="114"/>
                </a:lnTo>
                <a:lnTo>
                  <a:pt x="0" y="114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7" name="文本框 296">
            <a:extLst xmlns:a="http://schemas.openxmlformats.org/drawingml/2006/main">
              <a:ext uri="{FF2B5EF4-FFF2-40B4-BE49-F238E27FC236}">
                <a16:creationId xmlns:a16="http://schemas.microsoft.com/office/drawing/2014/main" id="{02F60E4D-19C8-42A4-8282-B5BE60A5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952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9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8" name="文本框 297">
            <a:extLst xmlns:a="http://schemas.openxmlformats.org/drawingml/2006/main">
              <a:ext uri="{FF2B5EF4-FFF2-40B4-BE49-F238E27FC236}">
                <a16:creationId xmlns:a16="http://schemas.microsoft.com/office/drawing/2014/main" id="{017145E8-C745-489A-B3F7-E03AE613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28975"/>
            <a:ext cx="87439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20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9" name="文本框 298">
            <a:extLst xmlns:a="http://schemas.openxmlformats.org/drawingml/2006/main">
              <a:ext uri="{FF2B5EF4-FFF2-40B4-BE49-F238E27FC236}">
                <a16:creationId xmlns:a16="http://schemas.microsoft.com/office/drawing/2014/main" id="{9C9339D5-24A5-45E5-B82B-FD9A4ACE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81400"/>
            <a:ext cx="874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谁在做、做什么、凭什么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34" name="图片 2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bcfdb3314b71">
            <a:extLst>
              <a:ext uri="{96DAC541-7B7A-43D3-8B79-37D633B846F1}">
                <asvg:svgBlip xmlns:asvg="http://schemas.microsoft.com/office/drawing/2016/SVG/main" r:embed="Rbeb1913839f04a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0" y="3390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01" name="任意多边形 300">
            <a:extLst xmlns:a="http://schemas.openxmlformats.org/drawingml/2006/main">
              <a:ext uri="{FF2B5EF4-FFF2-40B4-BE49-F238E27FC236}">
                <a16:creationId xmlns:a16="http://schemas.microsoft.com/office/drawing/2014/main" id="{DC3FBCF1-A277-4F86-A4C7-39120CEF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515600" cy="1076325"/>
          </a:xfrm>
          <a:custGeom xmlns:a="http://schemas.openxmlformats.org/drawingml/2006/main">
            <a:pathLst>
              <a:path w="1104" h="113">
                <a:moveTo>
                  <a:pt x="0" y="112"/>
                </a:moveTo>
                <a:lnTo>
                  <a:pt x="1104" y="112"/>
                </a:lnTo>
                <a:lnTo>
                  <a:pt x="1104" y="113"/>
                </a:lnTo>
                <a:lnTo>
                  <a:pt x="0" y="113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2" name="文本框 301">
            <a:extLst xmlns:a="http://schemas.openxmlformats.org/drawingml/2006/main">
              <a:ext uri="{FF2B5EF4-FFF2-40B4-BE49-F238E27FC236}">
                <a16:creationId xmlns:a16="http://schemas.microsoft.com/office/drawing/2014/main" id="{2B6A5D1C-4510-4AD5-8760-A3E5516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952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9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3" name="文本框 302">
            <a:extLst xmlns:a="http://schemas.openxmlformats.org/drawingml/2006/main">
              <a:ext uri="{FF2B5EF4-FFF2-40B4-BE49-F238E27FC236}">
                <a16:creationId xmlns:a16="http://schemas.microsoft.com/office/drawing/2014/main" id="{968DA4A9-C0F0-4230-921F-40AE0333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95775"/>
            <a:ext cx="87439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技术解析及亮点</a:t>
            </a:r>
            <a:endParaRPr sz="20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4" name="文本框 303">
            <a:extLst xmlns:a="http://schemas.openxmlformats.org/drawingml/2006/main">
              <a:ext uri="{FF2B5EF4-FFF2-40B4-BE49-F238E27FC236}">
                <a16:creationId xmlns:a16="http://schemas.microsoft.com/office/drawing/2014/main" id="{276A8409-5B98-4F21-A733-45ACD39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48200"/>
            <a:ext cx="874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前后端分离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原生三大引擎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39" name="图片 3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bcfdb3314b71">
            <a:extLst>
              <a:ext uri="{96DAC541-7B7A-43D3-8B79-37D633B846F1}">
                <asvg:svgBlip xmlns:asvg="http://schemas.microsoft.com/office/drawing/2016/SVG/main" r:embed="Rbeb1913839f04a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0" y="44672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06" name="文本框 305">
            <a:extLst xmlns:a="http://schemas.openxmlformats.org/drawingml/2006/main">
              <a:ext uri="{FF2B5EF4-FFF2-40B4-BE49-F238E27FC236}">
                <a16:creationId xmlns:a16="http://schemas.microsoft.com/office/drawing/2014/main" id="{892C5951-25FB-4C0F-AA15-B6696229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952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9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7" name="文本框 306">
            <a:extLst xmlns:a="http://schemas.openxmlformats.org/drawingml/2006/main">
              <a:ext uri="{FF2B5EF4-FFF2-40B4-BE49-F238E27FC236}">
                <a16:creationId xmlns:a16="http://schemas.microsoft.com/office/drawing/2014/main" id="{6F20D322-4D78-445C-908B-A19C8050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87439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商业模式及创新</a:t>
            </a:r>
            <a:endParaRPr sz="20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8" name="文本框 307">
            <a:extLst xmlns:a="http://schemas.openxmlformats.org/drawingml/2006/main">
              <a:ext uri="{FF2B5EF4-FFF2-40B4-BE49-F238E27FC236}">
                <a16:creationId xmlns:a16="http://schemas.microsoft.com/office/drawing/2014/main" id="{1B389FAB-3A84-4FB2-9927-E8E36D44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24525"/>
            <a:ext cx="874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怎么赚钱、创造什么价值、为什么值得投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43" name="图片 3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3bcfdb3314b71">
            <a:extLst>
              <a:ext uri="{96DAC541-7B7A-43D3-8B79-37D633B846F1}">
                <asvg:svgBlip xmlns:asvg="http://schemas.microsoft.com/office/drawing/2016/SVG/main" r:embed="Rbeb1913839f04a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0" y="55340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0" name="文本框 309">
            <a:extLst xmlns:a="http://schemas.openxmlformats.org/drawingml/2006/main">
              <a:ext uri="{FF2B5EF4-FFF2-40B4-BE49-F238E27FC236}">
                <a16:creationId xmlns:a16="http://schemas.microsoft.com/office/drawing/2014/main" id="{B221B194-678D-4750-B2F7-5977220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81725"/>
            <a:ext cx="13049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1" name="文本框 310">
            <a:extLst xmlns:a="http://schemas.openxmlformats.org/drawingml/2006/main">
              <a:ext uri="{FF2B5EF4-FFF2-40B4-BE49-F238E27FC236}">
                <a16:creationId xmlns:a16="http://schemas.microsoft.com/office/drawing/2014/main" id="{59B5131F-1F4B-482B-A95B-E787C7F6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722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02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6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5A7836DA-EB84-44E9-906D-DA78C213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317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95FCE113-9607-475B-B509-3F22108B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d8f78ec044b0d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6f135273340af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656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" name="矩形 312">
            <a:extLst xmlns:a="http://schemas.openxmlformats.org/drawingml/2006/main">
              <a:ext uri="{FF2B5EF4-FFF2-40B4-BE49-F238E27FC236}">
                <a16:creationId xmlns:a16="http://schemas.microsoft.com/office/drawing/2014/main" id="{46A41605-100E-4BC0-B830-0627394A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4" name="文本框 313">
            <a:extLst xmlns:a="http://schemas.openxmlformats.org/drawingml/2006/main">
              <a:ext uri="{FF2B5EF4-FFF2-40B4-BE49-F238E27FC236}">
                <a16:creationId xmlns:a16="http://schemas.microsoft.com/office/drawing/2014/main" id="{6528D656-9F7C-4A62-9BFE-6B7D799D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01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需求洞察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5" name="文本框 314">
            <a:extLst xmlns:a="http://schemas.openxmlformats.org/drawingml/2006/main">
              <a:ext uri="{FF2B5EF4-FFF2-40B4-BE49-F238E27FC236}">
                <a16:creationId xmlns:a16="http://schemas.microsoft.com/office/drawing/2014/main" id="{117D36B5-75B8-44CD-8956-97AEC4D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痛点与解决方案：一个痛点，配一个解法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6" name="圆角矩形 315">
            <a:extLst xmlns:a="http://schemas.openxmlformats.org/drawingml/2006/main">
              <a:ext uri="{FF2B5EF4-FFF2-40B4-BE49-F238E27FC236}">
                <a16:creationId xmlns:a16="http://schemas.microsoft.com/office/drawing/2014/main" id="{4EAFB4CF-3311-4E39-ADD3-D2DF62CD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7" name="任意多边形 316">
            <a:extLst xmlns:a="http://schemas.openxmlformats.org/drawingml/2006/main">
              <a:ext uri="{FF2B5EF4-FFF2-40B4-BE49-F238E27FC236}">
                <a16:creationId xmlns:a16="http://schemas.microsoft.com/office/drawing/2014/main" id="{D8A121AA-08AA-4B50-B143-57AB0B70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8" name="圆角矩形 317">
            <a:extLst xmlns:a="http://schemas.openxmlformats.org/drawingml/2006/main">
              <a:ext uri="{FF2B5EF4-FFF2-40B4-BE49-F238E27FC236}">
                <a16:creationId xmlns:a16="http://schemas.microsoft.com/office/drawing/2014/main" id="{D46EB6B7-0E46-4E82-BE09-C02A1D5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9" name="文本框 318">
            <a:extLst xmlns:a="http://schemas.openxmlformats.org/drawingml/2006/main">
              <a:ext uri="{FF2B5EF4-FFF2-40B4-BE49-F238E27FC236}">
                <a16:creationId xmlns:a16="http://schemas.microsoft.com/office/drawing/2014/main" id="{C2194921-74E9-48C1-A5BA-B8743930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选题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0" name="文本框 319">
            <a:extLst xmlns:a="http://schemas.openxmlformats.org/drawingml/2006/main">
              <a:ext uri="{FF2B5EF4-FFF2-40B4-BE49-F238E27FC236}">
                <a16:creationId xmlns:a16="http://schemas.microsoft.com/office/drawing/2014/main" id="{BFF5F57D-4C4A-441C-AB38-201BD38C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04975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不知从哪找方向、判断不了可行性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9" name="图片 3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17240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22" name="文本框 321">
            <a:extLst xmlns:a="http://schemas.openxmlformats.org/drawingml/2006/main">
              <a:ext uri="{FF2B5EF4-FFF2-40B4-BE49-F238E27FC236}">
                <a16:creationId xmlns:a16="http://schemas.microsoft.com/office/drawing/2014/main" id="{D7AD6609-4A3A-47C3-83F4-044E53B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04975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多源检索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选题推荐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可行性评估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开题报告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5" name="任意多边形 324">
            <a:extLst xmlns:a="http://schemas.openxmlformats.org/drawingml/2006/main">
              <a:ext uri="{FF2B5EF4-FFF2-40B4-BE49-F238E27FC236}">
                <a16:creationId xmlns:a16="http://schemas.microsoft.com/office/drawing/2014/main" id="{855F4AF9-99A0-45F6-9C9B-1AC5CBD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6" name="圆角矩形 325">
            <a:extLst xmlns:a="http://schemas.openxmlformats.org/drawingml/2006/main">
              <a:ext uri="{FF2B5EF4-FFF2-40B4-BE49-F238E27FC236}">
                <a16:creationId xmlns:a16="http://schemas.microsoft.com/office/drawing/2014/main" id="{A9248D42-A38D-4BED-860A-83D5C3D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7" name="文本框 326">
            <a:extLst xmlns:a="http://schemas.openxmlformats.org/drawingml/2006/main">
              <a:ext uri="{FF2B5EF4-FFF2-40B4-BE49-F238E27FC236}">
                <a16:creationId xmlns:a16="http://schemas.microsoft.com/office/drawing/2014/main" id="{D5488CE0-EDF0-4BD7-86A4-FC134B79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读文献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8" name="文本框 327">
            <a:extLst xmlns:a="http://schemas.openxmlformats.org/drawingml/2006/main">
              <a:ext uri="{FF2B5EF4-FFF2-40B4-BE49-F238E27FC236}">
                <a16:creationId xmlns:a16="http://schemas.microsoft.com/office/drawing/2014/main" id="{90F88EAE-172F-4CA5-9031-9E9FDC52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98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英文阅读慢、读不懂、读了忘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05" name="图片 3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22288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30" name="文本框 329">
            <a:extLst xmlns:a="http://schemas.openxmlformats.org/drawingml/2006/main">
              <a:ext uri="{FF2B5EF4-FFF2-40B4-BE49-F238E27FC236}">
                <a16:creationId xmlns:a16="http://schemas.microsoft.com/office/drawing/2014/main" id="{26E7DBA0-0356-49AE-94DE-9531B8CB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翻译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思维导图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七段式总结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引用图谱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3" name="任意多边形 332">
            <a:extLst xmlns:a="http://schemas.openxmlformats.org/drawingml/2006/main">
              <a:ext uri="{FF2B5EF4-FFF2-40B4-BE49-F238E27FC236}">
                <a16:creationId xmlns:a16="http://schemas.microsoft.com/office/drawing/2014/main" id="{A9FD8CE6-ABF0-4806-A34F-E5AE124F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4" name="圆角矩形 333">
            <a:extLst xmlns:a="http://schemas.openxmlformats.org/drawingml/2006/main">
              <a:ext uri="{FF2B5EF4-FFF2-40B4-BE49-F238E27FC236}">
                <a16:creationId xmlns:a16="http://schemas.microsoft.com/office/drawing/2014/main" id="{EDE915DA-0643-417F-A424-1D8AE6C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5" name="文本框 334">
            <a:extLst xmlns:a="http://schemas.openxmlformats.org/drawingml/2006/main">
              <a:ext uri="{FF2B5EF4-FFF2-40B4-BE49-F238E27FC236}">
                <a16:creationId xmlns:a16="http://schemas.microsoft.com/office/drawing/2014/main" id="{77E3B4B0-9EA8-46B3-80C0-8472A3ED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724150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实验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6" name="文本框 335">
            <a:extLst xmlns:a="http://schemas.openxmlformats.org/drawingml/2006/main">
              <a:ext uri="{FF2B5EF4-FFF2-40B4-BE49-F238E27FC236}">
                <a16:creationId xmlns:a16="http://schemas.microsoft.com/office/drawing/2014/main" id="{2263B2B3-7786-439E-A88F-47C4708E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参数乱记、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GPU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抢不到、方案拍脑袋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1" name="图片 3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27336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38" name="文本框 337">
            <a:extLst xmlns:a="http://schemas.openxmlformats.org/drawingml/2006/main">
              <a:ext uri="{FF2B5EF4-FFF2-40B4-BE49-F238E27FC236}">
                <a16:creationId xmlns:a16="http://schemas.microsoft.com/office/drawing/2014/main" id="{38877937-0B1E-4BC5-8C5D-D28FD05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参数看板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GPU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可视化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消融方案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SOTA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对标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1" name="任意多边形 340">
            <a:extLst xmlns:a="http://schemas.openxmlformats.org/drawingml/2006/main">
              <a:ext uri="{FF2B5EF4-FFF2-40B4-BE49-F238E27FC236}">
                <a16:creationId xmlns:a16="http://schemas.microsoft.com/office/drawing/2014/main" id="{0AADE39F-A03C-4D30-99C3-B15CE73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2" name="圆角矩形 341">
            <a:extLst xmlns:a="http://schemas.openxmlformats.org/drawingml/2006/main">
              <a:ext uri="{FF2B5EF4-FFF2-40B4-BE49-F238E27FC236}">
                <a16:creationId xmlns:a16="http://schemas.microsoft.com/office/drawing/2014/main" id="{2D236A38-9DC8-46B8-B2C1-011EBF4E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3" name="文本框 342">
            <a:extLst xmlns:a="http://schemas.openxmlformats.org/drawingml/2006/main">
              <a:ext uri="{FF2B5EF4-FFF2-40B4-BE49-F238E27FC236}">
                <a16:creationId xmlns:a16="http://schemas.microsoft.com/office/drawing/2014/main" id="{E05F5996-42DF-4816-8F73-059775CE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28975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4" name="文本框 343">
            <a:extLst xmlns:a="http://schemas.openxmlformats.org/drawingml/2006/main">
              <a:ext uri="{FF2B5EF4-FFF2-40B4-BE49-F238E27FC236}">
                <a16:creationId xmlns:a16="http://schemas.microsoft.com/office/drawing/2014/main" id="{55217623-4C10-49B0-91B6-A5CF409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194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不会画图、看不懂结果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7" name="图片 3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32385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46" name="文本框 345">
            <a:extLst xmlns:a="http://schemas.openxmlformats.org/drawingml/2006/main">
              <a:ext uri="{FF2B5EF4-FFF2-40B4-BE49-F238E27FC236}">
                <a16:creationId xmlns:a16="http://schemas.microsoft.com/office/drawing/2014/main" id="{0CE8B00A-FB90-42E3-8FF2-E2B2E03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科研图表生成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图表解读与建议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9" name="任意多边形 348">
            <a:extLst xmlns:a="http://schemas.openxmlformats.org/drawingml/2006/main">
              <a:ext uri="{FF2B5EF4-FFF2-40B4-BE49-F238E27FC236}">
                <a16:creationId xmlns:a16="http://schemas.microsoft.com/office/drawing/2014/main" id="{1603D3F6-B933-4F5C-AA22-F6C0C22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0" name="圆角矩形 349">
            <a:extLst xmlns:a="http://schemas.openxmlformats.org/drawingml/2006/main">
              <a:ext uri="{FF2B5EF4-FFF2-40B4-BE49-F238E27FC236}">
                <a16:creationId xmlns:a16="http://schemas.microsoft.com/office/drawing/2014/main" id="{73D0C960-2B97-4CB0-885C-0908D96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1" name="文本框 350">
            <a:extLst xmlns:a="http://schemas.openxmlformats.org/drawingml/2006/main">
              <a:ext uri="{FF2B5EF4-FFF2-40B4-BE49-F238E27FC236}">
                <a16:creationId xmlns:a16="http://schemas.microsoft.com/office/drawing/2014/main" id="{53E5402C-B695-4FB6-8A95-2688B59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3800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写作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2" name="文本框 351">
            <a:extLst xmlns:a="http://schemas.openxmlformats.org/drawingml/2006/main">
              <a:ext uri="{FF2B5EF4-FFF2-40B4-BE49-F238E27FC236}">
                <a16:creationId xmlns:a16="http://schemas.microsoft.com/office/drawing/2014/main" id="{A449BB40-DBED-4612-B1C7-EFDCA23F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24275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表达不地道、怕查重、降重难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23" name="图片 3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37433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54" name="文本框 353">
            <a:extLst xmlns:a="http://schemas.openxmlformats.org/drawingml/2006/main">
              <a:ext uri="{FF2B5EF4-FFF2-40B4-BE49-F238E27FC236}">
                <a16:creationId xmlns:a16="http://schemas.microsoft.com/office/drawing/2014/main" id="{E3727F41-98A4-4043-A102-CCC330A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中英互译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学术润色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查重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降重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7" name="任意多边形 356">
            <a:extLst xmlns:a="http://schemas.openxmlformats.org/drawingml/2006/main">
              <a:ext uri="{FF2B5EF4-FFF2-40B4-BE49-F238E27FC236}">
                <a16:creationId xmlns:a16="http://schemas.microsoft.com/office/drawing/2014/main" id="{10DBFA65-99A6-47C6-8BEE-43B714AD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820400" cy="447675"/>
          </a:xfrm>
          <a:custGeom xmlns:a="http://schemas.openxmlformats.org/drawingml/2006/main">
            <a:pathLst>
              <a:path w="1136" h="47">
                <a:moveTo>
                  <a:pt x="0" y="46"/>
                </a:moveTo>
                <a:lnTo>
                  <a:pt x="1136" y="46"/>
                </a:lnTo>
                <a:lnTo>
                  <a:pt x="1136" y="47"/>
                </a:lnTo>
                <a:lnTo>
                  <a:pt x="0" y="47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8" name="圆角矩形 357">
            <a:extLst xmlns:a="http://schemas.openxmlformats.org/drawingml/2006/main">
              <a:ext uri="{FF2B5EF4-FFF2-40B4-BE49-F238E27FC236}">
                <a16:creationId xmlns:a16="http://schemas.microsoft.com/office/drawing/2014/main" id="{9AB39DE8-5F4E-4987-8296-0FB8E73C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9" name="文本框 358">
            <a:extLst xmlns:a="http://schemas.openxmlformats.org/drawingml/2006/main">
              <a:ext uri="{FF2B5EF4-FFF2-40B4-BE49-F238E27FC236}">
                <a16:creationId xmlns:a16="http://schemas.microsoft.com/office/drawing/2014/main" id="{866A7C58-493F-411F-9E9B-3714D6EE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38625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投稿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0" name="文本框 359">
            <a:extLst xmlns:a="http://schemas.openxmlformats.org/drawingml/2006/main">
              <a:ext uri="{FF2B5EF4-FFF2-40B4-BE49-F238E27FC236}">
                <a16:creationId xmlns:a16="http://schemas.microsoft.com/office/drawing/2014/main" id="{074A8DDA-3C08-4EF1-83E7-E9804952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291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不了解期刊、错过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deadline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29" name="图片 3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42481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62" name="文本框 361">
            <a:extLst xmlns:a="http://schemas.openxmlformats.org/drawingml/2006/main">
              <a:ext uri="{FF2B5EF4-FFF2-40B4-BE49-F238E27FC236}">
                <a16:creationId xmlns:a16="http://schemas.microsoft.com/office/drawing/2014/main" id="{9E19F318-B892-4EFC-92B9-8D29827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CCF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期刊大全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投稿倒计时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匹配推荐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5" name="圆角矩形 364">
            <a:extLst xmlns:a="http://schemas.openxmlformats.org/drawingml/2006/main">
              <a:ext uri="{FF2B5EF4-FFF2-40B4-BE49-F238E27FC236}">
                <a16:creationId xmlns:a16="http://schemas.microsoft.com/office/drawing/2014/main" id="{4730E825-FD3C-49AC-849F-4B97770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38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6" name="文本框 365">
            <a:extLst xmlns:a="http://schemas.openxmlformats.org/drawingml/2006/main">
              <a:ext uri="{FF2B5EF4-FFF2-40B4-BE49-F238E27FC236}">
                <a16:creationId xmlns:a16="http://schemas.microsoft.com/office/drawing/2014/main" id="{C3510DC0-86A3-4F25-B399-8BC4B2E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52975"/>
            <a:ext cx="28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协作</a:t>
            </a:r>
            <a:endParaRPr sz="1125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7" name="文本框 366">
            <a:extLst xmlns:a="http://schemas.openxmlformats.org/drawingml/2006/main">
              <a:ext uri="{FF2B5EF4-FFF2-40B4-BE49-F238E27FC236}">
                <a16:creationId xmlns:a16="http://schemas.microsoft.com/office/drawing/2014/main" id="{1BF51CE2-E4FE-47B6-981D-84DBD2C6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组会汇报累、导师意见散乱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34" name="图片 3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a9bbf2c464acf">
            <a:extLst>
              <a:ext uri="{96DAC541-7B7A-43D3-8B79-37D633B846F1}">
                <asvg:svgBlip xmlns:asvg="http://schemas.microsoft.com/office/drawing/2016/SVG/main" r:embed="R1216025aa92b45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3950" y="47625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369" name="文本框 368">
            <a:extLst xmlns:a="http://schemas.openxmlformats.org/drawingml/2006/main">
              <a:ext uri="{FF2B5EF4-FFF2-40B4-BE49-F238E27FC236}">
                <a16:creationId xmlns:a16="http://schemas.microsoft.com/office/drawing/2014/main" id="{C9CDB7E3-60A4-476B-A0A8-291A5553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53244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PPT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一键生成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建议记录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多智能体评审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2" name="圆角矩形 371">
            <a:extLst xmlns:a="http://schemas.openxmlformats.org/drawingml/2006/main">
              <a:ext uri="{FF2B5EF4-FFF2-40B4-BE49-F238E27FC236}">
                <a16:creationId xmlns:a16="http://schemas.microsoft.com/office/drawing/2014/main" id="{BAD1FD7F-4378-4ECF-B302-8F13DA6C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7" name="图片 3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e56f1200f4e34">
            <a:extLst>
              <a:ext uri="{96DAC541-7B7A-43D3-8B79-37D633B846F1}">
                <asvg:svgBlip xmlns:asvg="http://schemas.microsoft.com/office/drawing/2016/SVG/main" r:embed="R6535462dfc9040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56102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74" name="文本框 373">
            <a:extLst xmlns:a="http://schemas.openxmlformats.org/drawingml/2006/main">
              <a:ext uri="{FF2B5EF4-FFF2-40B4-BE49-F238E27FC236}">
                <a16:creationId xmlns:a16="http://schemas.microsoft.com/office/drawing/2014/main" id="{4FD0CE2F-FA21-4DC0-862A-C11F844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14975"/>
            <a:ext cx="967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不是让</a:t>
            </a: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替研究者思考，而是让研究者专注创新本身。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5" name="文本框 374">
            <a:extLst xmlns:a="http://schemas.openxmlformats.org/drawingml/2006/main">
              <a:ext uri="{FF2B5EF4-FFF2-40B4-BE49-F238E27FC236}">
                <a16:creationId xmlns:a16="http://schemas.microsoft.com/office/drawing/2014/main" id="{BD648D55-7EEA-4365-8D37-8C79823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29300"/>
            <a:ext cx="9677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把科研从「体力活」变回「思考活」——这是所有解法共同指向的核心理念。</a:t>
            </a:r>
            <a:endParaRPr sz="1125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6" name="文本框 375">
            <a:extLst xmlns:a="http://schemas.openxmlformats.org/drawingml/2006/main">
              <a:ext uri="{FF2B5EF4-FFF2-40B4-BE49-F238E27FC236}">
                <a16:creationId xmlns:a16="http://schemas.microsoft.com/office/drawing/2014/main" id="{0B0DEE5C-F1DE-4EC4-B3F3-21A4DD1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292417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耗时目标数据来源：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PRD v1.0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7" name="文本框 376">
            <a:extLst xmlns:a="http://schemas.openxmlformats.org/drawingml/2006/main">
              <a:ext uri="{FF2B5EF4-FFF2-40B4-BE49-F238E27FC236}">
                <a16:creationId xmlns:a16="http://schemas.microsoft.com/office/drawing/2014/main" id="{86D8422B-24BB-4BA3-91C0-5BABEDA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03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799fa52c04d90"/>
          <a:srcRect xmlns:a="http://schemas.openxmlformats.org/drawingml/2006/main" l="0" t="5235" r="86281" b="15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0285" y="1323975"/>
            <a:ext cx="1162685" cy="3822065"/>
          </a:xfrm>
          <a:prstGeom xmlns:a="http://schemas.openxmlformats.org/drawingml/2006/main" prst="rect">
            <a:avLst/>
          </a:prstGeom>
        </p:spPr>
      </p:pic>
      <p:sp>
        <p:nvSpPr>
          <p:cNvPr id="387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D79E5AB2-B923-4983-BE1F-743A7F2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388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3A18432E-C031-4BA9-A191-8264FDFC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4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693cfa3794528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4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ca91a25974416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82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9" name="矩形 378">
            <a:extLst xmlns:a="http://schemas.openxmlformats.org/drawingml/2006/main">
              <a:ext uri="{FF2B5EF4-FFF2-40B4-BE49-F238E27FC236}">
                <a16:creationId xmlns:a16="http://schemas.microsoft.com/office/drawing/2014/main" id="{543FE1D7-D9B3-4F52-85EC-6E1CE93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0" name="文本框 379">
            <a:extLst xmlns:a="http://schemas.openxmlformats.org/drawingml/2006/main">
              <a:ext uri="{FF2B5EF4-FFF2-40B4-BE49-F238E27FC236}">
                <a16:creationId xmlns:a16="http://schemas.microsoft.com/office/drawing/2014/main" id="{435BA1B8-512F-48BD-A109-EC50049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499110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9500" b="1">
              <a:solidFill>
                <a:srgbClr val="163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1" name="圆角矩形 380">
            <a:extLst xmlns:a="http://schemas.openxmlformats.org/drawingml/2006/main">
              <a:ext uri="{FF2B5EF4-FFF2-40B4-BE49-F238E27FC236}">
                <a16:creationId xmlns:a16="http://schemas.microsoft.com/office/drawing/2014/main" id="{CA890EB4-2F6F-4341-9195-57C73CA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609600" cy="47625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2" name="文本框 381">
            <a:extLst xmlns:a="http://schemas.openxmlformats.org/drawingml/2006/main">
              <a:ext uri="{FF2B5EF4-FFF2-40B4-BE49-F238E27FC236}">
                <a16:creationId xmlns:a16="http://schemas.microsoft.com/office/drawing/2014/main" id="{9F4A06D5-776A-4DFE-972F-914BDE9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99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4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3" name="文本框 382">
            <a:extLst xmlns:a="http://schemas.openxmlformats.org/drawingml/2006/main">
              <a:ext uri="{FF2B5EF4-FFF2-40B4-BE49-F238E27FC236}">
                <a16:creationId xmlns:a16="http://schemas.microsoft.com/office/drawing/2014/main" id="{12316D52-133D-4117-A110-9F286B24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9911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TEAM &amp; PRODUCT</a:t>
            </a:r>
            <a:endParaRPr sz="1275" spc="30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2" name="图片 3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80f43e8a84d05">
            <a:extLst>
              <a:ext uri="{96DAC541-7B7A-43D3-8B79-37D633B846F1}">
                <asvg:svgBlip xmlns:asvg="http://schemas.microsoft.com/office/drawing/2016/SVG/main" r:embed="R87f351feede24d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2383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5" name="文本框 384">
            <a:extLst xmlns:a="http://schemas.openxmlformats.org/drawingml/2006/main">
              <a:ext uri="{FF2B5EF4-FFF2-40B4-BE49-F238E27FC236}">
                <a16:creationId xmlns:a16="http://schemas.microsoft.com/office/drawing/2014/main" id="{E97DC396-F54B-4CFF-B267-F3912E3B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38671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两人两线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6" name="文本框 385">
            <a:extLst xmlns:a="http://schemas.openxmlformats.org/drawingml/2006/main">
              <a:ext uri="{FF2B5EF4-FFF2-40B4-BE49-F238E27FC236}">
                <a16:creationId xmlns:a16="http://schemas.microsoft.com/office/drawing/2014/main" id="{C2C9BE1B-0929-448F-9A83-BB1B666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38671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产品经理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全栈开发，一个定义问题，一个交付答案。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5" name="图片 3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d46d4d7354465">
            <a:extLst>
              <a:ext uri="{96DAC541-7B7A-43D3-8B79-37D633B846F1}">
                <asvg:svgBlip xmlns:asvg="http://schemas.microsoft.com/office/drawing/2016/SVG/main" r:embed="R23d6dffffa774e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143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8" name="文本框 387">
            <a:extLst xmlns:a="http://schemas.openxmlformats.org/drawingml/2006/main">
              <a:ext uri="{FF2B5EF4-FFF2-40B4-BE49-F238E27FC236}">
                <a16:creationId xmlns:a16="http://schemas.microsoft.com/office/drawing/2014/main" id="{F04FF214-50E7-4C7D-BCEA-9DE0F89C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5529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统一话语体系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9" name="文本框 388">
            <a:extLst xmlns:a="http://schemas.openxmlformats.org/drawingml/2006/main">
              <a:ext uri="{FF2B5EF4-FFF2-40B4-BE49-F238E27FC236}">
                <a16:creationId xmlns:a16="http://schemas.microsoft.com/office/drawing/2014/main" id="{CF27273C-404B-40E1-BDE2-FF5A8BB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45529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「不是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X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，而是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X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」建立定位反差；「帮助我们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X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」直击用户收益。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8" name="图片 3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7ab58b0034aee">
            <a:extLst>
              <a:ext uri="{96DAC541-7B7A-43D3-8B79-37D633B846F1}">
                <asvg:svgBlip xmlns:asvg="http://schemas.microsoft.com/office/drawing/2016/SVG/main" r:embed="R4c1582b0dd0143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4048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91" name="文本框 390">
            <a:extLst xmlns:a="http://schemas.openxmlformats.org/drawingml/2006/main">
              <a:ext uri="{FF2B5EF4-FFF2-40B4-BE49-F238E27FC236}">
                <a16:creationId xmlns:a16="http://schemas.microsoft.com/office/drawing/2014/main" id="{C460A20A-F89F-4E9B-84EF-432BD39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36099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产品全貌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2" name="文本框 391">
            <a:extLst xmlns:a="http://schemas.openxmlformats.org/drawingml/2006/main">
              <a:ext uri="{FF2B5EF4-FFF2-40B4-BE49-F238E27FC236}">
                <a16:creationId xmlns:a16="http://schemas.microsoft.com/office/drawing/2014/main" id="{5E2A14D2-E972-4A41-A1EC-5897FDE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52925"/>
            <a:ext cx="36099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项目简介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用户画像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核心与特色功能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竞品差异化。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21" name="图片 39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5a77a36f2457f">
            <a:extLst>
              <a:ext uri="{96DAC541-7B7A-43D3-8B79-37D633B846F1}">
                <asvg:svgBlip xmlns:asvg="http://schemas.microsoft.com/office/drawing/2016/SVG/main" r:embed="R7a05422ac02044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94" name="圆角矩形 393">
            <a:extLst xmlns:a="http://schemas.openxmlformats.org/drawingml/2006/main">
              <a:ext uri="{FF2B5EF4-FFF2-40B4-BE49-F238E27FC236}">
                <a16:creationId xmlns:a16="http://schemas.microsoft.com/office/drawing/2014/main" id="{5C2C847E-37B7-4C48-A415-F858A2F3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5" name="圆角矩形 394">
            <a:extLst xmlns:a="http://schemas.openxmlformats.org/drawingml/2006/main">
              <a:ext uri="{FF2B5EF4-FFF2-40B4-BE49-F238E27FC236}">
                <a16:creationId xmlns:a16="http://schemas.microsoft.com/office/drawing/2014/main" id="{6AC9501F-8C74-4318-B2A2-8F918BF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6" name="文本框 395">
            <a:extLst xmlns:a="http://schemas.openxmlformats.org/drawingml/2006/main">
              <a:ext uri="{FF2B5EF4-FFF2-40B4-BE49-F238E27FC236}">
                <a16:creationId xmlns:a16="http://schemas.microsoft.com/office/drawing/2014/main" id="{FDB05EA1-B7E4-40FB-B3B5-25EE666C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04 / 19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7" name="圆角矩形 396">
            <a:extLst xmlns:a="http://schemas.openxmlformats.org/drawingml/2006/main">
              <a:ext uri="{FF2B5EF4-FFF2-40B4-BE49-F238E27FC236}">
                <a16:creationId xmlns:a16="http://schemas.microsoft.com/office/drawing/2014/main" id="{DEC7F453-B471-4CDF-99F2-A31713BF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8" name="圆角矩形 397">
            <a:extLst xmlns:a="http://schemas.openxmlformats.org/drawingml/2006/main">
              <a:ext uri="{FF2B5EF4-FFF2-40B4-BE49-F238E27FC236}">
                <a16:creationId xmlns:a16="http://schemas.microsoft.com/office/drawing/2014/main" id="{F6D09A30-0D87-414A-BA72-59ED4683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3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0F7FCF61-F68D-4C23-AC30-FFA67DE6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404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F46EEE3C-29CF-42DF-AE2F-B8291969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2f294febf4215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4338142f84166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67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矩形 399">
            <a:extLst xmlns:a="http://schemas.openxmlformats.org/drawingml/2006/main">
              <a:ext uri="{FF2B5EF4-FFF2-40B4-BE49-F238E27FC236}">
                <a16:creationId xmlns:a16="http://schemas.microsoft.com/office/drawing/2014/main" id="{D37AB9DB-C63D-44A3-81B7-75E79E9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1" name="文本框 400">
            <a:extLst xmlns:a="http://schemas.openxmlformats.org/drawingml/2006/main">
              <a:ext uri="{FF2B5EF4-FFF2-40B4-BE49-F238E27FC236}">
                <a16:creationId xmlns:a16="http://schemas.microsoft.com/office/drawing/2014/main" id="{617CFE26-780A-406B-8CC8-BCB47040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2" name="文本框 401">
            <a:extLst xmlns:a="http://schemas.openxmlformats.org/drawingml/2006/main">
              <a:ext uri="{FF2B5EF4-FFF2-40B4-BE49-F238E27FC236}">
                <a16:creationId xmlns:a16="http://schemas.microsoft.com/office/drawing/2014/main" id="{6B48B492-C00A-42F4-BC3B-46BC36A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团队介绍：两人小队，两线协同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3" name="圆角矩形 402">
            <a:extLst xmlns:a="http://schemas.openxmlformats.org/drawingml/2006/main">
              <a:ext uri="{FF2B5EF4-FFF2-40B4-BE49-F238E27FC236}">
                <a16:creationId xmlns:a16="http://schemas.microsoft.com/office/drawing/2014/main" id="{CACCB49E-07E1-43FE-86C6-1CE97341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4" name="圆角矩形 403">
            <a:extLst xmlns:a="http://schemas.openxmlformats.org/drawingml/2006/main">
              <a:ext uri="{FF2B5EF4-FFF2-40B4-BE49-F238E27FC236}">
                <a16:creationId xmlns:a16="http://schemas.microsoft.com/office/drawing/2014/main" id="{AE1E0C8C-E11D-40DC-831A-A2EBE39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4819650" cy="3933825"/>
          </a:xfrm>
          <a:prstGeom xmlns:a="http://schemas.openxmlformats.org/drawingml/2006/main" prst="roundRect">
            <a:avLst>
              <a:gd name="adj" fmla="val 3874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5" name="圆角矩形 404">
            <a:extLst xmlns:a="http://schemas.openxmlformats.org/drawingml/2006/main">
              <a:ext uri="{FF2B5EF4-FFF2-40B4-BE49-F238E27FC236}">
                <a16:creationId xmlns:a16="http://schemas.microsoft.com/office/drawing/2014/main" id="{5BB6090D-F2D8-46CC-B47F-7D31C4F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02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4" name="图片 4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a9608d5ba471f">
            <a:extLst>
              <a:ext uri="{96DAC541-7B7A-43D3-8B79-37D633B846F1}">
                <asvg:svgBlip xmlns:asvg="http://schemas.microsoft.com/office/drawing/2016/SVG/main" r:embed="R60462a1c71dd4b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19526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7" name="文本框 406">
            <a:extLst xmlns:a="http://schemas.openxmlformats.org/drawingml/2006/main">
              <a:ext uri="{FF2B5EF4-FFF2-40B4-BE49-F238E27FC236}">
                <a16:creationId xmlns:a16="http://schemas.microsoft.com/office/drawing/2014/main" id="{425A7B84-3357-43FE-9B6B-F03A67EF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产品经理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8" name="文本框 407">
            <a:extLst xmlns:a="http://schemas.openxmlformats.org/drawingml/2006/main">
              <a:ext uri="{FF2B5EF4-FFF2-40B4-BE49-F238E27FC236}">
                <a16:creationId xmlns:a16="http://schemas.microsoft.com/office/drawing/2014/main" id="{DAB5A576-79D9-4A79-9E11-CDF14733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424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定义「做什么、为什么做」</a:t>
            </a:r>
            <a:endParaRPr sz="112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9" name="矩形 408">
            <a:extLst xmlns:a="http://schemas.openxmlformats.org/drawingml/2006/main">
              <a:ext uri="{FF2B5EF4-FFF2-40B4-BE49-F238E27FC236}">
                <a16:creationId xmlns:a16="http://schemas.microsoft.com/office/drawing/2014/main" id="{4F32BA7C-3D6E-46E9-AD77-3A02104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8" name="图片 4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33242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11" name="文本框 410">
            <a:extLst xmlns:a="http://schemas.openxmlformats.org/drawingml/2006/main">
              <a:ext uri="{FF2B5EF4-FFF2-40B4-BE49-F238E27FC236}">
                <a16:creationId xmlns:a16="http://schemas.microsoft.com/office/drawing/2014/main" id="{DBF4C009-DB93-4E3F-8440-8A93A412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86125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前期用户痛点调研与用户画像沉淀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70" name="图片 4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36957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13" name="文本框 412">
            <a:extLst xmlns:a="http://schemas.openxmlformats.org/drawingml/2006/main">
              <a:ext uri="{FF2B5EF4-FFF2-40B4-BE49-F238E27FC236}">
                <a16:creationId xmlns:a16="http://schemas.microsoft.com/office/drawing/2014/main" id="{1F801833-C6B3-4CF2-BAC3-79F2D199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产品策划与需求分析：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PRD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撰写、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P0–P2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优先级、验收标准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72" name="图片 4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40671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15" name="文本框 414">
            <a:extLst xmlns:a="http://schemas.openxmlformats.org/drawingml/2006/main">
              <a:ext uri="{FF2B5EF4-FFF2-40B4-BE49-F238E27FC236}">
                <a16:creationId xmlns:a16="http://schemas.microsoft.com/office/drawing/2014/main" id="{75ED0C90-DD9B-4596-99FB-9BDD2BFC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商业方案输出：定价、成本收益与市场研判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74" name="图片 4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" y="44386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17" name="文本框 416">
            <a:extLst xmlns:a="http://schemas.openxmlformats.org/drawingml/2006/main">
              <a:ext uri="{FF2B5EF4-FFF2-40B4-BE49-F238E27FC236}">
                <a16:creationId xmlns:a16="http://schemas.microsoft.com/office/drawing/2014/main" id="{BF6F5C98-92D5-486C-BE59-5D39803C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438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路演答辩与对外叙事：统一话语体系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8" name="圆角矩形 417">
            <a:extLst xmlns:a="http://schemas.openxmlformats.org/drawingml/2006/main">
              <a:ext uri="{FF2B5EF4-FFF2-40B4-BE49-F238E27FC236}">
                <a16:creationId xmlns:a16="http://schemas.microsoft.com/office/drawing/2014/main" id="{CDB54156-9E88-486E-84CC-4B18AA3E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19907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9" name="文本框 418">
            <a:extLst xmlns:a="http://schemas.openxmlformats.org/drawingml/2006/main">
              <a:ext uri="{FF2B5EF4-FFF2-40B4-BE49-F238E27FC236}">
                <a16:creationId xmlns:a16="http://schemas.microsoft.com/office/drawing/2014/main" id="{0B7041B2-1605-4FAA-9FBB-BE0E890F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16859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调研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策划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分析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路演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0" name="圆角矩形 419">
            <a:extLst xmlns:a="http://schemas.openxmlformats.org/drawingml/2006/main">
              <a:ext uri="{FF2B5EF4-FFF2-40B4-BE49-F238E27FC236}">
                <a16:creationId xmlns:a16="http://schemas.microsoft.com/office/drawing/2014/main" id="{4D6E0834-25A6-466B-93D7-69A3A17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242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9" name="图片 4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8dc49b1904721">
            <a:extLst>
              <a:ext uri="{96DAC541-7B7A-43D3-8B79-37D633B846F1}">
                <asvg:svgBlip xmlns:asvg="http://schemas.microsoft.com/office/drawing/2016/SVG/main" r:embed="R5652c2099f0741e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3257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22" name="文本框 421">
            <a:extLst xmlns:a="http://schemas.openxmlformats.org/drawingml/2006/main">
              <a:ext uri="{FF2B5EF4-FFF2-40B4-BE49-F238E27FC236}">
                <a16:creationId xmlns:a16="http://schemas.microsoft.com/office/drawing/2014/main" id="{D561693F-372B-406F-829F-2A4E9F6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协同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3" name="圆角矩形 422">
            <a:extLst xmlns:a="http://schemas.openxmlformats.org/drawingml/2006/main">
              <a:ext uri="{FF2B5EF4-FFF2-40B4-BE49-F238E27FC236}">
                <a16:creationId xmlns:a16="http://schemas.microsoft.com/office/drawing/2014/main" id="{CF399703-ECD3-4BBF-9A1E-EFA957B8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33525"/>
            <a:ext cx="4819650" cy="3933825"/>
          </a:xfrm>
          <a:prstGeom xmlns:a="http://schemas.openxmlformats.org/drawingml/2006/main" prst="roundRect">
            <a:avLst>
              <a:gd name="adj" fmla="val 3874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4" name="圆角矩形 423">
            <a:extLst xmlns:a="http://schemas.openxmlformats.org/drawingml/2006/main">
              <a:ext uri="{FF2B5EF4-FFF2-40B4-BE49-F238E27FC236}">
                <a16:creationId xmlns:a16="http://schemas.microsoft.com/office/drawing/2014/main" id="{223B6F75-FE21-4DC2-9CBF-6553770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02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3" name="图片 4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8ec668f1146a5">
            <a:extLst>
              <a:ext uri="{96DAC541-7B7A-43D3-8B79-37D633B846F1}">
                <asvg:svgBlip xmlns:asvg="http://schemas.microsoft.com/office/drawing/2016/SVG/main" r:embed="Rba98271e7c5d4c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9526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26" name="文本框 425">
            <a:extLst xmlns:a="http://schemas.openxmlformats.org/drawingml/2006/main">
              <a:ext uri="{FF2B5EF4-FFF2-40B4-BE49-F238E27FC236}">
                <a16:creationId xmlns:a16="http://schemas.microsoft.com/office/drawing/2014/main" id="{DB04DB52-7D89-4FFF-9A86-0379A7BB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24125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全栈开发工程师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7" name="文本框 426">
            <a:extLst xmlns:a="http://schemas.openxmlformats.org/drawingml/2006/main">
              <a:ext uri="{FF2B5EF4-FFF2-40B4-BE49-F238E27FC236}">
                <a16:creationId xmlns:a16="http://schemas.microsoft.com/office/drawing/2014/main" id="{C211826B-640B-48D8-AA36-C14C412A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248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搞定「怎么做出来」</a:t>
            </a:r>
            <a:endParaRPr sz="112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8" name="矩形 427">
            <a:extLst xmlns:a="http://schemas.openxmlformats.org/drawingml/2006/main">
              <a:ext uri="{FF2B5EF4-FFF2-40B4-BE49-F238E27FC236}">
                <a16:creationId xmlns:a16="http://schemas.microsoft.com/office/drawing/2014/main" id="{F0932E85-CE4E-4398-A150-E98B54D1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7" name="图片 4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33242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30" name="文本框 429">
            <a:extLst xmlns:a="http://schemas.openxmlformats.org/drawingml/2006/main">
              <a:ext uri="{FF2B5EF4-FFF2-40B4-BE49-F238E27FC236}">
                <a16:creationId xmlns:a16="http://schemas.microsoft.com/office/drawing/2014/main" id="{16B37278-2415-4997-9A3E-4ED73BA3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86125"/>
            <a:ext cx="31146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前端：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React 18 + TypeScript + Vite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React Router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9" name="图片 4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36957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32" name="文本框 431">
            <a:extLst xmlns:a="http://schemas.openxmlformats.org/drawingml/2006/main">
              <a:ext uri="{FF2B5EF4-FFF2-40B4-BE49-F238E27FC236}">
                <a16:creationId xmlns:a16="http://schemas.microsoft.com/office/drawing/2014/main" id="{F59B907A-2250-4015-8232-A70797B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3571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后端：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Node.js 18+Express 4+node:test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91" name="图片 4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40671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34" name="文本框 433">
            <a:extLst xmlns:a="http://schemas.openxmlformats.org/drawingml/2006/main">
              <a:ext uri="{FF2B5EF4-FFF2-40B4-BE49-F238E27FC236}">
                <a16:creationId xmlns:a16="http://schemas.microsoft.com/office/drawing/2014/main" id="{2D050907-0937-42C0-872C-C3C7F4F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2907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AI：模型网关 · 关键词检索 · Skills / MCP · 角色化评审流程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93" name="图片 4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95a21f79a4da9">
            <a:extLst>
              <a:ext uri="{96DAC541-7B7A-43D3-8B79-37D633B846F1}">
                <asvg:svgBlip xmlns:asvg="http://schemas.microsoft.com/office/drawing/2016/SVG/main" r:embed="R575dcf1e5cce439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44386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36" name="文本框 435">
            <a:extLst xmlns:a="http://schemas.openxmlformats.org/drawingml/2006/main">
              <a:ext uri="{FF2B5EF4-FFF2-40B4-BE49-F238E27FC236}">
                <a16:creationId xmlns:a16="http://schemas.microsoft.com/office/drawing/2014/main" id="{1D9E22F1-F17D-4031-AD64-19076F5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29813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验证：前端构建 + 后端回归测试；Docker / K8s 为后续部署路线。</a:t>
            </a:r>
            <a:endParaRPr sz="120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7" name="圆角矩形 436">
            <a:extLst xmlns:a="http://schemas.openxmlformats.org/drawingml/2006/main">
              <a:ext uri="{FF2B5EF4-FFF2-40B4-BE49-F238E27FC236}">
                <a16:creationId xmlns:a16="http://schemas.microsoft.com/office/drawing/2014/main" id="{86F7298E-211C-4821-87E2-DDF8CB2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33950"/>
            <a:ext cx="17049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8" name="文本框 437">
            <a:extLst xmlns:a="http://schemas.openxmlformats.org/drawingml/2006/main">
              <a:ext uri="{FF2B5EF4-FFF2-40B4-BE49-F238E27FC236}">
                <a16:creationId xmlns:a16="http://schemas.microsoft.com/office/drawing/2014/main" id="{E3373F0E-2A2D-4AD4-BA1B-F4190D16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14001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前端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Agent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部署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9" name="圆角矩形 438">
            <a:extLst xmlns:a="http://schemas.openxmlformats.org/drawingml/2006/main">
              <a:ext uri="{FF2B5EF4-FFF2-40B4-BE49-F238E27FC236}">
                <a16:creationId xmlns:a16="http://schemas.microsoft.com/office/drawing/2014/main" id="{E2FDA62F-EF91-42A0-AD09-504D188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3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0" name="文本框 439">
            <a:extLst xmlns:a="http://schemas.openxmlformats.org/drawingml/2006/main">
              <a:ext uri="{FF2B5EF4-FFF2-40B4-BE49-F238E27FC236}">
                <a16:creationId xmlns:a16="http://schemas.microsoft.com/office/drawing/2014/main" id="{C6416168-56E5-46A8-93A5-E1B55F3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104965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协同机制：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PRD →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技术设计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开发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Agent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集成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验收迭代，两人共用同一套项目空间，端到端闭环。</a:t>
            </a:r>
            <a:endParaRPr sz="12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1" name="文本框 440">
            <a:extLst xmlns:a="http://schemas.openxmlformats.org/drawingml/2006/main">
              <a:ext uri="{FF2B5EF4-FFF2-40B4-BE49-F238E27FC236}">
                <a16:creationId xmlns:a16="http://schemas.microsoft.com/office/drawing/2014/main" id="{4CA4BCEB-8E82-4A3B-8C27-B0C0FB5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3049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2" name="文本框 441">
            <a:extLst xmlns:a="http://schemas.openxmlformats.org/drawingml/2006/main">
              <a:ext uri="{FF2B5EF4-FFF2-40B4-BE49-F238E27FC236}">
                <a16:creationId xmlns:a16="http://schemas.microsoft.com/office/drawing/2014/main" id="{A264F50B-66F2-40DF-B9D9-D5C15571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05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4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DD1F5863-D533-4FAD-BD49-B124344A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455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C638325D-8507-4437-9C36-19DACE4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5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235b728d04cfe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5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5c2a068ff4cb0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21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矩形 443">
            <a:extLst xmlns:a="http://schemas.openxmlformats.org/drawingml/2006/main">
              <a:ext uri="{FF2B5EF4-FFF2-40B4-BE49-F238E27FC236}">
                <a16:creationId xmlns:a16="http://schemas.microsoft.com/office/drawing/2014/main" id="{7A522D3D-5AB7-45F6-964A-AF482074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5" name="文本框 444">
            <a:extLst xmlns:a="http://schemas.openxmlformats.org/drawingml/2006/main">
              <a:ext uri="{FF2B5EF4-FFF2-40B4-BE49-F238E27FC236}">
                <a16:creationId xmlns:a16="http://schemas.microsoft.com/office/drawing/2014/main" id="{9636F299-720A-4B15-8AAC-00D8455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467D8"/>
                </a:solidFill>
                <a:latin typeface="微软雅黑"/>
                <a:ea typeface="微软雅黑"/>
                <a:cs typeface="微软雅黑"/>
              </a:rPr>
              <a:t>POSITIONING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6" name="文本框 445">
            <a:extLst xmlns:a="http://schemas.openxmlformats.org/drawingml/2006/main">
              <a:ext uri="{FF2B5EF4-FFF2-40B4-BE49-F238E27FC236}">
                <a16:creationId xmlns:a16="http://schemas.microsoft.com/office/drawing/2014/main" id="{ABD51FEE-C4A6-4851-8E0A-7EB6157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一句话说清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ScienceX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7" name="圆角矩形 446">
            <a:extLst xmlns:a="http://schemas.openxmlformats.org/drawingml/2006/main">
              <a:ext uri="{FF2B5EF4-FFF2-40B4-BE49-F238E27FC236}">
                <a16:creationId xmlns:a16="http://schemas.microsoft.com/office/drawing/2014/main" id="{C4867C97-FF9C-4259-BB7A-FCDEDDC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8" name="圆角矩形 447">
            <a:extLst xmlns:a="http://schemas.openxmlformats.org/drawingml/2006/main">
              <a:ext uri="{FF2B5EF4-FFF2-40B4-BE49-F238E27FC236}">
                <a16:creationId xmlns:a16="http://schemas.microsoft.com/office/drawing/2014/main" id="{59092D90-1BA3-4043-BB74-78389C8A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9" name="文本框 448">
            <a:extLst xmlns:a="http://schemas.openxmlformats.org/drawingml/2006/main">
              <a:ext uri="{FF2B5EF4-FFF2-40B4-BE49-F238E27FC236}">
                <a16:creationId xmlns:a16="http://schemas.microsoft.com/office/drawing/2014/main" id="{5F66C4B8-A71F-4C8D-BCCA-CA0694D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4457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不是会聊天的</a:t>
            </a: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0" name="文本框 449">
            <a:extLst xmlns:a="http://schemas.openxmlformats.org/drawingml/2006/main">
              <a:ext uri="{FF2B5EF4-FFF2-40B4-BE49-F238E27FC236}">
                <a16:creationId xmlns:a16="http://schemas.microsoft.com/office/drawing/2014/main" id="{0EAEE405-44D3-41BE-8A83-D9F98F5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209800"/>
            <a:ext cx="4483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而是能干活的</a:t>
            </a: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尖兵</a:t>
            </a:r>
            <a:r>
              <a:rPr sz="30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1" name="圆角矩形 450">
            <a:extLst xmlns:a="http://schemas.openxmlformats.org/drawingml/2006/main">
              <a:ext uri="{FF2B5EF4-FFF2-40B4-BE49-F238E27FC236}">
                <a16:creationId xmlns:a16="http://schemas.microsoft.com/office/drawing/2014/main" id="{67B3748A-EC28-4BC8-BE0C-D040597D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2" name="文本框 451">
            <a:extLst xmlns:a="http://schemas.openxmlformats.org/drawingml/2006/main">
              <a:ext uri="{FF2B5EF4-FFF2-40B4-BE49-F238E27FC236}">
                <a16:creationId xmlns:a16="http://schemas.microsoft.com/office/drawing/2014/main" id="{9C08F984-4893-4076-83AB-C1CBB81C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不是又一个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写作工具</a:t>
            </a:r>
            <a:endParaRPr sz="12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8" name="图片 4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8e04464642f2">
            <a:extLst>
              <a:ext uri="{96DAC541-7B7A-43D3-8B79-37D633B846F1}">
                <asvg:svgBlip xmlns:asvg="http://schemas.microsoft.com/office/drawing/2016/SVG/main" r:embed="R7ee1013640f848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33813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54" name="文本框 453">
            <a:extLst xmlns:a="http://schemas.openxmlformats.org/drawingml/2006/main">
              <a:ext uri="{FF2B5EF4-FFF2-40B4-BE49-F238E27FC236}">
                <a16:creationId xmlns:a16="http://schemas.microsoft.com/office/drawing/2014/main" id="{60262635-5620-4E60-86D8-324B6C1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5280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而是覆盖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「选题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发表」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5" name="圆角矩形 454">
            <a:extLst xmlns:a="http://schemas.openxmlformats.org/drawingml/2006/main">
              <a:ext uri="{FF2B5EF4-FFF2-40B4-BE49-F238E27FC236}">
                <a16:creationId xmlns:a16="http://schemas.microsoft.com/office/drawing/2014/main" id="{8E1914BE-FB0F-4AC9-80AC-0EDE0F9D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" name="文本框 455">
            <a:extLst xmlns:a="http://schemas.openxmlformats.org/drawingml/2006/main">
              <a:ext uri="{FF2B5EF4-FFF2-40B4-BE49-F238E27FC236}">
                <a16:creationId xmlns:a16="http://schemas.microsoft.com/office/drawing/2014/main" id="{9D2522FB-D2F6-4A04-8E93-6A4B718E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不是让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替你写论文</a:t>
            </a:r>
            <a:endParaRPr sz="12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92" name="图片 4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8e04464642f2">
            <a:extLst>
              <a:ext uri="{96DAC541-7B7A-43D3-8B79-37D633B846F1}">
                <asvg:svgBlip xmlns:asvg="http://schemas.microsoft.com/office/drawing/2016/SVG/main" r:embed="R7ee1013640f848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3952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58" name="文本框 457">
            <a:extLst xmlns:a="http://schemas.openxmlformats.org/drawingml/2006/main">
              <a:ext uri="{FF2B5EF4-FFF2-40B4-BE49-F238E27FC236}">
                <a16:creationId xmlns:a16="http://schemas.microsoft.com/office/drawing/2014/main" id="{B949C034-0BDF-4BEE-ACB0-939DC897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而是让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替你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干重复劳动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9" name="圆角矩形 458">
            <a:extLst xmlns:a="http://schemas.openxmlformats.org/drawingml/2006/main">
              <a:ext uri="{FF2B5EF4-FFF2-40B4-BE49-F238E27FC236}">
                <a16:creationId xmlns:a16="http://schemas.microsoft.com/office/drawing/2014/main" id="{27EF2757-202F-43F9-9432-FA026DE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0" name="文本框 459">
            <a:extLst xmlns:a="http://schemas.openxmlformats.org/drawingml/2006/main">
              <a:ext uri="{FF2B5EF4-FFF2-40B4-BE49-F238E27FC236}">
                <a16:creationId xmlns:a16="http://schemas.microsoft.com/office/drawing/2014/main" id="{ED2B0023-7AF1-4D08-BE4A-4CB8FE14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不是单点工具的堆砌</a:t>
            </a:r>
            <a:endParaRPr sz="12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96" name="图片 4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8e04464642f2">
            <a:extLst>
              <a:ext uri="{96DAC541-7B7A-43D3-8B79-37D633B846F1}">
                <asvg:svgBlip xmlns:asvg="http://schemas.microsoft.com/office/drawing/2016/SVG/main" r:embed="R7ee1013640f848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45243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62" name="文本框 461">
            <a:extLst xmlns:a="http://schemas.openxmlformats.org/drawingml/2006/main">
              <a:ext uri="{FF2B5EF4-FFF2-40B4-BE49-F238E27FC236}">
                <a16:creationId xmlns:a16="http://schemas.microsoft.com/office/drawing/2014/main" id="{B381A547-88B4-48A0-A0F2-BA9E225F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而是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编排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的科研闭环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3" name="圆角矩形 462">
            <a:extLst xmlns:a="http://schemas.openxmlformats.org/drawingml/2006/main">
              <a:ext uri="{FF2B5EF4-FFF2-40B4-BE49-F238E27FC236}">
                <a16:creationId xmlns:a16="http://schemas.microsoft.com/office/drawing/2014/main" id="{C92E0EE6-5B70-4672-B159-C50F245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4" name="文本框 463">
            <a:extLst xmlns:a="http://schemas.openxmlformats.org/drawingml/2006/main">
              <a:ext uri="{FF2B5EF4-FFF2-40B4-BE49-F238E27FC236}">
                <a16:creationId xmlns:a16="http://schemas.microsoft.com/office/drawing/2014/main" id="{1168C5DC-7D8D-400D-AED6-BCC064F3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不是某个大模型的壳</a:t>
            </a:r>
            <a:endParaRPr sz="12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0" name="图片 4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68e04464642f2">
            <a:extLst>
              <a:ext uri="{96DAC541-7B7A-43D3-8B79-37D633B846F1}">
                <asvg:svgBlip xmlns:asvg="http://schemas.microsoft.com/office/drawing/2016/SVG/main" r:embed="R7ee1013640f848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5095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66" name="文本框 465">
            <a:extLst xmlns:a="http://schemas.openxmlformats.org/drawingml/2006/main">
              <a:ext uri="{FF2B5EF4-FFF2-40B4-BE49-F238E27FC236}">
                <a16:creationId xmlns:a16="http://schemas.microsoft.com/office/drawing/2014/main" id="{3125ECBB-90B0-446B-B374-458D7BF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而是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模型中立</a:t>
            </a:r>
            <a:r>
              <a:rPr sz="13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、可接入任意模型的开放平台</a:t>
            </a:r>
            <a:endParaRPr sz="13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7" name="圆角矩形 466">
            <a:extLst xmlns:a="http://schemas.openxmlformats.org/drawingml/2006/main">
              <a:ext uri="{FF2B5EF4-FFF2-40B4-BE49-F238E27FC236}">
                <a16:creationId xmlns:a16="http://schemas.microsoft.com/office/drawing/2014/main" id="{4711DF53-4431-4B43-B17A-D365830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8" name="文本框 467">
            <a:extLst xmlns:a="http://schemas.openxmlformats.org/drawingml/2006/main">
              <a:ext uri="{FF2B5EF4-FFF2-40B4-BE49-F238E27FC236}">
                <a16:creationId xmlns:a16="http://schemas.microsoft.com/office/drawing/2014/main" id="{799CC141-3880-4F8E-817A-23CAD80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48350"/>
            <a:ext cx="61531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一句话：不是给你一个会写字的大模型，而是给你一间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配齐工具与助理的科研工作台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27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9" name="文本框 468">
            <a:extLst xmlns:a="http://schemas.openxmlformats.org/drawingml/2006/main">
              <a:ext uri="{FF2B5EF4-FFF2-40B4-BE49-F238E27FC236}">
                <a16:creationId xmlns:a16="http://schemas.microsoft.com/office/drawing/2014/main" id="{84D67786-78D8-4B5C-A425-B33501F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3049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0" name="文本框 469">
            <a:extLst xmlns:a="http://schemas.openxmlformats.org/drawingml/2006/main">
              <a:ext uri="{FF2B5EF4-FFF2-40B4-BE49-F238E27FC236}">
                <a16:creationId xmlns:a16="http://schemas.microsoft.com/office/drawing/2014/main" id="{34FA0D8B-8096-4B19-A871-B8165CA0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06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5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273E89BA-1604-4352-9939-5F8B52B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476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25BEF109-7A44-4190-A095-F644454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5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0faba12274412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a781319e4bda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8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2" name="矩形 471">
            <a:extLst xmlns:a="http://schemas.openxmlformats.org/drawingml/2006/main">
              <a:ext uri="{FF2B5EF4-FFF2-40B4-BE49-F238E27FC236}">
                <a16:creationId xmlns:a16="http://schemas.microsoft.com/office/drawing/2014/main" id="{5B087CC2-428B-44DE-B14E-5E16011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3" name="文本框 472">
            <a:extLst xmlns:a="http://schemas.openxmlformats.org/drawingml/2006/main">
              <a:ext uri="{FF2B5EF4-FFF2-40B4-BE49-F238E27FC236}">
                <a16:creationId xmlns:a16="http://schemas.microsoft.com/office/drawing/2014/main" id="{B31C597E-72D4-4C9A-9886-F3EC4AF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4" name="文本框 473">
            <a:extLst xmlns:a="http://schemas.openxmlformats.org/drawingml/2006/main">
              <a:ext uri="{FF2B5EF4-FFF2-40B4-BE49-F238E27FC236}">
                <a16:creationId xmlns:a16="http://schemas.microsoft.com/office/drawing/2014/main" id="{4B33B818-9007-4011-8027-849BE20D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项目简介：名称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定位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价值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5" name="圆角矩形 474">
            <a:extLst xmlns:a="http://schemas.openxmlformats.org/drawingml/2006/main">
              <a:ext uri="{FF2B5EF4-FFF2-40B4-BE49-F238E27FC236}">
                <a16:creationId xmlns:a16="http://schemas.microsoft.com/office/drawing/2014/main" id="{01FBBA39-273D-411C-AE8D-7DEC035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6" name="圆角矩形 475">
            <a:extLst xmlns:a="http://schemas.openxmlformats.org/drawingml/2006/main">
              <a:ext uri="{FF2B5EF4-FFF2-40B4-BE49-F238E27FC236}">
                <a16:creationId xmlns:a16="http://schemas.microsoft.com/office/drawing/2014/main" id="{1DD0F882-C337-4ED6-9818-DF7583D5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3810000" cy="40290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7" name="文本框 476">
            <a:extLst xmlns:a="http://schemas.openxmlformats.org/drawingml/2006/main">
              <a:ext uri="{FF2B5EF4-FFF2-40B4-BE49-F238E27FC236}">
                <a16:creationId xmlns:a16="http://schemas.microsoft.com/office/drawing/2014/main" id="{52C6AF9F-068C-41B5-8B9C-5C7048DB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31623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4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PRODUCT</a:t>
            </a:r>
            <a:endParaRPr sz="1050" spc="4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8" name="文本框 477">
            <a:extLst xmlns:a="http://schemas.openxmlformats.org/drawingml/2006/main">
              <a:ext uri="{FF2B5EF4-FFF2-40B4-BE49-F238E27FC236}">
                <a16:creationId xmlns:a16="http://schemas.microsoft.com/office/drawing/2014/main" id="{61218CAC-6C0C-4706-97BA-F5CB096C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62225"/>
            <a:ext cx="3162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34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ScienceX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34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34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9" name="圆角矩形 478">
            <a:extLst xmlns:a="http://schemas.openxmlformats.org/drawingml/2006/main">
              <a:ext uri="{FF2B5EF4-FFF2-40B4-BE49-F238E27FC236}">
                <a16:creationId xmlns:a16="http://schemas.microsoft.com/office/drawing/2014/main" id="{DC3D1AF8-6118-4B9B-B1F9-5DE3EA4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457200" cy="28575"/>
          </a:xfrm>
          <a:prstGeom xmlns:a="http://schemas.openxmlformats.org/drawingml/2006/main" prst="roundRect">
            <a:avLst>
              <a:gd name="adj" fmla="val 66667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0" name="文本框 479">
            <a:extLst xmlns:a="http://schemas.openxmlformats.org/drawingml/2006/main">
              <a:ext uri="{FF2B5EF4-FFF2-40B4-BE49-F238E27FC236}">
                <a16:creationId xmlns:a16="http://schemas.microsoft.com/office/drawing/2014/main" id="{575E2F44-CE29-4766-BC45-5F5723C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3162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对话即工作台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工具即智能体</a:t>
            </a:r>
            <a:endParaRPr sz="1275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把重复、琐碎、耗时的环节交给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2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智能体。</a:t>
            </a:r>
            <a:endParaRPr sz="1275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1" name="圆角矩形 480">
            <a:extLst xmlns:a="http://schemas.openxmlformats.org/drawingml/2006/main">
              <a:ext uri="{FF2B5EF4-FFF2-40B4-BE49-F238E27FC236}">
                <a16:creationId xmlns:a16="http://schemas.microsoft.com/office/drawing/2014/main" id="{436CDA84-69E4-42D3-8E2F-7354D2F4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33525"/>
            <a:ext cx="6743700" cy="1247775"/>
          </a:xfrm>
          <a:prstGeom xmlns:a="http://schemas.openxmlformats.org/drawingml/2006/main" prst="roundRect">
            <a:avLst>
              <a:gd name="adj" fmla="val 1068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2" name="文本框 481">
            <a:extLst xmlns:a="http://schemas.openxmlformats.org/drawingml/2006/main">
              <a:ext uri="{FF2B5EF4-FFF2-40B4-BE49-F238E27FC236}">
                <a16:creationId xmlns:a16="http://schemas.microsoft.com/office/drawing/2014/main" id="{5F1BAC44-A112-42F7-936E-5AA680C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04975"/>
            <a:ext cx="628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一句话定位</a:t>
            </a:r>
            <a:endParaRPr sz="1125" b="1" spc="150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3" name="文本框 482">
            <a:extLst xmlns:a="http://schemas.openxmlformats.org/drawingml/2006/main">
              <a:ext uri="{FF2B5EF4-FFF2-40B4-BE49-F238E27FC236}">
                <a16:creationId xmlns:a16="http://schemas.microsoft.com/office/drawing/2014/main" id="{26477300-73A2-4F87-B100-07D721A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33575"/>
            <a:ext cx="62865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sz="14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对话为入口</a:t>
            </a:r>
            <a:r>
              <a:rPr sz="14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、贯通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「选题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发表」全流程</a:t>
            </a:r>
            <a:r>
              <a:rPr sz="14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的科研工作台——把重复劳动交给智能体，让研究者专注于创新本身。</a:t>
            </a:r>
            <a:endParaRPr sz="14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4" name="圆角矩形 483">
            <a:extLst xmlns:a="http://schemas.openxmlformats.org/drawingml/2006/main">
              <a:ext uri="{FF2B5EF4-FFF2-40B4-BE49-F238E27FC236}">
                <a16:creationId xmlns:a16="http://schemas.microsoft.com/office/drawing/2014/main" id="{4423ACB9-AD06-4EFE-940A-83B29E5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3305175" cy="19812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9" name="图片 4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0b3760d404019">
            <a:extLst>
              <a:ext uri="{96DAC541-7B7A-43D3-8B79-37D633B846F1}">
                <asvg:svgBlip xmlns:asvg="http://schemas.microsoft.com/office/drawing/2016/SVG/main" r:embed="R1ff86fae966143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86" name="文本框 485">
            <a:extLst xmlns:a="http://schemas.openxmlformats.org/drawingml/2006/main">
              <a:ext uri="{FF2B5EF4-FFF2-40B4-BE49-F238E27FC236}">
                <a16:creationId xmlns:a16="http://schemas.microsoft.com/office/drawing/2014/main" id="{7969BF00-790F-4A89-8715-372E816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产品形态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7" name="文本框 486">
            <a:extLst xmlns:a="http://schemas.openxmlformats.org/drawingml/2006/main">
              <a:ext uri="{FF2B5EF4-FFF2-40B4-BE49-F238E27FC236}">
                <a16:creationId xmlns:a16="http://schemas.microsoft.com/office/drawing/2014/main" id="{1BE32ACE-96F5-465B-893C-F093020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33750"/>
            <a:ext cx="28860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1617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Web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端前后端分离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移动端自适应网页；桌面优先、移动可用，一套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服务多端。</a:t>
            </a:r>
            <a:endParaRPr sz="112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8" name="圆角矩形 487">
            <a:extLst xmlns:a="http://schemas.openxmlformats.org/drawingml/2006/main">
              <a:ext uri="{FF2B5EF4-FFF2-40B4-BE49-F238E27FC236}">
                <a16:creationId xmlns:a16="http://schemas.microsoft.com/office/drawing/2014/main" id="{19F80ADF-8077-490B-9ACB-64593C51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305175" cy="19812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3" name="图片 4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1a55705ad4795">
            <a:extLst>
              <a:ext uri="{96DAC541-7B7A-43D3-8B79-37D633B846F1}">
                <asvg:svgBlip xmlns:asvg="http://schemas.microsoft.com/office/drawing/2016/SVG/main" r:embed="Rf02aa3b01b2d41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575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0" name="文本框 489">
            <a:extLst xmlns:a="http://schemas.openxmlformats.org/drawingml/2006/main">
              <a:ext uri="{FF2B5EF4-FFF2-40B4-BE49-F238E27FC236}">
                <a16:creationId xmlns:a16="http://schemas.microsoft.com/office/drawing/2014/main" id="{61AFC3DA-3959-4D66-AE22-34F9D79C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670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核心价值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1" name="文本框 490">
            <a:extLst xmlns:a="http://schemas.openxmlformats.org/drawingml/2006/main">
              <a:ext uri="{FF2B5EF4-FFF2-40B4-BE49-F238E27FC236}">
                <a16:creationId xmlns:a16="http://schemas.microsoft.com/office/drawing/2014/main" id="{FF314F53-1F94-448B-AEBA-9E38CCB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886075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研究者的「第二大脑」与「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科研助理团」；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Skills / MCP /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自定义模型保持开放扩展。</a:t>
            </a:r>
            <a:endParaRPr sz="112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2" name="圆角矩形 491">
            <a:extLst xmlns:a="http://schemas.openxmlformats.org/drawingml/2006/main">
              <a:ext uri="{FF2B5EF4-FFF2-40B4-BE49-F238E27FC236}">
                <a16:creationId xmlns:a16="http://schemas.microsoft.com/office/drawing/2014/main" id="{7F698313-87A7-46E7-9DBD-85FC0CD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6743700" cy="533400"/>
          </a:xfrm>
          <a:prstGeom xmlns:a="http://schemas.openxmlformats.org/drawingml/2006/main" prst="roundRect">
            <a:avLst>
              <a:gd name="adj" fmla="val 21429"/>
            </a:avLst>
          </a:prstGeom>
          <a:ln xmlns:a="http://schemas.openxmlformats.org/drawingml/2006/main" w="12700">
            <a:solidFill>
              <a:srgbClr val="2A47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4" name="文本框 493">
            <a:extLst xmlns:a="http://schemas.openxmlformats.org/drawingml/2006/main">
              <a:ext uri="{FF2B5EF4-FFF2-40B4-BE49-F238E27FC236}">
                <a16:creationId xmlns:a16="http://schemas.microsoft.com/office/drawing/2014/main" id="{150D0B00-3E64-44DC-9AB4-D5B3EAFB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10175"/>
            <a:ext cx="5600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论文产出周期平均缩短目标（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PRD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愿景）——闭环打通后，各环节效率收益可叠加、可复用。</a:t>
            </a:r>
            <a:endParaRPr sz="112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5" name="圆角矩形 494">
            <a:extLst xmlns:a="http://schemas.openxmlformats.org/drawingml/2006/main">
              <a:ext uri="{FF2B5EF4-FFF2-40B4-BE49-F238E27FC236}">
                <a16:creationId xmlns:a16="http://schemas.microsoft.com/office/drawing/2014/main" id="{9317B038-B022-4F35-A037-06BB726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6" name="文本框 495">
            <a:extLst xmlns:a="http://schemas.openxmlformats.org/drawingml/2006/main">
              <a:ext uri="{FF2B5EF4-FFF2-40B4-BE49-F238E27FC236}">
                <a16:creationId xmlns:a16="http://schemas.microsoft.com/office/drawing/2014/main" id="{42382343-F524-45C1-9854-132A13B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579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核心主张：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一个入口，闭环科研——以对话工作台为中枢，串联六大工具与协作能力。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7" name="文本框 496">
            <a:extLst xmlns:a="http://schemas.openxmlformats.org/drawingml/2006/main">
              <a:ext uri="{FF2B5EF4-FFF2-40B4-BE49-F238E27FC236}">
                <a16:creationId xmlns:a16="http://schemas.microsoft.com/office/drawing/2014/main" id="{E89E34CB-0997-490E-B68A-2E73C2F7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13049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8" name="文本框 497">
            <a:extLst xmlns:a="http://schemas.openxmlformats.org/drawingml/2006/main">
              <a:ext uri="{FF2B5EF4-FFF2-40B4-BE49-F238E27FC236}">
                <a16:creationId xmlns:a16="http://schemas.microsoft.com/office/drawing/2014/main" id="{BB7E8E3B-91FC-40F2-95BB-64190B9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07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3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c0317c90140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2545" y="2421890"/>
            <a:ext cx="6702425" cy="2967355"/>
          </a:xfrm>
          <a:prstGeom xmlns:a="http://schemas.openxmlformats.org/drawingml/2006/main" prst="rect">
            <a:avLst/>
          </a:prstGeom>
        </p:spPr>
      </p:pic>
      <p:sp>
        <p:nvSpPr>
          <p:cNvPr id="502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D1D98575-5347-45C4-8D69-95937B5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503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E1119E55-23ED-4BE7-820A-6703C660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5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807e353234dae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5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eaf25e5a47c0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2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" name="矩形 499">
            <a:extLst xmlns:a="http://schemas.openxmlformats.org/drawingml/2006/main">
              <a:ext uri="{FF2B5EF4-FFF2-40B4-BE49-F238E27FC236}">
                <a16:creationId xmlns:a16="http://schemas.microsoft.com/office/drawing/2014/main" id="{5CB5DD17-7426-49B5-8C23-146CCC1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1" name="文本框 500">
            <a:extLst xmlns:a="http://schemas.openxmlformats.org/drawingml/2006/main">
              <a:ext uri="{FF2B5EF4-FFF2-40B4-BE49-F238E27FC236}">
                <a16:creationId xmlns:a16="http://schemas.microsoft.com/office/drawing/2014/main" id="{A7AAC5F1-B70A-4491-8EBF-A4DFD9C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2" name="文本框 501">
            <a:extLst xmlns:a="http://schemas.openxmlformats.org/drawingml/2006/main">
              <a:ext uri="{FF2B5EF4-FFF2-40B4-BE49-F238E27FC236}">
                <a16:creationId xmlns:a16="http://schemas.microsoft.com/office/drawing/2014/main" id="{644FA9F1-5DE3-4F36-B221-5B46750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用户画像：年龄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身份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使用场景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3" name="圆角矩形 502">
            <a:extLst xmlns:a="http://schemas.openxmlformats.org/drawingml/2006/main">
              <a:ext uri="{FF2B5EF4-FFF2-40B4-BE49-F238E27FC236}">
                <a16:creationId xmlns:a16="http://schemas.microsoft.com/office/drawing/2014/main" id="{33E92D47-EF99-4B3D-9890-DD02089F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4" name="圆角矩形 503">
            <a:extLst xmlns:a="http://schemas.openxmlformats.org/drawingml/2006/main">
              <a:ext uri="{FF2B5EF4-FFF2-40B4-BE49-F238E27FC236}">
                <a16:creationId xmlns:a16="http://schemas.microsoft.com/office/drawing/2014/main" id="{D8DB7E92-E24A-4A30-8B3B-B78B7DB4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3514725" cy="2257425"/>
          </a:xfrm>
          <a:prstGeom xmlns:a="http://schemas.openxmlformats.org/drawingml/2006/main" prst="roundRect">
            <a:avLst>
              <a:gd name="adj" fmla="val 590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7" name="图片 5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5205edb0d406d">
            <a:extLst>
              <a:ext uri="{96DAC541-7B7A-43D3-8B79-37D633B846F1}">
                <asvg:svgBlip xmlns:asvg="http://schemas.microsoft.com/office/drawing/2016/SVG/main" r:embed="Rd1292da9531045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1657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06" name="文本框 505">
            <a:extLst xmlns:a="http://schemas.openxmlformats.org/drawingml/2006/main">
              <a:ext uri="{FF2B5EF4-FFF2-40B4-BE49-F238E27FC236}">
                <a16:creationId xmlns:a16="http://schemas.microsoft.com/office/drawing/2014/main" id="{108EC326-9F46-46D2-92E8-81CF74AD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76400"/>
            <a:ext cx="123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研究生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博士生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7" name="文本框 506">
            <a:extLst xmlns:a="http://schemas.openxmlformats.org/drawingml/2006/main">
              <a:ext uri="{FF2B5EF4-FFF2-40B4-BE49-F238E27FC236}">
                <a16:creationId xmlns:a16="http://schemas.microsoft.com/office/drawing/2014/main" id="{7163D925-392C-487D-9892-C55522AB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62150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约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22–30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岁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科研新手到中坚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8" name="文本框 507">
            <a:extLst xmlns:a="http://schemas.openxmlformats.org/drawingml/2006/main">
              <a:ext uri="{FF2B5EF4-FFF2-40B4-BE49-F238E27FC236}">
                <a16:creationId xmlns:a16="http://schemas.microsoft.com/office/drawing/2014/main" id="{A087BD49-C96F-4083-B3EE-60154A4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71700"/>
            <a:ext cx="31527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诉求：快速入门选题、读懂英文文献、写出第一篇论文。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9" name="文本框 508">
            <a:extLst xmlns:a="http://schemas.openxmlformats.org/drawingml/2006/main">
              <a:ext uri="{FF2B5EF4-FFF2-40B4-BE49-F238E27FC236}">
                <a16:creationId xmlns:a16="http://schemas.microsoft.com/office/drawing/2014/main" id="{E69EB32A-194D-4BF5-BF74-71B7863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95575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场景：开题调研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组会前读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5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篇论文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深夜改稿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0" name="圆角矩形 509">
            <a:extLst xmlns:a="http://schemas.openxmlformats.org/drawingml/2006/main">
              <a:ext uri="{FF2B5EF4-FFF2-40B4-BE49-F238E27FC236}">
                <a16:creationId xmlns:a16="http://schemas.microsoft.com/office/drawing/2014/main" id="{8F0D32A8-717F-44C1-9BA6-545E062D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14475"/>
            <a:ext cx="3524250" cy="2257425"/>
          </a:xfrm>
          <a:prstGeom xmlns:a="http://schemas.openxmlformats.org/drawingml/2006/main" prst="roundRect">
            <a:avLst>
              <a:gd name="adj" fmla="val 590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3" name="图片 5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4d7c51cf445b4">
            <a:extLst>
              <a:ext uri="{96DAC541-7B7A-43D3-8B79-37D633B846F1}">
                <asvg:svgBlip xmlns:asvg="http://schemas.microsoft.com/office/drawing/2016/SVG/main" r:embed="Rcb7840c244e84b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657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12" name="文本框 511">
            <a:extLst xmlns:a="http://schemas.openxmlformats.org/drawingml/2006/main">
              <a:ext uri="{FF2B5EF4-FFF2-40B4-BE49-F238E27FC236}">
                <a16:creationId xmlns:a16="http://schemas.microsoft.com/office/drawing/2014/main" id="{55B7C0FD-4A5C-4100-B16E-5582E85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76400"/>
            <a:ext cx="16002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高校教师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科研人员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3" name="文本框 512">
            <a:extLst xmlns:a="http://schemas.openxmlformats.org/drawingml/2006/main">
              <a:ext uri="{FF2B5EF4-FFF2-40B4-BE49-F238E27FC236}">
                <a16:creationId xmlns:a16="http://schemas.microsoft.com/office/drawing/2014/main" id="{758FE7A7-433A-45C3-A5A5-C5683F2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约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30–55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岁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有课题有项目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4" name="文本框 513">
            <a:extLst xmlns:a="http://schemas.openxmlformats.org/drawingml/2006/main">
              <a:ext uri="{FF2B5EF4-FFF2-40B4-BE49-F238E27FC236}">
                <a16:creationId xmlns:a16="http://schemas.microsoft.com/office/drawing/2014/main" id="{8D5FE8C2-926E-4661-A902-51B2ACFB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16230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诉求：提高产出效率、管理课题组、追踪前沿，发论文评职称。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5" name="文本框 514">
            <a:extLst xmlns:a="http://schemas.openxmlformats.org/drawingml/2006/main">
              <a:ext uri="{FF2B5EF4-FFF2-40B4-BE49-F238E27FC236}">
                <a16:creationId xmlns:a16="http://schemas.microsoft.com/office/drawing/2014/main" id="{5C70DAA7-0146-4A3B-9927-AB913FA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95575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场景：审稿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写基金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指导学生组会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6" name="圆角矩形 515">
            <a:extLst xmlns:a="http://schemas.openxmlformats.org/drawingml/2006/main">
              <a:ext uri="{FF2B5EF4-FFF2-40B4-BE49-F238E27FC236}">
                <a16:creationId xmlns:a16="http://schemas.microsoft.com/office/drawing/2014/main" id="{E123963A-8773-4F17-941F-3C5A9F5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514475"/>
            <a:ext cx="3514725" cy="2257425"/>
          </a:xfrm>
          <a:prstGeom xmlns:a="http://schemas.openxmlformats.org/drawingml/2006/main" prst="roundRect">
            <a:avLst>
              <a:gd name="adj" fmla="val 590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9" name="图片 5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fe61ca3bb4aa1">
            <a:extLst>
              <a:ext uri="{96DAC541-7B7A-43D3-8B79-37D633B846F1}">
                <asvg:svgBlip xmlns:asvg="http://schemas.microsoft.com/office/drawing/2016/SVG/main" r:embed="Rd2fc352b5fb747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1657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18" name="文本框 517">
            <a:extLst xmlns:a="http://schemas.openxmlformats.org/drawingml/2006/main">
              <a:ext uri="{FF2B5EF4-FFF2-40B4-BE49-F238E27FC236}">
                <a16:creationId xmlns:a16="http://schemas.microsoft.com/office/drawing/2014/main" id="{60B38EEF-F7EA-4487-864F-8977601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12382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企业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产业研发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9" name="文本框 518">
            <a:extLst xmlns:a="http://schemas.openxmlformats.org/drawingml/2006/main">
              <a:ext uri="{FF2B5EF4-FFF2-40B4-BE49-F238E27FC236}">
                <a16:creationId xmlns:a16="http://schemas.microsoft.com/office/drawing/2014/main" id="{849B4354-38B0-4F26-9779-73952A0D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约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25–45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岁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应用型研究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0" name="文本框 519">
            <a:extLst xmlns:a="http://schemas.openxmlformats.org/drawingml/2006/main">
              <a:ext uri="{FF2B5EF4-FFF2-40B4-BE49-F238E27FC236}">
                <a16:creationId xmlns:a16="http://schemas.microsoft.com/office/drawing/2014/main" id="{0B97A3C7-2152-4FB9-8730-D7AC418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152775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诉求：快速技术调研、复现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SOTA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、写技术报告，重视落地与专利。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1" name="文本框 520">
            <a:extLst xmlns:a="http://schemas.openxmlformats.org/drawingml/2006/main">
              <a:ext uri="{FF2B5EF4-FFF2-40B4-BE49-F238E27FC236}">
                <a16:creationId xmlns:a16="http://schemas.microsoft.com/office/drawing/2014/main" id="{9C3E0B65-67BE-4636-9989-D8369BE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95575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场景：技术选型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复现开源代码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白皮书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2" name="圆角矩形 521">
            <a:extLst xmlns:a="http://schemas.openxmlformats.org/drawingml/2006/main">
              <a:ext uri="{FF2B5EF4-FFF2-40B4-BE49-F238E27FC236}">
                <a16:creationId xmlns:a16="http://schemas.microsoft.com/office/drawing/2014/main" id="{2D071799-C6E6-4858-AA7F-78101F9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514725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5" name="图片 5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2a090c3794104">
            <a:extLst>
              <a:ext uri="{96DAC541-7B7A-43D3-8B79-37D633B846F1}">
                <asvg:svgBlip xmlns:asvg="http://schemas.microsoft.com/office/drawing/2016/SVG/main" r:embed="Ra0d8c570a52146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4048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24" name="文本框 523">
            <a:extLst xmlns:a="http://schemas.openxmlformats.org/drawingml/2006/main">
              <a:ext uri="{FF2B5EF4-FFF2-40B4-BE49-F238E27FC236}">
                <a16:creationId xmlns:a16="http://schemas.microsoft.com/office/drawing/2014/main" id="{331CAD3A-81B4-4C8B-95CD-266982F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67175"/>
            <a:ext cx="16002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课题组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实验室团队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5" name="文本框 524">
            <a:extLst xmlns:a="http://schemas.openxmlformats.org/drawingml/2006/main">
              <a:ext uri="{FF2B5EF4-FFF2-40B4-BE49-F238E27FC236}">
                <a16:creationId xmlns:a16="http://schemas.microsoft.com/office/drawing/2014/main" id="{42A51659-55A5-4DFD-9E54-D2B1F6E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52925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多人协作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知识沉淀困难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6" name="文本框 525">
            <a:extLst xmlns:a="http://schemas.openxmlformats.org/drawingml/2006/main">
              <a:ext uri="{FF2B5EF4-FFF2-40B4-BE49-F238E27FC236}">
                <a16:creationId xmlns:a16="http://schemas.microsoft.com/office/drawing/2014/main" id="{763FE116-7C31-4243-931D-36C7A234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62475"/>
            <a:ext cx="31527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诉求：共享文献库、统一汇报、经验传承。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7" name="文本框 526">
            <a:extLst xmlns:a="http://schemas.openxmlformats.org/drawingml/2006/main">
              <a:ext uri="{FF2B5EF4-FFF2-40B4-BE49-F238E27FC236}">
                <a16:creationId xmlns:a16="http://schemas.microsoft.com/office/drawing/2014/main" id="{318F3D10-7EA1-4ED5-9D64-AE705380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57750"/>
            <a:ext cx="31527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场景：课题组文本知识库 · 多人协同阅读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8" name="圆角矩形 527">
            <a:extLst xmlns:a="http://schemas.openxmlformats.org/drawingml/2006/main">
              <a:ext uri="{FF2B5EF4-FFF2-40B4-BE49-F238E27FC236}">
                <a16:creationId xmlns:a16="http://schemas.microsoft.com/office/drawing/2014/main" id="{4B350135-DDB0-43B7-9D9F-450FDEC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524250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1" name="图片 5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3f0e5d61d4260">
            <a:extLst>
              <a:ext uri="{96DAC541-7B7A-43D3-8B79-37D633B846F1}">
                <asvg:svgBlip xmlns:asvg="http://schemas.microsoft.com/office/drawing/2016/SVG/main" r:embed="R51cca75f10094a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4048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30" name="文本框 529">
            <a:extLst xmlns:a="http://schemas.openxmlformats.org/drawingml/2006/main">
              <a:ext uri="{FF2B5EF4-FFF2-40B4-BE49-F238E27FC236}">
                <a16:creationId xmlns:a16="http://schemas.microsoft.com/office/drawing/2014/main" id="{AAE97158-B0B9-4B95-9790-C10C176A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67175"/>
            <a:ext cx="10858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跨学科研究者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1" name="文本框 530">
            <a:extLst xmlns:a="http://schemas.openxmlformats.org/drawingml/2006/main">
              <a:ext uri="{FF2B5EF4-FFF2-40B4-BE49-F238E27FC236}">
                <a16:creationId xmlns:a16="http://schemas.microsoft.com/office/drawing/2014/main" id="{0DD9B37A-0CFD-46E8-8C1E-DE2F53A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52925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年龄不限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快速进入陌生领域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2" name="文本框 531">
            <a:extLst xmlns:a="http://schemas.openxmlformats.org/drawingml/2006/main">
              <a:ext uri="{FF2B5EF4-FFF2-40B4-BE49-F238E27FC236}">
                <a16:creationId xmlns:a16="http://schemas.microsoft.com/office/drawing/2014/main" id="{47A6A402-DF7B-475A-BB64-7C9F456E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3162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诉求：快速建立领域认知、术语翻译。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3" name="文本框 532">
            <a:extLst xmlns:a="http://schemas.openxmlformats.org/drawingml/2006/main">
              <a:ext uri="{FF2B5EF4-FFF2-40B4-BE49-F238E27FC236}">
                <a16:creationId xmlns:a16="http://schemas.microsoft.com/office/drawing/2014/main" id="{78D3D88E-9A6C-4DD9-A976-6E384DC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3162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场景：思维导图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专家评审摸清陌生方向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4" name="圆角矩形 533">
            <a:extLst xmlns:a="http://schemas.openxmlformats.org/drawingml/2006/main">
              <a:ext uri="{FF2B5EF4-FFF2-40B4-BE49-F238E27FC236}">
                <a16:creationId xmlns:a16="http://schemas.microsoft.com/office/drawing/2014/main" id="{2B00ABC6-BD0B-441C-B30D-DF9D168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05250"/>
            <a:ext cx="3514725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7" name="图片 5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0b1abefa14bee">
            <a:extLst>
              <a:ext uri="{96DAC541-7B7A-43D3-8B79-37D633B846F1}">
                <asvg:svgBlip xmlns:asvg="http://schemas.microsoft.com/office/drawing/2016/SVG/main" r:embed="R9748c14bb22a40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4048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36" name="文本框 535">
            <a:extLst xmlns:a="http://schemas.openxmlformats.org/drawingml/2006/main">
              <a:ext uri="{FF2B5EF4-FFF2-40B4-BE49-F238E27FC236}">
                <a16:creationId xmlns:a16="http://schemas.microsoft.com/office/drawing/2014/main" id="{56FCE020-6EEA-4131-82CF-F4A29B0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67175"/>
            <a:ext cx="10858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关键场景链路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7" name="文本框 536">
            <a:extLst xmlns:a="http://schemas.openxmlformats.org/drawingml/2006/main">
              <a:ext uri="{FF2B5EF4-FFF2-40B4-BE49-F238E27FC236}">
                <a16:creationId xmlns:a16="http://schemas.microsoft.com/office/drawing/2014/main" id="{E382FF71-CD95-4DB5-89B6-AC0C17CE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3152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选题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文献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实验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分析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写作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投稿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组会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评审</a:t>
            </a:r>
            <a:endParaRPr sz="105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8" name="文本框 537">
            <a:extLst xmlns:a="http://schemas.openxmlformats.org/drawingml/2006/main">
              <a:ext uri="{FF2B5EF4-FFF2-40B4-BE49-F238E27FC236}">
                <a16:creationId xmlns:a16="http://schemas.microsoft.com/office/drawing/2014/main" id="{CF8B2866-9817-47DC-A58A-BE23715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24425"/>
            <a:ext cx="31527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各环节数据自动沉淀到「我的项目」，形成个人科研资产。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9" name="文本框 538">
            <a:extLst xmlns:a="http://schemas.openxmlformats.org/drawingml/2006/main">
              <a:ext uri="{FF2B5EF4-FFF2-40B4-BE49-F238E27FC236}">
                <a16:creationId xmlns:a16="http://schemas.microsoft.com/office/drawing/2014/main" id="{68078D79-332A-4C8C-BDDD-5322298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364807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画像信息据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PRD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整理，年龄为典型区间估计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0" name="文本框 539">
            <a:extLst xmlns:a="http://schemas.openxmlformats.org/drawingml/2006/main">
              <a:ext uri="{FF2B5EF4-FFF2-40B4-BE49-F238E27FC236}">
                <a16:creationId xmlns:a16="http://schemas.microsoft.com/office/drawing/2014/main" id="{CC42C18E-5946-42D4-8F9D-1E3C05CB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08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93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0f46888e24cd9"/>
          <a:srcRect xmlns:a="http://schemas.openxmlformats.org/drawingml/2006/main" l="11239" t="8030" r="12936" b="23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2339340"/>
            <a:ext cx="5817870" cy="2889885"/>
          </a:xfrm>
          <a:prstGeom xmlns:a="http://schemas.openxmlformats.org/drawingml/2006/main" prst="rect">
            <a:avLst/>
          </a:prstGeom>
        </p:spPr>
      </p:pic>
      <p:sp>
        <p:nvSpPr>
          <p:cNvPr id="548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92E985BA-2725-4C76-B5CE-DA4269D0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549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690B4896-2D8F-4777-A414-F058615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5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7ba92cff0430a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5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e2f75c5e24a55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4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2" name="矩形 541">
            <a:extLst xmlns:a="http://schemas.openxmlformats.org/drawingml/2006/main">
              <a:ext uri="{FF2B5EF4-FFF2-40B4-BE49-F238E27FC236}">
                <a16:creationId xmlns:a16="http://schemas.microsoft.com/office/drawing/2014/main" id="{98863915-4CB0-48A4-83BD-BE69F46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3" name="文本框 542">
            <a:extLst xmlns:a="http://schemas.openxmlformats.org/drawingml/2006/main">
              <a:ext uri="{FF2B5EF4-FFF2-40B4-BE49-F238E27FC236}">
                <a16:creationId xmlns:a16="http://schemas.microsoft.com/office/drawing/2014/main" id="{7B3B7F4B-CEE4-47D8-A169-7B244D55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4" name="文本框 543">
            <a:extLst xmlns:a="http://schemas.openxmlformats.org/drawingml/2006/main">
              <a:ext uri="{FF2B5EF4-FFF2-40B4-BE49-F238E27FC236}">
                <a16:creationId xmlns:a16="http://schemas.microsoft.com/office/drawing/2014/main" id="{D8BBE9C1-6945-4B58-A954-3B6FC83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核心及特色功能：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1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个中枢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+ 6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大工具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+ 2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项特色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5" name="圆角矩形 544">
            <a:extLst xmlns:a="http://schemas.openxmlformats.org/drawingml/2006/main">
              <a:ext uri="{FF2B5EF4-FFF2-40B4-BE49-F238E27FC236}">
                <a16:creationId xmlns:a16="http://schemas.microsoft.com/office/drawing/2014/main" id="{A8D01EEC-AF81-4BDA-898F-F19A08E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6" name="圆角矩形 545">
            <a:extLst xmlns:a="http://schemas.openxmlformats.org/drawingml/2006/main">
              <a:ext uri="{FF2B5EF4-FFF2-40B4-BE49-F238E27FC236}">
                <a16:creationId xmlns:a16="http://schemas.microsoft.com/office/drawing/2014/main" id="{A9AC4D67-5085-4F03-9EE6-34A2F0A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7" name="图片 5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64850728a42ab">
            <a:extLst>
              <a:ext uri="{96DAC541-7B7A-43D3-8B79-37D633B846F1}">
                <asvg:svgBlip xmlns:asvg="http://schemas.microsoft.com/office/drawing/2016/SVG/main" r:embed="Rc2f2e36d6a2044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6668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48" name="文本框 547">
            <a:extLst xmlns:a="http://schemas.openxmlformats.org/drawingml/2006/main">
              <a:ext uri="{FF2B5EF4-FFF2-40B4-BE49-F238E27FC236}">
                <a16:creationId xmlns:a16="http://schemas.microsoft.com/office/drawing/2014/main" id="{0645EF8E-4F9D-4F15-A55E-5B601FD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85925"/>
            <a:ext cx="18669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对话工作台（中枢）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9" name="文本框 548">
            <a:extLst xmlns:a="http://schemas.openxmlformats.org/drawingml/2006/main">
              <a:ext uri="{FF2B5EF4-FFF2-40B4-BE49-F238E27FC236}">
                <a16:creationId xmlns:a16="http://schemas.microsoft.com/office/drawing/2014/main" id="{DDD5A9BB-DB20-4F8A-A571-BAFA2534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44672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流式输出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Markdown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公式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表格渲染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多模型切换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Skills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技能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语音输入</a:t>
            </a:r>
            <a:endParaRPr sz="105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0" name="圆角矩形 549">
            <a:extLst xmlns:a="http://schemas.openxmlformats.org/drawingml/2006/main">
              <a:ext uri="{FF2B5EF4-FFF2-40B4-BE49-F238E27FC236}">
                <a16:creationId xmlns:a16="http://schemas.microsoft.com/office/drawing/2014/main" id="{6D1E05F9-6BE6-4620-8191-9AEF8F1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2295525" cy="191452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1" name="文本框 550">
            <a:extLst xmlns:a="http://schemas.openxmlformats.org/drawingml/2006/main">
              <a:ext uri="{FF2B5EF4-FFF2-40B4-BE49-F238E27FC236}">
                <a16:creationId xmlns:a16="http://schemas.microsoft.com/office/drawing/2014/main" id="{12526CDA-A472-4572-B840-99BBCA5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选题灵感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2" name="文本框 551">
            <a:extLst xmlns:a="http://schemas.openxmlformats.org/drawingml/2006/main">
              <a:ext uri="{FF2B5EF4-FFF2-40B4-BE49-F238E27FC236}">
                <a16:creationId xmlns:a16="http://schemas.microsoft.com/office/drawing/2014/main" id="{C95AFFF8-0CF9-4661-B332-AC64830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907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多源检索 · 选题推荐 · 可行性评估 · 开题报告（演示流程）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3" name="圆角矩形 552">
            <a:extLst xmlns:a="http://schemas.openxmlformats.org/drawingml/2006/main">
              <a:ext uri="{FF2B5EF4-FFF2-40B4-BE49-F238E27FC236}">
                <a16:creationId xmlns:a16="http://schemas.microsoft.com/office/drawing/2014/main" id="{300FEB34-91B3-4A15-B525-7228C6E5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19325"/>
            <a:ext cx="2305050" cy="191452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4" name="文本框 553">
            <a:extLst xmlns:a="http://schemas.openxmlformats.org/drawingml/2006/main">
              <a:ext uri="{FF2B5EF4-FFF2-40B4-BE49-F238E27FC236}">
                <a16:creationId xmlns:a16="http://schemas.microsoft.com/office/drawing/2014/main" id="{14321BDB-15A0-4431-958D-9BFDB7F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14650"/>
            <a:ext cx="20002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文献阅读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5" name="文本框 554">
            <a:extLst xmlns:a="http://schemas.openxmlformats.org/drawingml/2006/main">
              <a:ext uri="{FF2B5EF4-FFF2-40B4-BE49-F238E27FC236}">
                <a16:creationId xmlns:a16="http://schemas.microsoft.com/office/drawing/2014/main" id="{2A9C7C41-FD05-4D04-B46A-2C8B1836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1432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三栏阅读器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翻译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七段总结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引用图谱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6" name="圆角矩形 555">
            <a:extLst xmlns:a="http://schemas.openxmlformats.org/drawingml/2006/main">
              <a:ext uri="{FF2B5EF4-FFF2-40B4-BE49-F238E27FC236}">
                <a16:creationId xmlns:a16="http://schemas.microsoft.com/office/drawing/2014/main" id="{20BB2C3F-E6FC-4381-B315-BA9B291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19325"/>
            <a:ext cx="2295525" cy="191452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7" name="文本框 556">
            <a:extLst xmlns:a="http://schemas.openxmlformats.org/drawingml/2006/main">
              <a:ext uri="{FF2B5EF4-FFF2-40B4-BE49-F238E27FC236}">
                <a16:creationId xmlns:a16="http://schemas.microsoft.com/office/drawing/2014/main" id="{E06DB5E1-1FFE-4B0B-990E-3814853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146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实验设计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8" name="文本框 557">
            <a:extLst xmlns:a="http://schemas.openxmlformats.org/drawingml/2006/main">
              <a:ext uri="{FF2B5EF4-FFF2-40B4-BE49-F238E27FC236}">
                <a16:creationId xmlns:a16="http://schemas.microsoft.com/office/drawing/2014/main" id="{6EA12253-2400-43AC-907D-4FC70D5B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19907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参数看板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GPU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可视化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消融方案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SOTA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对标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9" name="圆角矩形 558">
            <a:extLst xmlns:a="http://schemas.openxmlformats.org/drawingml/2006/main">
              <a:ext uri="{FF2B5EF4-FFF2-40B4-BE49-F238E27FC236}">
                <a16:creationId xmlns:a16="http://schemas.microsoft.com/office/drawing/2014/main" id="{88AAF872-10D6-4A0D-B721-D2632D7E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29552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0" name="文本框 559">
            <a:extLst xmlns:a="http://schemas.openxmlformats.org/drawingml/2006/main">
              <a:ext uri="{FF2B5EF4-FFF2-40B4-BE49-F238E27FC236}">
                <a16:creationId xmlns:a16="http://schemas.microsoft.com/office/drawing/2014/main" id="{C025CC0F-0AED-48DA-AF58-B88EE34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数据分析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1" name="文本框 560">
            <a:extLst xmlns:a="http://schemas.openxmlformats.org/drawingml/2006/main">
              <a:ext uri="{FF2B5EF4-FFF2-40B4-BE49-F238E27FC236}">
                <a16:creationId xmlns:a16="http://schemas.microsoft.com/office/drawing/2014/main" id="{3C98D81C-577C-49F2-874B-86B0D7B5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9907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科研图表生成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示例库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AI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解读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数据建议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2" name="圆角矩形 561">
            <a:extLst xmlns:a="http://schemas.openxmlformats.org/drawingml/2006/main">
              <a:ext uri="{FF2B5EF4-FFF2-40B4-BE49-F238E27FC236}">
                <a16:creationId xmlns:a16="http://schemas.microsoft.com/office/drawing/2014/main" id="{A5A11947-C3FC-4F7C-8985-485F3758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48150"/>
            <a:ext cx="2305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3" name="文本框 562">
            <a:extLst xmlns:a="http://schemas.openxmlformats.org/drawingml/2006/main">
              <a:ext uri="{FF2B5EF4-FFF2-40B4-BE49-F238E27FC236}">
                <a16:creationId xmlns:a16="http://schemas.microsoft.com/office/drawing/2014/main" id="{E9C012FF-C1E0-4CF2-8915-2CC85AD2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933950"/>
            <a:ext cx="20002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⑤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论文写作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4" name="文本框 563">
            <a:extLst xmlns:a="http://schemas.openxmlformats.org/drawingml/2006/main">
              <a:ext uri="{FF2B5EF4-FFF2-40B4-BE49-F238E27FC236}">
                <a16:creationId xmlns:a16="http://schemas.microsoft.com/office/drawing/2014/main" id="{C0254482-861E-47BD-AE43-5D906210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1625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中英互译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学术润色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AI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查重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AI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降重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5" name="圆角矩形 564">
            <a:extLst xmlns:a="http://schemas.openxmlformats.org/drawingml/2006/main">
              <a:ext uri="{FF2B5EF4-FFF2-40B4-BE49-F238E27FC236}">
                <a16:creationId xmlns:a16="http://schemas.microsoft.com/office/drawing/2014/main" id="{1F7C186B-C935-4B1A-86FB-EADAF5EF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248150"/>
            <a:ext cx="229552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6" name="文本框 565">
            <a:extLst xmlns:a="http://schemas.openxmlformats.org/drawingml/2006/main">
              <a:ext uri="{FF2B5EF4-FFF2-40B4-BE49-F238E27FC236}">
                <a16:creationId xmlns:a16="http://schemas.microsoft.com/office/drawing/2014/main" id="{CE9C1EF0-C527-460A-A4B3-6EF62F9A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33950"/>
            <a:ext cx="19907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⑥ </a:t>
            </a: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投稿助手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7" name="文本框 566">
            <a:extLst xmlns:a="http://schemas.openxmlformats.org/drawingml/2006/main">
              <a:ext uri="{FF2B5EF4-FFF2-40B4-BE49-F238E27FC236}">
                <a16:creationId xmlns:a16="http://schemas.microsoft.com/office/drawing/2014/main" id="{7F633DA4-0834-4310-84F0-68A7645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2550"/>
            <a:ext cx="19907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CCF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期刊大全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投稿倒计时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期刊匹配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8" name="文本框 567">
            <a:extLst xmlns:a="http://schemas.openxmlformats.org/drawingml/2006/main">
              <a:ext uri="{FF2B5EF4-FFF2-40B4-BE49-F238E27FC236}">
                <a16:creationId xmlns:a16="http://schemas.microsoft.com/office/drawing/2014/main" id="{98BA7299-F363-4889-9697-38675BB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19325"/>
            <a:ext cx="35623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特色功能</a:t>
            </a:r>
            <a:endParaRPr sz="1050" spc="15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9" name="圆角矩形 568">
            <a:extLst xmlns:a="http://schemas.openxmlformats.org/drawingml/2006/main">
              <a:ext uri="{FF2B5EF4-FFF2-40B4-BE49-F238E27FC236}">
                <a16:creationId xmlns:a16="http://schemas.microsoft.com/office/drawing/2014/main" id="{1716E0A4-0016-4022-862B-EF24FC6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35623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0" name="图片 5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3d5dfa1e640f9">
            <a:extLst>
              <a:ext uri="{96DAC541-7B7A-43D3-8B79-37D633B846F1}">
                <asvg:svgBlip xmlns:asvg="http://schemas.microsoft.com/office/drawing/2016/SVG/main" r:embed="R73ee6dd1229043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5775" y="2743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71" name="文本框 570">
            <a:extLst xmlns:a="http://schemas.openxmlformats.org/drawingml/2006/main">
              <a:ext uri="{FF2B5EF4-FFF2-40B4-BE49-F238E27FC236}">
                <a16:creationId xmlns:a16="http://schemas.microsoft.com/office/drawing/2014/main" id="{063517F8-C6F9-4888-A57D-9752F871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33675"/>
            <a:ext cx="647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组会汇报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2" name="文本框 571">
            <a:extLst xmlns:a="http://schemas.openxmlformats.org/drawingml/2006/main">
              <a:ext uri="{FF2B5EF4-FFF2-40B4-BE49-F238E27FC236}">
                <a16:creationId xmlns:a16="http://schemas.microsoft.com/office/drawing/2014/main" id="{3B76228A-AAAC-454C-8867-2F79600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一键生成组会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PPT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；导师建议语音转写、结构化归档，组会准备目标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↓70%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3" name="圆角矩形 572">
            <a:extLst xmlns:a="http://schemas.openxmlformats.org/drawingml/2006/main">
              <a:ext uri="{FF2B5EF4-FFF2-40B4-BE49-F238E27FC236}">
                <a16:creationId xmlns:a16="http://schemas.microsoft.com/office/drawing/2014/main" id="{1B06F6EE-F86E-4605-9226-614662D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35623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4" name="图片 5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c764d1d9942f6">
            <a:extLst>
              <a:ext uri="{96DAC541-7B7A-43D3-8B79-37D633B846F1}">
                <asvg:svgBlip xmlns:asvg="http://schemas.microsoft.com/office/drawing/2016/SVG/main" r:embed="R3d42c3bedc7945f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5775" y="4000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75" name="文本框 574">
            <a:extLst xmlns:a="http://schemas.openxmlformats.org/drawingml/2006/main">
              <a:ext uri="{FF2B5EF4-FFF2-40B4-BE49-F238E27FC236}">
                <a16:creationId xmlns:a16="http://schemas.microsoft.com/office/drawing/2014/main" id="{9DC8F660-A68F-4509-8886-325E5EB5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90975"/>
            <a:ext cx="145732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多智能体专家评审团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6" name="文本框 575">
            <a:extLst xmlns:a="http://schemas.openxmlformats.org/drawingml/2006/main">
              <a:ext uri="{FF2B5EF4-FFF2-40B4-BE49-F238E27FC236}">
                <a16:creationId xmlns:a16="http://schemas.microsoft.com/office/drawing/2014/main" id="{4D43B717-8936-463E-A593-D7CF9A7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2910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3712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按理论 / 方法 / 实验 / 写作 / 伦理角色组织评审流程；当前为进程内模拟，真实多 Agent 并行调用在路线图。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7" name="圆角矩形 576">
            <a:extLst xmlns:a="http://schemas.openxmlformats.org/drawingml/2006/main">
              <a:ext uri="{FF2B5EF4-FFF2-40B4-BE49-F238E27FC236}">
                <a16:creationId xmlns:a16="http://schemas.microsoft.com/office/drawing/2014/main" id="{F6E8A63D-2404-4051-A0AC-A942BFE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10150"/>
            <a:ext cx="35623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8" name="图片 5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979dd165248e9">
            <a:extLst>
              <a:ext uri="{96DAC541-7B7A-43D3-8B79-37D633B846F1}">
                <asvg:svgBlip xmlns:asvg="http://schemas.microsoft.com/office/drawing/2016/SVG/main" r:embed="R668d5aa4d9044e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5775" y="52578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79" name="文本框 578">
            <a:extLst xmlns:a="http://schemas.openxmlformats.org/drawingml/2006/main">
              <a:ext uri="{FF2B5EF4-FFF2-40B4-BE49-F238E27FC236}">
                <a16:creationId xmlns:a16="http://schemas.microsoft.com/office/drawing/2014/main" id="{46AD64AD-DCF2-4B14-ADFA-C36F8BC7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48275"/>
            <a:ext cx="1295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我的项目（沉淀）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0" name="文本框 579">
            <a:extLst xmlns:a="http://schemas.openxmlformats.org/drawingml/2006/main">
              <a:ext uri="{FF2B5EF4-FFF2-40B4-BE49-F238E27FC236}">
                <a16:creationId xmlns:a16="http://schemas.microsoft.com/office/drawing/2014/main" id="{FE5481A6-6BE1-4140-9205-B5F6594E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8640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项目空间 + 文本知识库，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全流程产出回流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，可检索、可复用；向量 RAG 为后续升级方向。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1" name="文本框 580">
            <a:extLst xmlns:a="http://schemas.openxmlformats.org/drawingml/2006/main">
              <a:ext uri="{FF2B5EF4-FFF2-40B4-BE49-F238E27FC236}">
                <a16:creationId xmlns:a16="http://schemas.microsoft.com/office/drawing/2014/main" id="{5848E9C0-90B2-48D0-BA82-04134A7C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38957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功能清单取自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PRD v1.0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核心功能与特色功能章节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2" name="文本框 581">
            <a:extLst xmlns:a="http://schemas.openxmlformats.org/drawingml/2006/main">
              <a:ext uri="{FF2B5EF4-FFF2-40B4-BE49-F238E27FC236}">
                <a16:creationId xmlns:a16="http://schemas.microsoft.com/office/drawing/2014/main" id="{4A627A61-6907-464C-823B-068B280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09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33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389128ef4178"/>
          <a:srcRect xmlns:a="http://schemas.openxmlformats.org/drawingml/2006/main" l="0" t="0" r="86169" b="8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0675" y="643255"/>
            <a:ext cx="937260" cy="3547745"/>
          </a:xfrm>
          <a:prstGeom xmlns:a="http://schemas.openxmlformats.org/drawingml/2006/main" prst="rect">
            <a:avLst/>
          </a:prstGeom>
        </p:spPr>
      </p:pic>
      <p:sp>
        <p:nvSpPr>
          <p:cNvPr id="588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A5D87859-1AE3-4802-ABF7-854FF49F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589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C81853FE-EC51-42DD-8C70-2F5BD44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6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daa3ec55143bc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6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a9c67e8eb44ac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793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5A4DA64-2790-4D45-9E99-15B621CE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DC2D5BE-C17A-40B7-A923-0366BB4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02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团队及产品介绍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A341BD2-DE65-4766-91D7-E72BAAA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竞品调研：以「全流程闭环」建立差异化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9A472C26-BFF0-4DBF-811E-CAC6D55E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40" name="表格 22"/>
          <p:cNvGraphicFramePr/>
          <p:nvPr/>
        </p:nvGraphicFramePr>
        <p:xfrm>
          <a:off xmlns:a="http://schemas.openxmlformats.org/drawingml/2006/main" x="685800" y="1495425"/>
          <a:ext xmlns:a="http://schemas.openxmlformats.org/drawingml/2006/main" cx="10820400" cy="339090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2436"/>
                <a:gridCol w="1252753"/>
                <a:gridCol w="2099902"/>
                <a:gridCol w="2330943"/>
                <a:gridCol w="2844366"/>
              </a:tblGrid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竞品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ScienceX 差异化</a:t>
                      </a:r>
                      <a:endParaRPr sz="10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90E2"/>
                    </a:solidFill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SciSpace (Typeset)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文献阅读/写作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阅读体验好、翻译强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工具分散、缺实验/投稿闭环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全流程闭环 + 实验与投稿模块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Elicit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文献综述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结构化抽取、综述生成强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仅覆盖文献环节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从文献延伸到实验/写作/投递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Zotero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文献管理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开源、插件生态强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AI 分析能力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原生 + 引用图谱 + RAG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Overleaf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论文协作写作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LaTeX 协作成熟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AI 创作、无检索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写作 + 全流程数据打通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讯飞星火 / Paperpal / Jenni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写作润色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润色降重能力强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只管写作单点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写作与选题/实验/投稿联动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ChatGPT / Claude / Kimi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通用大模型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通用能力强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无科研工作流、无专业工具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专业科研工作流 + 可接入任意模型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2842"/>
                    </a:solidFill>
                  </a:tcPr>
                </a:tc>
              </a:tr>
              <a:tr h="423863"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NotebookLM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文档问答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来源可溯源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无科研专用功能</a:t>
                      </a:r>
                      <a:endParaRPr sz="105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sz="1050" b="1">
                          <a:solidFill>
                            <a:srgbClr val="5FA3E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科研场景深度定制 + 团队协作</a:t>
                      </a:r>
                      <a:endParaRPr sz="1050" b="1">
                        <a:solidFill>
                          <a:srgbClr val="5FA3E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6054F31-AED3-4AD0-9210-B6DF1F05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1967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A78B2BB4-5010-46AE-B3E4-BEBC4C1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19675"/>
            <a:ext cx="10820400" cy="666750"/>
          </a:xfrm>
          <a:custGeom xmlns:a="http://schemas.openxmlformats.org/drawingml/2006/main">
            <a:pathLst>
              <a:path w="1136" h="70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63"/>
                </a:lnTo>
                <a:cubicBezTo>
                  <a:pt x="5" y="66"/>
                  <a:pt x="7" y="69"/>
                  <a:pt x="10" y="70"/>
                </a:cubicBezTo>
                <a:cubicBezTo>
                  <a:pt x="4" y="69"/>
                  <a:pt x="0" y="64"/>
                  <a:pt x="0" y="5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 xmlns:a="http://schemas.openxmlformats.org/drawingml/2006/main">
            <a:srgbClr val="4A90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e4eaa74b41f1">
            <a:extLst>
              <a:ext uri="{96DAC541-7B7A-43D3-8B79-37D633B846F1}">
                <asvg:svgBlip xmlns:asvg="http://schemas.microsoft.com/office/drawing/2016/SVG/main" r:embed="R53d8064b581a42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" y="5229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1715EFDC-26A4-496F-94B6-A3053FDF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19700"/>
            <a:ext cx="10010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竞品结论：通用大模型有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「脑」无「手」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，垂直工具有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「手」无「脑」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——ScienceX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以专业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对话为中枢，把科研工具全部智能体化、流程化。</a:t>
            </a:r>
            <a:endParaRPr sz="120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EDDA845-80F1-43B0-B44B-07E0B66D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33242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竞品信息取自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PRD v1.0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竞品调研章节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3FB3FBD-EF2C-4650-86D0-78CF50B9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10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AB458EE1-7770-4420-84D6-4569D32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33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849EC86D-E073-4A7F-84A5-68E2250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22a1aa3834f77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4e80c8643449f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71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8841517-0E6E-44C9-BA3E-561A1CBF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23221E32-7D0D-44B3-9C95-04354C6A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LIVE DEMO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现场演示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FBFC93C2-6414-4E3E-AABF-98AFF52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一分钟，看核心链路实录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F6C90A12-043A-481C-B9EE-3FB2145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FB1FC113-61E1-4A44-AA4A-48F609C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27913AE9-552E-4FE0-AF82-881F15FB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22fd90a93494d">
            <a:extLst>
              <a:ext uri="{96DAC541-7B7A-43D3-8B79-37D633B846F1}">
                <asvg:svgBlip xmlns:asvg="http://schemas.microsoft.com/office/drawing/2016/SVG/main" r:embed="R89307083fc9d49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876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694C7D1-9885-4FC0-B94E-1818C15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67125"/>
            <a:ext cx="14668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演示视频占位区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FA8992D-3E5F-459E-B232-D5DBD1A6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438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请在此处插入录屏视频（插入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视频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此设备），建议时长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≤ 60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秒</a:t>
            </a:r>
            <a:endParaRPr sz="1125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0A13230D-CD4B-4F45-A021-E64A9DBA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4850" cy="295275"/>
          </a:xfrm>
          <a:prstGeom xmlns:a="http://schemas.openxmlformats.org/drawingml/2006/main" prst="roundRect">
            <a:avLst>
              <a:gd name="adj" fmla="val 5806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FDE5F80-464A-4095-8BA4-F8FCA374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4000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建项目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9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55adb32f843e6">
            <a:extLst>
              <a:ext uri="{96DAC541-7B7A-43D3-8B79-37D633B846F1}">
                <asvg:svgBlip xmlns:asvg="http://schemas.microsoft.com/office/drawing/2016/SVG/main" r:embed="Rdfa1e07849f943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6850" y="57816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593078E-A904-4D1A-B89F-E62682D2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95950"/>
            <a:ext cx="838200" cy="295275"/>
          </a:xfrm>
          <a:prstGeom xmlns:a="http://schemas.openxmlformats.org/drawingml/2006/main" prst="roundRect">
            <a:avLst>
              <a:gd name="adj" fmla="val 5806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6D01DFA-ABAC-43B1-AE87-E3F34ABF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62625"/>
            <a:ext cx="533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选题检索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2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55adb32f843e6">
            <a:extLst>
              <a:ext uri="{96DAC541-7B7A-43D3-8B79-37D633B846F1}">
                <asvg:svgBlip xmlns:asvg="http://schemas.microsoft.com/office/drawing/2016/SVG/main" r:embed="Rdfa1e07849f943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57816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A6E3AD37-37B1-4AF9-97FD-4212B1C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95950"/>
            <a:ext cx="838200" cy="295275"/>
          </a:xfrm>
          <a:prstGeom xmlns:a="http://schemas.openxmlformats.org/drawingml/2006/main" prst="roundRect">
            <a:avLst>
              <a:gd name="adj" fmla="val 5806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FC564188-4568-491C-AF04-A226404C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62625"/>
            <a:ext cx="533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三栏精读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5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55adb32f843e6">
            <a:extLst>
              <a:ext uri="{96DAC541-7B7A-43D3-8B79-37D633B846F1}">
                <asvg:svgBlip xmlns:asvg="http://schemas.microsoft.com/office/drawing/2016/SVG/main" r:embed="Rdfa1e07849f943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57816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440659C-4C1D-47AC-AB1D-4679437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95950"/>
            <a:ext cx="838200" cy="295275"/>
          </a:xfrm>
          <a:prstGeom xmlns:a="http://schemas.openxmlformats.org/drawingml/2006/main" prst="roundRect">
            <a:avLst>
              <a:gd name="adj" fmla="val 5806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DB942D3B-0713-4E73-BFB3-5873D314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762625"/>
            <a:ext cx="533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图表生成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8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55adb32f843e6">
            <a:extLst>
              <a:ext uri="{96DAC541-7B7A-43D3-8B79-37D633B846F1}">
                <asvg:svgBlip xmlns:asvg="http://schemas.microsoft.com/office/drawing/2016/SVG/main" r:embed="Rdfa1e07849f943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8700" y="5781675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07DD021-A117-41EB-97FB-9533A6EB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95950"/>
            <a:ext cx="838200" cy="295275"/>
          </a:xfrm>
          <a:prstGeom xmlns:a="http://schemas.openxmlformats.org/drawingml/2006/main" prst="roundRect">
            <a:avLst>
              <a:gd name="adj" fmla="val 5806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50B6DA8B-1C5B-4C40-866E-9D9010C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762625"/>
            <a:ext cx="533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专家评审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F227DF9A-7817-49FF-B23E-F39DB526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5310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一句话驱动，全流程数据自动沉淀至「我的项目」</a:t>
            </a:r>
            <a:endParaRPr sz="112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962607C2-2780-4743-AFA5-C9D07D0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30492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674D7D1A-CF4F-4486-927C-322D114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296025"/>
            <a:ext cx="3714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11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90991C25-91F8-44EB-8CE7-C906425A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81375"/>
            <a:ext cx="885825" cy="26670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12700">
            <a:solidFill>
              <a:srgbClr val="5B9B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50416A20-F5AC-44A1-8A14-741703B1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6191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REC · 16:9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C3C0248A-9FE7-48B1-8973-A932C3F3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65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A4B58C75-E0C6-4C7A-BE98-AC9B1431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59c25b91a4ccc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a81f6afc74c14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93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0564AFD2-08FF-45BB-8E6B-EEDBA2F3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BE242B4B-57F6-4A5D-91A2-A2DA0F6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499110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9500" b="1">
              <a:solidFill>
                <a:srgbClr val="163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1FC35EC9-A337-482D-AB0C-14E58458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609600" cy="47625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文本框 62">
            <a:extLst xmlns:a="http://schemas.openxmlformats.org/drawingml/2006/main">
              <a:ext uri="{FF2B5EF4-FFF2-40B4-BE49-F238E27FC236}">
                <a16:creationId xmlns:a16="http://schemas.microsoft.com/office/drawing/2014/main" id="{AE6F6263-55BC-494A-9DE6-49D4B3D1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99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技术解析及亮点</a:t>
            </a:r>
            <a:endParaRPr sz="4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文本框 63">
            <a:extLst xmlns:a="http://schemas.openxmlformats.org/drawingml/2006/main">
              <a:ext uri="{FF2B5EF4-FFF2-40B4-BE49-F238E27FC236}">
                <a16:creationId xmlns:a16="http://schemas.microsoft.com/office/drawing/2014/main" id="{FD906118-B528-4C48-ABC8-1FAAD46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9911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TECHNOLOGY</a:t>
            </a:r>
            <a:endParaRPr sz="1275" spc="30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3" name="图片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62d469fb340b9">
            <a:extLst>
              <a:ext uri="{96DAC541-7B7A-43D3-8B79-37D633B846F1}">
                <asvg:svgBlip xmlns:asvg="http://schemas.microsoft.com/office/drawing/2016/SVG/main" r:embed="R37ba01d5f0f845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2383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6" name="文本框 65">
            <a:extLst xmlns:a="http://schemas.openxmlformats.org/drawingml/2006/main">
              <a:ext uri="{FF2B5EF4-FFF2-40B4-BE49-F238E27FC236}">
                <a16:creationId xmlns:a16="http://schemas.microsoft.com/office/drawing/2014/main" id="{9B60E31E-2C1B-4704-8C82-F54096E8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40671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六层技术架构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文本框 66">
            <a:extLst xmlns:a="http://schemas.openxmlformats.org/drawingml/2006/main">
              <a:ext uri="{FF2B5EF4-FFF2-40B4-BE49-F238E27FC236}">
                <a16:creationId xmlns:a16="http://schemas.microsoft.com/office/drawing/2014/main" id="{598C3A2C-E0FF-41EF-8713-54431C73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406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前端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接入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AI/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基础设施，前后端分离。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6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557f6095e4aec">
            <a:extLst>
              <a:ext uri="{96DAC541-7B7A-43D3-8B79-37D633B846F1}">
                <asvg:svgBlip xmlns:asvg="http://schemas.microsoft.com/office/drawing/2016/SVG/main" r:embed="R0053ae361eff4b0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143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9" name="文本框 68">
            <a:extLst xmlns:a="http://schemas.openxmlformats.org/drawingml/2006/main">
              <a:ext uri="{FF2B5EF4-FFF2-40B4-BE49-F238E27FC236}">
                <a16:creationId xmlns:a16="http://schemas.microsoft.com/office/drawing/2014/main" id="{EE4F8601-BE43-402F-AE14-054020E0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3429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后端服务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文本框 69">
            <a:extLst xmlns:a="http://schemas.openxmlformats.org/drawingml/2006/main">
              <a:ext uri="{FF2B5EF4-FFF2-40B4-BE49-F238E27FC236}">
                <a16:creationId xmlns:a16="http://schemas.microsoft.com/office/drawing/2014/main" id="{5054EC65-7A78-42FA-81A2-2749EE97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34290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规范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统一响应结构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可溯源数据模型。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99" name="图片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82dd839214c27">
            <a:extLst>
              <a:ext uri="{96DAC541-7B7A-43D3-8B79-37D633B846F1}">
                <asvg:svgBlip xmlns:asvg="http://schemas.microsoft.com/office/drawing/2016/SVG/main" r:embed="Rb57429b3b3cd4f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4048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2" name="文本框 71">
            <a:extLst xmlns:a="http://schemas.openxmlformats.org/drawingml/2006/main">
              <a:ext uri="{FF2B5EF4-FFF2-40B4-BE49-F238E27FC236}">
                <a16:creationId xmlns:a16="http://schemas.microsoft.com/office/drawing/2014/main" id="{F5764431-31E5-45F9-B888-D710C35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33718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能力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文本框 72">
            <a:extLst xmlns:a="http://schemas.openxmlformats.org/drawingml/2006/main">
              <a:ext uri="{FF2B5EF4-FFF2-40B4-BE49-F238E27FC236}">
                <a16:creationId xmlns:a16="http://schemas.microsoft.com/office/drawing/2014/main" id="{20A2F792-3B20-41C5-B376-71A5E2B0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52925"/>
            <a:ext cx="33718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多模型接入 · 可溯源关键词检索 · Agent 编排工作流。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2" name="图片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c76c4fbec4995">
            <a:extLst>
              <a:ext uri="{96DAC541-7B7A-43D3-8B79-37D633B846F1}">
                <asvg:svgBlip xmlns:asvg="http://schemas.microsoft.com/office/drawing/2016/SVG/main" r:embed="R3a33e58d7b1f40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5" name="圆角矩形 74">
            <a:extLst xmlns:a="http://schemas.openxmlformats.org/drawingml/2006/main">
              <a:ext uri="{FF2B5EF4-FFF2-40B4-BE49-F238E27FC236}">
                <a16:creationId xmlns:a16="http://schemas.microsoft.com/office/drawing/2014/main" id="{E7A4FF10-0A70-430F-B7F6-F6176B2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3DAE6E0A-7DFE-4DB8-B198-7873E701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圆角矩形 76">
            <a:extLst xmlns:a="http://schemas.openxmlformats.org/drawingml/2006/main">
              <a:ext uri="{FF2B5EF4-FFF2-40B4-BE49-F238E27FC236}">
                <a16:creationId xmlns:a16="http://schemas.microsoft.com/office/drawing/2014/main" id="{F5B55225-615B-4992-81B3-59DB7B47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文本框 77">
            <a:extLst xmlns:a="http://schemas.openxmlformats.org/drawingml/2006/main">
              <a:ext uri="{FF2B5EF4-FFF2-40B4-BE49-F238E27FC236}">
                <a16:creationId xmlns:a16="http://schemas.microsoft.com/office/drawing/2014/main" id="{23F150DB-84F7-48BF-B425-785E0B89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12 / 19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EB07D92B-4B55-4E09-84E6-B52C5F5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6BC71D87-8E86-4802-8616-97144276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85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C1FD5F6E-4069-4003-8A18-24B112E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8fbf344144084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6305fd874efb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41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2EC5243-A4B5-4F17-8E12-667C0DBA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2" name="文本框 81">
            <a:extLst xmlns:a="http://schemas.openxmlformats.org/drawingml/2006/main">
              <a:ext uri="{FF2B5EF4-FFF2-40B4-BE49-F238E27FC236}">
                <a16:creationId xmlns:a16="http://schemas.microsoft.com/office/drawing/2014/main" id="{085AB48E-DFE2-4C04-AF38-14288A25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03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技术解析及亮点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34136CC6-5575-455C-B49A-EF8A4CDA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技术架构：六层分层设计，前后端分离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1588D47A-7AB4-4351-A3D8-11F5B98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10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2cd398cfe4157">
            <a:extLst>
              <a:ext uri="{96DAC541-7B7A-43D3-8B79-37D633B846F1}">
                <asvg:svgBlip xmlns:asvg="http://schemas.microsoft.com/office/drawing/2016/SVG/main" r:embed="R94130c3b71894d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14475"/>
            <a:ext cx="7096125" cy="4762500"/>
          </a:xfrm>
          <a:prstGeom xmlns:a="http://schemas.openxmlformats.org/drawingml/2006/main" prst="rect">
            <a:avLst/>
          </a:prstGeom>
        </p:spPr>
      </p:pic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38764202-23EA-4727-B5E4-07F716D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47875"/>
            <a:ext cx="34956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关键技术决策</a:t>
            </a:r>
            <a:endParaRPr sz="1050" spc="15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02AC365B-88BB-4947-AD1B-47CAE35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24100"/>
            <a:ext cx="3495675" cy="942975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04F56D1A-68C8-453F-AF45-BA9AF9B0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3152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前后端分离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2FBBD83D-FA50-4C30-92A8-EB8B199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86050"/>
            <a:ext cx="31527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React/TypeScript 前端与 Express REST/SSE 接口解耦，支持独立迭代。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圆角矩形 89">
            <a:extLst xmlns:a="http://schemas.openxmlformats.org/drawingml/2006/main">
              <a:ext uri="{FF2B5EF4-FFF2-40B4-BE49-F238E27FC236}">
                <a16:creationId xmlns:a16="http://schemas.microsoft.com/office/drawing/2014/main" id="{1244ECB5-D9C9-415C-9745-41132034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81375"/>
            <a:ext cx="34956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文本框 90">
            <a:extLst xmlns:a="http://schemas.openxmlformats.org/drawingml/2006/main">
              <a:ext uri="{FF2B5EF4-FFF2-40B4-BE49-F238E27FC236}">
                <a16:creationId xmlns:a16="http://schemas.microsoft.com/office/drawing/2014/main" id="{3E4DD5C2-3C22-4CBE-9C8B-0505B90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05200"/>
            <a:ext cx="3152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后端实现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2" name="文本框 91">
            <a:extLst xmlns:a="http://schemas.openxmlformats.org/drawingml/2006/main">
              <a:ext uri="{FF2B5EF4-FFF2-40B4-BE49-F238E27FC236}">
                <a16:creationId xmlns:a16="http://schemas.microsoft.com/office/drawing/2014/main" id="{ECB26DA8-73F6-44ED-BCDA-80B66670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743325"/>
            <a:ext cx="3152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Node.js + Express 提供统一 API；AI 网关支持 OpenAI-compatible 接入。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圆角矩形 92">
            <a:extLst xmlns:a="http://schemas.openxmlformats.org/drawingml/2006/main">
              <a:ext uri="{FF2B5EF4-FFF2-40B4-BE49-F238E27FC236}">
                <a16:creationId xmlns:a16="http://schemas.microsoft.com/office/drawing/2014/main" id="{EDD12109-DB2C-42BB-92F4-07CF42D7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10050"/>
            <a:ext cx="34956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" name="文本框 93">
            <a:extLst xmlns:a="http://schemas.openxmlformats.org/drawingml/2006/main">
              <a:ext uri="{FF2B5EF4-FFF2-40B4-BE49-F238E27FC236}">
                <a16:creationId xmlns:a16="http://schemas.microsoft.com/office/drawing/2014/main" id="{E9A84B2A-6F37-4B10-AA71-D6FBE32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33875"/>
            <a:ext cx="3152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模型接入开放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5" name="文本框 94">
            <a:extLst xmlns:a="http://schemas.openxmlformats.org/drawingml/2006/main">
              <a:ext uri="{FF2B5EF4-FFF2-40B4-BE49-F238E27FC236}">
                <a16:creationId xmlns:a16="http://schemas.microsoft.com/office/drawing/2014/main" id="{EF9E6B9E-EA0C-4FE9-9359-EB1D4E42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72000"/>
            <a:ext cx="3152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OpenAI-compatible 网关，可配置 BaseURL / Key；未配置密钥时使用模板回退。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957D9A57-26DA-445B-9FAC-6F38C62F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038725"/>
            <a:ext cx="34956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7" name="文本框 96">
            <a:extLst xmlns:a="http://schemas.openxmlformats.org/drawingml/2006/main">
              <a:ext uri="{FF2B5EF4-FFF2-40B4-BE49-F238E27FC236}">
                <a16:creationId xmlns:a16="http://schemas.microsoft.com/office/drawing/2014/main" id="{9F81D71E-31DD-4A74-9703-69DCD5C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62550"/>
            <a:ext cx="31527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生态可扩展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8" name="文本框 97">
            <a:extLst xmlns:a="http://schemas.openxmlformats.org/drawingml/2006/main">
              <a:ext uri="{FF2B5EF4-FFF2-40B4-BE49-F238E27FC236}">
                <a16:creationId xmlns:a16="http://schemas.microsoft.com/office/drawing/2014/main" id="{3C68551C-FDFB-4FC7-97BD-89403A03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400675"/>
            <a:ext cx="31527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Skills + MCP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开放生态，抗单一模型迭代风险。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9" name="文本框 98">
            <a:extLst xmlns:a="http://schemas.openxmlformats.org/drawingml/2006/main">
              <a:ext uri="{FF2B5EF4-FFF2-40B4-BE49-F238E27FC236}">
                <a16:creationId xmlns:a16="http://schemas.microsoft.com/office/drawing/2014/main" id="{7D2A0BE4-D3A4-40BC-B8CA-41F3B72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8577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架构要点：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AI/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模型层独立抽象为可替换层，模型升级不影响业务代码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E3097B36-9324-446B-A2BB-CC17A5AE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1275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13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2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D992DB12-95CE-42D0-99C4-4D9A4A6F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103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DF6099D6-E426-495C-9078-3F0A6F1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4677892a1447b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ae5f4992843c9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52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FB399BB9-2E36-4428-85F4-730602C9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10243A"/>
                </a:solidFill>
              </a:rPr>
              <a:t>+</a:t>
            </a:r>
            <a:endParaRPr/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2C173963-D4D1-4C7A-8D01-1B82F85B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03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技术解析及亮点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BACKEND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CD0A0F0E-D444-4405-9078-06768E50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后端服务：统一规范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统一响应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可溯源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" name="圆角矩形 104">
            <a:extLst xmlns:a="http://schemas.openxmlformats.org/drawingml/2006/main">
              <a:ext uri="{FF2B5EF4-FFF2-40B4-BE49-F238E27FC236}">
                <a16:creationId xmlns:a16="http://schemas.microsoft.com/office/drawing/2014/main" id="{59AD9202-E911-4440-83C3-7877FE6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D0D6C1B6-09A8-4333-B18F-09134A4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60864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</a:t>
            </a: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API </a:t>
            </a: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规范</a:t>
            </a:r>
            <a:endParaRPr sz="1125" b="1" spc="1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A02ED471-31C5-4B66-84EC-C73F554D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文本框 107">
            <a:extLst xmlns:a="http://schemas.openxmlformats.org/drawingml/2006/main">
              <a:ext uri="{FF2B5EF4-FFF2-40B4-BE49-F238E27FC236}">
                <a16:creationId xmlns:a16="http://schemas.microsoft.com/office/drawing/2014/main" id="{86098A19-5266-4EE0-BFEA-D6945591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协议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文本框 108">
            <a:extLst xmlns:a="http://schemas.openxmlformats.org/drawingml/2006/main">
              <a:ext uri="{FF2B5EF4-FFF2-40B4-BE49-F238E27FC236}">
                <a16:creationId xmlns:a16="http://schemas.microsoft.com/office/drawing/2014/main" id="{0A45EBBB-DF84-49D2-A93F-C1CFE791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8595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HTTPS + RESTful JSON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；流式接口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text/event-stream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SSE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圆角矩形 109">
            <a:extLst xmlns:a="http://schemas.openxmlformats.org/drawingml/2006/main">
              <a:ext uri="{FF2B5EF4-FFF2-40B4-BE49-F238E27FC236}">
                <a16:creationId xmlns:a16="http://schemas.microsoft.com/office/drawing/2014/main" id="{2D568465-D23A-4516-AF37-B710D725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文本框 110">
            <a:extLst xmlns:a="http://schemas.openxmlformats.org/drawingml/2006/main">
              <a:ext uri="{FF2B5EF4-FFF2-40B4-BE49-F238E27FC236}">
                <a16:creationId xmlns:a16="http://schemas.microsoft.com/office/drawing/2014/main" id="{FC47F040-3640-4725-9B18-220D2E71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7172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版本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文本框 111">
            <a:extLst xmlns:a="http://schemas.openxmlformats.org/drawingml/2006/main">
              <a:ext uri="{FF2B5EF4-FFF2-40B4-BE49-F238E27FC236}">
                <a16:creationId xmlns:a16="http://schemas.microsoft.com/office/drawing/2014/main" id="{45F5CF95-37BF-4A35-B549-A6436CD7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URL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版本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/api/v1/**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；破坏性变更升版本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3" name="圆角矩形 112">
            <a:extLst xmlns:a="http://schemas.openxmlformats.org/drawingml/2006/main">
              <a:ext uri="{FF2B5EF4-FFF2-40B4-BE49-F238E27FC236}">
                <a16:creationId xmlns:a16="http://schemas.microsoft.com/office/drawing/2014/main" id="{386AEC02-6B32-4681-B9A5-19AEFF7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文本框 113">
            <a:extLst xmlns:a="http://schemas.openxmlformats.org/drawingml/2006/main">
              <a:ext uri="{FF2B5EF4-FFF2-40B4-BE49-F238E27FC236}">
                <a16:creationId xmlns:a16="http://schemas.microsoft.com/office/drawing/2014/main" id="{08FF4520-9F31-4A54-8940-04CAC4E6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鉴权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文本框 114">
            <a:extLst xmlns:a="http://schemas.openxmlformats.org/drawingml/2006/main">
              <a:ext uri="{FF2B5EF4-FFF2-40B4-BE49-F238E27FC236}">
                <a16:creationId xmlns:a16="http://schemas.microsoft.com/office/drawing/2014/main" id="{3FE3DEB0-E982-4B1E-896F-20F4D9AA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3845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Authorization: Bearer JWT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；内部服务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mTLS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圆角矩形 115">
            <a:extLst xmlns:a="http://schemas.openxmlformats.org/drawingml/2006/main">
              <a:ext uri="{FF2B5EF4-FFF2-40B4-BE49-F238E27FC236}">
                <a16:creationId xmlns:a16="http://schemas.microsoft.com/office/drawing/2014/main" id="{AE1D7EE6-2CB5-4121-9D81-0913267B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" name="文本框 116">
            <a:extLst xmlns:a="http://schemas.openxmlformats.org/drawingml/2006/main">
              <a:ext uri="{FF2B5EF4-FFF2-40B4-BE49-F238E27FC236}">
                <a16:creationId xmlns:a16="http://schemas.microsoft.com/office/drawing/2014/main" id="{EA70B616-7CCC-4BAB-A318-A55BA155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分页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文本框 117">
            <a:extLst xmlns:a="http://schemas.openxmlformats.org/drawingml/2006/main">
              <a:ext uri="{FF2B5EF4-FFF2-40B4-BE49-F238E27FC236}">
                <a16:creationId xmlns:a16="http://schemas.microsoft.com/office/drawing/2014/main" id="{913F0F64-334E-4334-9C3D-F98C335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page / page_size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（默认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20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，最大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100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+ sort + filter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9" name="圆角矩形 118">
            <a:extLst xmlns:a="http://schemas.openxmlformats.org/drawingml/2006/main">
              <a:ext uri="{FF2B5EF4-FFF2-40B4-BE49-F238E27FC236}">
                <a16:creationId xmlns:a16="http://schemas.microsoft.com/office/drawing/2014/main" id="{A821291D-6309-49AE-BF63-C61FD973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33264A81-19BC-4CBA-B4EE-753249D7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幂等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文本框 120">
            <a:extLst xmlns:a="http://schemas.openxmlformats.org/drawingml/2006/main">
              <a:ext uri="{FF2B5EF4-FFF2-40B4-BE49-F238E27FC236}">
                <a16:creationId xmlns:a16="http://schemas.microsoft.com/office/drawing/2014/main" id="{521A79ED-F7BA-4B36-8BFD-AA02810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095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写操作支持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Idempotency-Key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X-Request-Id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全链路透传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2" name="圆角矩形 121">
            <a:extLst xmlns:a="http://schemas.openxmlformats.org/drawingml/2006/main">
              <a:ext uri="{FF2B5EF4-FFF2-40B4-BE49-F238E27FC236}">
                <a16:creationId xmlns:a16="http://schemas.microsoft.com/office/drawing/2014/main" id="{70A854F5-EBF2-4F1E-8147-67F1B0FA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086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3" name="文本框 122">
            <a:extLst xmlns:a="http://schemas.openxmlformats.org/drawingml/2006/main">
              <a:ext uri="{FF2B5EF4-FFF2-40B4-BE49-F238E27FC236}">
                <a16:creationId xmlns:a16="http://schemas.microsoft.com/office/drawing/2014/main" id="{42A2489F-0635-4B63-8B3D-CF4BED64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266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时间</a:t>
            </a:r>
            <a:endParaRPr sz="105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6683168E-80B0-4A8C-8C97-2E452491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5000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UTC ISO8601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，前端按本地时区展示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5" name="文本框 124">
            <a:extLst xmlns:a="http://schemas.openxmlformats.org/drawingml/2006/main">
              <a:ext uri="{FF2B5EF4-FFF2-40B4-BE49-F238E27FC236}">
                <a16:creationId xmlns:a16="http://schemas.microsoft.com/office/drawing/2014/main" id="{4A17954F-5BE2-449A-B1A7-6C7AEBE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14475"/>
            <a:ext cx="45053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统一响应结构</a:t>
            </a: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错误码</a:t>
            </a: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体系</a:t>
            </a:r>
            <a:endParaRPr sz="1125" b="1" spc="1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0AC40909-3EA6-4F5F-A1ED-B01B5E6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45053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request_id / trace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支撑全链路可溯源，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每一步调用可回放、可审计。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文本框 132">
            <a:extLst xmlns:a="http://schemas.openxmlformats.org/drawingml/2006/main">
              <a:ext uri="{FF2B5EF4-FFF2-40B4-BE49-F238E27FC236}">
                <a16:creationId xmlns:a16="http://schemas.microsoft.com/office/drawing/2014/main" id="{FBF2BB55-DD67-46A5-A750-93AA27F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33825"/>
            <a:ext cx="45053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数据层引擎</a:t>
            </a:r>
            <a:endParaRPr sz="1125" b="1" spc="1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4" name="圆角矩形 133">
            <a:extLst xmlns:a="http://schemas.openxmlformats.org/drawingml/2006/main">
              <a:ext uri="{FF2B5EF4-FFF2-40B4-BE49-F238E27FC236}">
                <a16:creationId xmlns:a16="http://schemas.microsoft.com/office/drawing/2014/main" id="{92E21AF5-69D0-4BFC-A0A2-E9FB5241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942975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" name="文本框 134">
            <a:extLst xmlns:a="http://schemas.openxmlformats.org/drawingml/2006/main">
              <a:ext uri="{FF2B5EF4-FFF2-40B4-BE49-F238E27FC236}">
                <a16:creationId xmlns:a16="http://schemas.microsoft.com/office/drawing/2014/main" id="{DDE39D7C-9C22-44A3-B1CF-87B8271C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305300"/>
            <a:ext cx="6762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JSON 持久化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圆角矩形 135">
            <a:extLst xmlns:a="http://schemas.openxmlformats.org/drawingml/2006/main">
              <a:ext uri="{FF2B5EF4-FFF2-40B4-BE49-F238E27FC236}">
                <a16:creationId xmlns:a16="http://schemas.microsoft.com/office/drawing/2014/main" id="{F5B92EC4-E706-4C21-9849-BB8BC962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1200150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" name="文本框 136">
            <a:extLst xmlns:a="http://schemas.openxmlformats.org/drawingml/2006/main">
              <a:ext uri="{FF2B5EF4-FFF2-40B4-BE49-F238E27FC236}">
                <a16:creationId xmlns:a16="http://schemas.microsoft.com/office/drawing/2014/main" id="{D477D3E8-D30F-45FD-AA91-F559E303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933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向量库（规划）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8" name="圆角矩形 137">
            <a:extLst xmlns:a="http://schemas.openxmlformats.org/drawingml/2006/main">
              <a:ext uri="{FF2B5EF4-FFF2-40B4-BE49-F238E27FC236}">
                <a16:creationId xmlns:a16="http://schemas.microsoft.com/office/drawing/2014/main" id="{454F1EC6-EB7A-4A7A-BFFF-D6F561F7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38625"/>
            <a:ext cx="590550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2E474507-FFDE-4739-9396-4CC4A78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323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缓存（规划）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圆角矩形 139">
            <a:extLst xmlns:a="http://schemas.openxmlformats.org/drawingml/2006/main">
              <a:ext uri="{FF2B5EF4-FFF2-40B4-BE49-F238E27FC236}">
                <a16:creationId xmlns:a16="http://schemas.microsoft.com/office/drawing/2014/main" id="{084A7B88-4C51-4A0D-9C22-246837F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38625"/>
            <a:ext cx="1009650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文本框 140">
            <a:extLst xmlns:a="http://schemas.openxmlformats.org/drawingml/2006/main">
              <a:ext uri="{FF2B5EF4-FFF2-40B4-BE49-F238E27FC236}">
                <a16:creationId xmlns:a16="http://schemas.microsoft.com/office/drawing/2014/main" id="{FEA6A5E5-3773-4C17-9520-92E4A25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05300"/>
            <a:ext cx="742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全文检索（规划）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圆角矩形 141">
            <a:extLst xmlns:a="http://schemas.openxmlformats.org/drawingml/2006/main">
              <a:ext uri="{FF2B5EF4-FFF2-40B4-BE49-F238E27FC236}">
                <a16:creationId xmlns:a16="http://schemas.microsoft.com/office/drawing/2014/main" id="{424B12F8-97BA-4BEC-8C55-19EC325E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00575"/>
            <a:ext cx="1219200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文本框 142">
            <a:extLst xmlns:a="http://schemas.openxmlformats.org/drawingml/2006/main">
              <a:ext uri="{FF2B5EF4-FFF2-40B4-BE49-F238E27FC236}">
                <a16:creationId xmlns:a16="http://schemas.microsoft.com/office/drawing/2014/main" id="{85E7BFCA-E3EE-4C94-A29F-D36F2B1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667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对象存储（规划）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圆角矩形 143">
            <a:extLst xmlns:a="http://schemas.openxmlformats.org/drawingml/2006/main">
              <a:ext uri="{FF2B5EF4-FFF2-40B4-BE49-F238E27FC236}">
                <a16:creationId xmlns:a16="http://schemas.microsoft.com/office/drawing/2014/main" id="{87E12590-EBBB-4AEC-9061-48231ED2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00575"/>
            <a:ext cx="942975" cy="285750"/>
          </a:xfrm>
          <a:prstGeom xmlns:a="http://schemas.openxmlformats.org/drawingml/2006/main" prst="roundRect">
            <a:avLst>
              <a:gd name="adj" fmla="val 53333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文本框 144">
            <a:extLst xmlns:a="http://schemas.openxmlformats.org/drawingml/2006/main">
              <a:ext uri="{FF2B5EF4-FFF2-40B4-BE49-F238E27FC236}">
                <a16:creationId xmlns:a16="http://schemas.microsoft.com/office/drawing/2014/main" id="{717D56F4-6DB8-4E22-B497-B618463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6762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监控（规划）</a:t>
            </a:r>
            <a:endParaRPr sz="97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文本框 145">
            <a:extLst xmlns:a="http://schemas.openxmlformats.org/drawingml/2006/main">
              <a:ext uri="{FF2B5EF4-FFF2-40B4-BE49-F238E27FC236}">
                <a16:creationId xmlns:a16="http://schemas.microsoft.com/office/drawing/2014/main" id="{E2BDE499-5981-4FDF-B354-BBBBB8D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9675"/>
            <a:ext cx="45053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当前以 Node.js + JSON 本地持久化为主；数据库、向量、缓存与监控是生产化路线。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文本框 146">
            <a:extLst xmlns:a="http://schemas.openxmlformats.org/drawingml/2006/main">
              <a:ext uri="{FF2B5EF4-FFF2-40B4-BE49-F238E27FC236}">
                <a16:creationId xmlns:a16="http://schemas.microsoft.com/office/drawing/2014/main" id="{30DFC06C-0298-4558-A0C4-3FEE81B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448627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微服务按领域拆分：用户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文献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实验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写作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计费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/ AI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8" name="文本框 147">
            <a:extLst xmlns:a="http://schemas.openxmlformats.org/drawingml/2006/main">
              <a:ext uri="{FF2B5EF4-FFF2-40B4-BE49-F238E27FC236}">
                <a16:creationId xmlns:a16="http://schemas.microsoft.com/office/drawing/2014/main" id="{34234EF8-648A-4A43-9CC4-A25F801A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14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6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9ed4ea65c47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1510" y="1885950"/>
            <a:ext cx="3974465" cy="1541145"/>
          </a:xfrm>
          <a:prstGeom xmlns:a="http://schemas.openxmlformats.org/drawingml/2006/main" prst="rect">
            <a:avLst/>
          </a:prstGeom>
        </p:spPr>
      </p:pic>
      <p:pic>
        <p:nvPicPr>
          <p:cNvPr id="19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70e9d80d9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9275" y="3790950"/>
            <a:ext cx="4868545" cy="1280160"/>
          </a:xfrm>
          <a:prstGeom xmlns:a="http://schemas.openxmlformats.org/drawingml/2006/main" prst="rect">
            <a:avLst/>
          </a:prstGeom>
        </p:spPr>
      </p:pic>
      <p:sp>
        <p:nvSpPr>
          <p:cNvPr id="151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2445386B-2416-4AE4-A83D-474A4B59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152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DFF14C29-9173-4C25-9067-58FC647E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cf93daeb04799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856b1430b4096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56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矩形 149">
            <a:extLst xmlns:a="http://schemas.openxmlformats.org/drawingml/2006/main">
              <a:ext uri="{FF2B5EF4-FFF2-40B4-BE49-F238E27FC236}">
                <a16:creationId xmlns:a16="http://schemas.microsoft.com/office/drawing/2014/main" id="{370B7069-3E8E-4DE4-A364-BAA0E69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" name="文本框 150">
            <a:extLst xmlns:a="http://schemas.openxmlformats.org/drawingml/2006/main">
              <a:ext uri="{FF2B5EF4-FFF2-40B4-BE49-F238E27FC236}">
                <a16:creationId xmlns:a16="http://schemas.microsoft.com/office/drawing/2014/main" id="{BB6C73F8-891E-4A90-952C-F1F81B25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03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技术解析及亮点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文本框 151">
            <a:extLst xmlns:a="http://schemas.openxmlformats.org/drawingml/2006/main">
              <a:ext uri="{FF2B5EF4-FFF2-40B4-BE49-F238E27FC236}">
                <a16:creationId xmlns:a16="http://schemas.microsoft.com/office/drawing/2014/main" id="{BD3BDA9F-3BF4-4F0F-A0F2-90ABD565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能力：模型接入 · 文本检索 · Agent 工作流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3" name="圆角矩形 152">
            <a:extLst xmlns:a="http://schemas.openxmlformats.org/drawingml/2006/main">
              <a:ext uri="{FF2B5EF4-FFF2-40B4-BE49-F238E27FC236}">
                <a16:creationId xmlns:a16="http://schemas.microsoft.com/office/drawing/2014/main" id="{B13FE286-B752-4B32-A858-39A09DAA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圆角矩形 153">
            <a:extLst xmlns:a="http://schemas.openxmlformats.org/drawingml/2006/main">
              <a:ext uri="{FF2B5EF4-FFF2-40B4-BE49-F238E27FC236}">
                <a16:creationId xmlns:a16="http://schemas.microsoft.com/office/drawing/2014/main" id="{0E424AFA-201D-4D74-B914-E46EE30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20574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3" name="图片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6f2553eee40c9">
            <a:extLst>
              <a:ext uri="{96DAC541-7B7A-43D3-8B79-37D633B846F1}">
                <asvg:svgBlip xmlns:asvg="http://schemas.microsoft.com/office/drawing/2016/SVG/main" r:embed="Re6ec1e806c8e4fd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590675"/>
            <a:ext cx="10591800" cy="1866900"/>
          </a:xfrm>
          <a:prstGeom xmlns:a="http://schemas.openxmlformats.org/drawingml/2006/main" prst="rect">
            <a:avLst/>
          </a:prstGeom>
        </p:spPr>
      </p:pic>
      <p:sp>
        <p:nvSpPr>
          <p:cNvPr id="156" name="圆角矩形 155">
            <a:extLst xmlns:a="http://schemas.openxmlformats.org/drawingml/2006/main">
              <a:ext uri="{FF2B5EF4-FFF2-40B4-BE49-F238E27FC236}">
                <a16:creationId xmlns:a16="http://schemas.microsoft.com/office/drawing/2014/main" id="{9E3D1055-DC38-495C-905D-5279AC0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505200" cy="2447925"/>
          </a:xfrm>
          <a:prstGeom xmlns:a="http://schemas.openxmlformats.org/drawingml/2006/main" prst="roundRect">
            <a:avLst>
              <a:gd name="adj" fmla="val 544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5" name="图片 1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f3b9580f64735">
            <a:extLst>
              <a:ext uri="{96DAC541-7B7A-43D3-8B79-37D633B846F1}">
                <asvg:svgBlip xmlns:asvg="http://schemas.microsoft.com/office/drawing/2016/SVG/main" r:embed="R92ef7321399149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3857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58" name="文本框 157">
            <a:extLst xmlns:a="http://schemas.openxmlformats.org/drawingml/2006/main">
              <a:ext uri="{FF2B5EF4-FFF2-40B4-BE49-F238E27FC236}">
                <a16:creationId xmlns:a16="http://schemas.microsoft.com/office/drawing/2014/main" id="{14F0AF2C-AF50-4022-BF92-FE5E343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模型：开放接入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9" name="文本框 158">
            <a:extLst xmlns:a="http://schemas.openxmlformats.org/drawingml/2006/main">
              <a:ext uri="{FF2B5EF4-FFF2-40B4-BE49-F238E27FC236}">
                <a16:creationId xmlns:a16="http://schemas.microsoft.com/office/drawing/2014/main" id="{D243A05B-46ED-49C3-8D2A-869A08FA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312420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7946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OpenAI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兼容协议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模型路由网关，内置多模型可切换，支持自定义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BaseURL / Key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接入。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0" name="圆角矩形 159">
            <a:extLst xmlns:a="http://schemas.openxmlformats.org/drawingml/2006/main">
              <a:ext uri="{FF2B5EF4-FFF2-40B4-BE49-F238E27FC236}">
                <a16:creationId xmlns:a16="http://schemas.microsoft.com/office/drawing/2014/main" id="{5E17B776-AC43-4E5B-80BB-AE446F1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05225"/>
            <a:ext cx="3505200" cy="2447925"/>
          </a:xfrm>
          <a:prstGeom xmlns:a="http://schemas.openxmlformats.org/drawingml/2006/main" prst="roundRect">
            <a:avLst>
              <a:gd name="adj" fmla="val 544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9" name="图片 1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6ab13221d4b55">
            <a:extLst>
              <a:ext uri="{96DAC541-7B7A-43D3-8B79-37D633B846F1}">
                <asvg:svgBlip xmlns:asvg="http://schemas.microsoft.com/office/drawing/2016/SVG/main" r:embed="R05548cd9df8648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3857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2" name="文本框 161">
            <a:extLst xmlns:a="http://schemas.openxmlformats.org/drawingml/2006/main">
              <a:ext uri="{FF2B5EF4-FFF2-40B4-BE49-F238E27FC236}">
                <a16:creationId xmlns:a16="http://schemas.microsoft.com/office/drawing/2014/main" id="{2A249318-2F67-46A6-9B38-643F3111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57625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检索：可溯源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3" name="文本框 162">
            <a:extLst xmlns:a="http://schemas.openxmlformats.org/drawingml/2006/main">
              <a:ext uri="{FF2B5EF4-FFF2-40B4-BE49-F238E27FC236}">
                <a16:creationId xmlns:a16="http://schemas.microsoft.com/office/drawing/2014/main" id="{B2ED418C-E3F3-450A-BE87-7982C21B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24325"/>
            <a:ext cx="312420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6768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文本 / Base64 知识导入 + 关键词检索，结果保留来源；向量检索与多 Agent 并行仍在路线图。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4" name="圆角矩形 163">
            <a:extLst xmlns:a="http://schemas.openxmlformats.org/drawingml/2006/main">
              <a:ext uri="{FF2B5EF4-FFF2-40B4-BE49-F238E27FC236}">
                <a16:creationId xmlns:a16="http://schemas.microsoft.com/office/drawing/2014/main" id="{B356584E-683E-4A9E-944E-C26ADCF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3505200" cy="2447925"/>
          </a:xfrm>
          <a:prstGeom xmlns:a="http://schemas.openxmlformats.org/drawingml/2006/main" prst="roundRect">
            <a:avLst>
              <a:gd name="adj" fmla="val 544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93" name="图片 1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aae2c5e94464c">
            <a:extLst>
              <a:ext uri="{96DAC541-7B7A-43D3-8B79-37D633B846F1}">
                <asvg:svgBlip xmlns:asvg="http://schemas.microsoft.com/office/drawing/2016/SVG/main" r:embed="R6450a8a16d934e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38576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6" name="文本框 165">
            <a:extLst xmlns:a="http://schemas.openxmlformats.org/drawingml/2006/main">
              <a:ext uri="{FF2B5EF4-FFF2-40B4-BE49-F238E27FC236}">
                <a16:creationId xmlns:a16="http://schemas.microsoft.com/office/drawing/2014/main" id="{DD19D666-9082-4CA3-B67F-9A64441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11715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：全链路</a:t>
            </a:r>
            <a:endParaRPr sz="1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7" name="文本框 166">
            <a:extLst xmlns:a="http://schemas.openxmlformats.org/drawingml/2006/main">
              <a:ext uri="{FF2B5EF4-FFF2-40B4-BE49-F238E27FC236}">
                <a16:creationId xmlns:a16="http://schemas.microsoft.com/office/drawing/2014/main" id="{F48EF295-0CE6-486B-B9DC-12A36AC9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12420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5089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覆盖理解 → 检索 → 分析 → 生成 → 校验 → 协作流程；自动化比例为 PRD 目标，需用真实用户数据验证。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8" name="文本框 167">
            <a:extLst xmlns:a="http://schemas.openxmlformats.org/drawingml/2006/main">
              <a:ext uri="{FF2B5EF4-FFF2-40B4-BE49-F238E27FC236}">
                <a16:creationId xmlns:a16="http://schemas.microsoft.com/office/drawing/2014/main" id="{36D02F6D-E4E4-4EF4-B033-DC5E15B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4171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AI 不只是写内容，而是嵌入科研流程的可配置执行层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9" name="文本框 168">
            <a:extLst xmlns:a="http://schemas.openxmlformats.org/drawingml/2006/main">
              <a:ext uri="{FF2B5EF4-FFF2-40B4-BE49-F238E27FC236}">
                <a16:creationId xmlns:a16="http://schemas.microsoft.com/office/drawing/2014/main" id="{D167A36F-9E87-4465-8EF7-2BCD8E6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15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4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350F7905-522A-4C62-9A82-3F588BCC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175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8288402B-3F70-4CCC-8ABE-F8946DB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8cfae9c274e82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d01c8f0b74c8a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959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矩形 170">
            <a:extLst xmlns:a="http://schemas.openxmlformats.org/drawingml/2006/main">
              <a:ext uri="{FF2B5EF4-FFF2-40B4-BE49-F238E27FC236}">
                <a16:creationId xmlns:a16="http://schemas.microsoft.com/office/drawing/2014/main" id="{120E4276-F226-4F9C-A4A2-44B27F0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2" name="文本框 171">
            <a:extLst xmlns:a="http://schemas.openxmlformats.org/drawingml/2006/main">
              <a:ext uri="{FF2B5EF4-FFF2-40B4-BE49-F238E27FC236}">
                <a16:creationId xmlns:a16="http://schemas.microsoft.com/office/drawing/2014/main" id="{339FB9BB-2272-468D-999E-5E456CAC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4991100" cy="297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9500" b="1">
              <a:solidFill>
                <a:srgbClr val="163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3" name="圆角矩形 172">
            <a:extLst xmlns:a="http://schemas.openxmlformats.org/drawingml/2006/main">
              <a:ext uri="{FF2B5EF4-FFF2-40B4-BE49-F238E27FC236}">
                <a16:creationId xmlns:a16="http://schemas.microsoft.com/office/drawing/2014/main" id="{EC3DEDBA-568A-4517-A2A6-F8F1A433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609600" cy="47625"/>
          </a:xfrm>
          <a:prstGeom xmlns:a="http://schemas.openxmlformats.org/drawingml/2006/main" prst="roundRect">
            <a:avLst>
              <a:gd name="adj" fmla="val 6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" name="文本框 173">
            <a:extLst xmlns:a="http://schemas.openxmlformats.org/drawingml/2006/main">
              <a:ext uri="{FF2B5EF4-FFF2-40B4-BE49-F238E27FC236}">
                <a16:creationId xmlns:a16="http://schemas.microsoft.com/office/drawing/2014/main" id="{6A7B1E2B-5A6A-4815-9557-45D03E9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99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商业模式及创新</a:t>
            </a:r>
            <a:endParaRPr sz="4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5" name="文本框 174">
            <a:extLst xmlns:a="http://schemas.openxmlformats.org/drawingml/2006/main">
              <a:ext uri="{FF2B5EF4-FFF2-40B4-BE49-F238E27FC236}">
                <a16:creationId xmlns:a16="http://schemas.microsoft.com/office/drawing/2014/main" id="{84591EEA-D734-4F9C-8220-0747927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9911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BUSINESS MODEL</a:t>
            </a:r>
            <a:endParaRPr sz="1275" spc="30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4" name="图片 1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7681e36074517">
            <a:extLst>
              <a:ext uri="{96DAC541-7B7A-43D3-8B79-37D633B846F1}">
                <asvg:svgBlip xmlns:asvg="http://schemas.microsoft.com/office/drawing/2016/SVG/main" r:embed="R89fa0b37a56d44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2383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77" name="文本框 176">
            <a:extLst xmlns:a="http://schemas.openxmlformats.org/drawingml/2006/main">
              <a:ext uri="{FF2B5EF4-FFF2-40B4-BE49-F238E27FC236}">
                <a16:creationId xmlns:a16="http://schemas.microsoft.com/office/drawing/2014/main" id="{2F01FD2C-A66B-4763-8931-BCBFA70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38375"/>
            <a:ext cx="341947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怎么赚钱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8" name="文本框 177">
            <a:extLst xmlns:a="http://schemas.openxmlformats.org/drawingml/2006/main">
              <a:ext uri="{FF2B5EF4-FFF2-40B4-BE49-F238E27FC236}">
                <a16:creationId xmlns:a16="http://schemas.microsoft.com/office/drawing/2014/main" id="{6DAD0273-F7BC-43C8-B0F6-237A32D5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34194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订阅制主力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增值服务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机构私有化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生态分成。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7" name="图片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66866341a4c85">
            <a:extLst>
              <a:ext uri="{96DAC541-7B7A-43D3-8B79-37D633B846F1}">
                <asvg:svgBlip xmlns:asvg="http://schemas.microsoft.com/office/drawing/2016/SVG/main" r:embed="Rcfc1c27f5af14d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143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0" name="文本框 179">
            <a:extLst xmlns:a="http://schemas.openxmlformats.org/drawingml/2006/main">
              <a:ext uri="{FF2B5EF4-FFF2-40B4-BE49-F238E27FC236}">
                <a16:creationId xmlns:a16="http://schemas.microsoft.com/office/drawing/2014/main" id="{E9F4B7B5-40DF-4EDA-95E4-7602032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35052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创造什么价值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1" name="文本框 180">
            <a:extLst xmlns:a="http://schemas.openxmlformats.org/drawingml/2006/main">
              <a:ext uri="{FF2B5EF4-FFF2-40B4-BE49-F238E27FC236}">
                <a16:creationId xmlns:a16="http://schemas.microsoft.com/office/drawing/2014/main" id="{6345548B-2B24-406A-BF5D-BCAFFD41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35052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效率、公平、知识沉淀、产业转化与教育五维价值。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0" name="图片 1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b996ab1fe440d">
            <a:extLst>
              <a:ext uri="{96DAC541-7B7A-43D3-8B79-37D633B846F1}">
                <asvg:svgBlip xmlns:asvg="http://schemas.microsoft.com/office/drawing/2016/SVG/main" r:embed="Rc0ddaf028be548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40481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3" name="文本框 182">
            <a:extLst xmlns:a="http://schemas.openxmlformats.org/drawingml/2006/main">
              <a:ext uri="{FF2B5EF4-FFF2-40B4-BE49-F238E27FC236}">
                <a16:creationId xmlns:a16="http://schemas.microsoft.com/office/drawing/2014/main" id="{1AC9C0ED-B053-4E89-A9E0-6B96065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48125"/>
            <a:ext cx="36290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为什么值得投</a:t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4" name="文本框 183">
            <a:extLst xmlns:a="http://schemas.openxmlformats.org/drawingml/2006/main">
              <a:ext uri="{FF2B5EF4-FFF2-40B4-BE49-F238E27FC236}">
                <a16:creationId xmlns:a16="http://schemas.microsoft.com/office/drawing/2014/main" id="{DA226836-6EA8-4AFF-BDBE-395AA2B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52925"/>
            <a:ext cx="362902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for Science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高景气赛道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全流程闭环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数据飞轮。</a:t>
            </a:r>
            <a:endParaRPr sz="12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3" name="图片 1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88aff812f4a89">
            <a:extLst>
              <a:ext uri="{96DAC541-7B7A-43D3-8B79-37D633B846F1}">
                <asvg:svgBlip xmlns:asvg="http://schemas.microsoft.com/office/drawing/2016/SVG/main" r:embed="R424bad07cbfa46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6" name="圆角矩形 185">
            <a:extLst xmlns:a="http://schemas.openxmlformats.org/drawingml/2006/main">
              <a:ext uri="{FF2B5EF4-FFF2-40B4-BE49-F238E27FC236}">
                <a16:creationId xmlns:a16="http://schemas.microsoft.com/office/drawing/2014/main" id="{5D96CFA7-1559-4890-885C-2B6DBCD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7" name="圆角矩形 186">
            <a:extLst xmlns:a="http://schemas.openxmlformats.org/drawingml/2006/main">
              <a:ext uri="{FF2B5EF4-FFF2-40B4-BE49-F238E27FC236}">
                <a16:creationId xmlns:a16="http://schemas.microsoft.com/office/drawing/2014/main" id="{DB9E8F7E-91AF-48E2-94EB-312BD46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8" name="圆角矩形 187">
            <a:extLst xmlns:a="http://schemas.openxmlformats.org/drawingml/2006/main">
              <a:ext uri="{FF2B5EF4-FFF2-40B4-BE49-F238E27FC236}">
                <a16:creationId xmlns:a16="http://schemas.microsoft.com/office/drawing/2014/main" id="{8967D12E-0EE3-4276-A5C6-3552172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" name="圆角矩形 188">
            <a:extLst xmlns:a="http://schemas.openxmlformats.org/drawingml/2006/main">
              <a:ext uri="{FF2B5EF4-FFF2-40B4-BE49-F238E27FC236}">
                <a16:creationId xmlns:a16="http://schemas.microsoft.com/office/drawing/2014/main" id="{64D757CF-B0F3-4CE6-90DC-CD5B0AF9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2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" name="文本框 189">
            <a:extLst xmlns:a="http://schemas.openxmlformats.org/drawingml/2006/main">
              <a:ext uri="{FF2B5EF4-FFF2-40B4-BE49-F238E27FC236}">
                <a16:creationId xmlns:a16="http://schemas.microsoft.com/office/drawing/2014/main" id="{894B80D3-059A-445E-8536-F8A441C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16 / 19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5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B22FDC73-6CAA-49BF-9F7A-0D23C57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196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A5DFC033-1E35-4338-A3AA-EC731CFF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83b39fded4f3d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7cbaa3dd4389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90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矩形 191">
            <a:extLst xmlns:a="http://schemas.openxmlformats.org/drawingml/2006/main">
              <a:ext uri="{FF2B5EF4-FFF2-40B4-BE49-F238E27FC236}">
                <a16:creationId xmlns:a16="http://schemas.microsoft.com/office/drawing/2014/main" id="{90AED29F-91F0-4F09-9D26-2CCA579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3" name="文本框 192">
            <a:extLst xmlns:a="http://schemas.openxmlformats.org/drawingml/2006/main">
              <a:ext uri="{FF2B5EF4-FFF2-40B4-BE49-F238E27FC236}">
                <a16:creationId xmlns:a16="http://schemas.microsoft.com/office/drawing/2014/main" id="{786A5C4A-3BBE-4A15-92E6-6165278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04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商业模式及创新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BUSINESS MODEL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4" name="文本框 193">
            <a:extLst xmlns:a="http://schemas.openxmlformats.org/drawingml/2006/main">
              <a:ext uri="{FF2B5EF4-FFF2-40B4-BE49-F238E27FC236}">
                <a16:creationId xmlns:a16="http://schemas.microsoft.com/office/drawing/2014/main" id="{2FB45C92-F42F-4A3D-80C7-448AFADB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商业模式：成本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收益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市场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5" name="圆角矩形 194">
            <a:extLst xmlns:a="http://schemas.openxmlformats.org/drawingml/2006/main">
              <a:ext uri="{FF2B5EF4-FFF2-40B4-BE49-F238E27FC236}">
                <a16:creationId xmlns:a16="http://schemas.microsoft.com/office/drawing/2014/main" id="{BEE6ADC0-427C-42E2-BF97-556B56A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6" name="文本框 195">
            <a:extLst xmlns:a="http://schemas.openxmlformats.org/drawingml/2006/main">
              <a:ext uri="{FF2B5EF4-FFF2-40B4-BE49-F238E27FC236}">
                <a16:creationId xmlns:a16="http://schemas.microsoft.com/office/drawing/2014/main" id="{EECA2DA2-9ECF-49C0-8FA5-FD32A263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63531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四档套餐阶梯</a:t>
            </a:r>
            <a:endParaRPr sz="1125" b="1" spc="1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7" name="圆角矩形 196">
            <a:extLst xmlns:a="http://schemas.openxmlformats.org/drawingml/2006/main">
              <a:ext uri="{FF2B5EF4-FFF2-40B4-BE49-F238E27FC236}">
                <a16:creationId xmlns:a16="http://schemas.microsoft.com/office/drawing/2014/main" id="{2642FDEB-6356-4E15-AC39-BF2FA3D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63531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8" name="文本框 197">
            <a:extLst xmlns:a="http://schemas.openxmlformats.org/drawingml/2006/main">
              <a:ext uri="{FF2B5EF4-FFF2-40B4-BE49-F238E27FC236}">
                <a16:creationId xmlns:a16="http://schemas.microsoft.com/office/drawing/2014/main" id="{279D3021-3723-4091-A9FB-3C73215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Free 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免费版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9" name="文本框 198">
            <a:extLst xmlns:a="http://schemas.openxmlformats.org/drawingml/2006/main">
              <a:ext uri="{FF2B5EF4-FFF2-40B4-BE49-F238E27FC236}">
                <a16:creationId xmlns:a16="http://schemas.microsoft.com/office/drawing/2014/main" id="{99D7DA38-F9F8-4D1B-A5BB-F439495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¥0</a:t>
            </a:r>
            <a:endParaRPr sz="112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0" name="文本框 199">
            <a:extLst xmlns:a="http://schemas.openxmlformats.org/drawingml/2006/main">
              <a:ext uri="{FF2B5EF4-FFF2-40B4-BE49-F238E27FC236}">
                <a16:creationId xmlns:a16="http://schemas.microsoft.com/office/drawing/2014/main" id="{B7F9FEC9-0114-401A-AFEC-BA4E115B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14525"/>
            <a:ext cx="31718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基础对话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有限检索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翻译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1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个知识库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" name="圆角矩形 200">
            <a:extLst xmlns:a="http://schemas.openxmlformats.org/drawingml/2006/main">
              <a:ext uri="{FF2B5EF4-FFF2-40B4-BE49-F238E27FC236}">
                <a16:creationId xmlns:a16="http://schemas.microsoft.com/office/drawing/2014/main" id="{9260400A-4D83-487C-8E85-38AB66EB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63531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C4E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2" name="文本框 201">
            <a:extLst xmlns:a="http://schemas.openxmlformats.org/drawingml/2006/main">
              <a:ext uri="{FF2B5EF4-FFF2-40B4-BE49-F238E27FC236}">
                <a16:creationId xmlns:a16="http://schemas.microsoft.com/office/drawing/2014/main" id="{9B7D9A89-694F-4FA8-A307-4C3526F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Pro 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专业版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3" name="文本框 202">
            <a:extLst xmlns:a="http://schemas.openxmlformats.org/drawingml/2006/main">
              <a:ext uri="{FF2B5EF4-FFF2-40B4-BE49-F238E27FC236}">
                <a16:creationId xmlns:a16="http://schemas.microsoft.com/office/drawing/2014/main" id="{43DDF515-B243-4F08-A11B-6594E04E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982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¥39–99 / 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12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" name="文本框 203">
            <a:extLst xmlns:a="http://schemas.openxmlformats.org/drawingml/2006/main">
              <a:ext uri="{FF2B5EF4-FFF2-40B4-BE49-F238E27FC236}">
                <a16:creationId xmlns:a16="http://schemas.microsoft.com/office/drawing/2014/main" id="{92C4B48A-5F95-46B6-AF25-6BC6B9D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28875"/>
            <a:ext cx="31718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全工具解锁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多模型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RAG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图表生成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5" name="圆角矩形 204">
            <a:extLst xmlns:a="http://schemas.openxmlformats.org/drawingml/2006/main">
              <a:ext uri="{FF2B5EF4-FFF2-40B4-BE49-F238E27FC236}">
                <a16:creationId xmlns:a16="http://schemas.microsoft.com/office/drawing/2014/main" id="{38BFCAE7-ED03-435A-86CB-454663B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3531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6" name="文本框 205">
            <a:extLst xmlns:a="http://schemas.openxmlformats.org/drawingml/2006/main">
              <a:ext uri="{FF2B5EF4-FFF2-40B4-BE49-F238E27FC236}">
                <a16:creationId xmlns:a16="http://schemas.microsoft.com/office/drawing/2014/main" id="{5B69487D-7051-483F-9000-142581E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Team 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团队版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7" name="文本框 206">
            <a:extLst xmlns:a="http://schemas.openxmlformats.org/drawingml/2006/main">
              <a:ext uri="{FF2B5EF4-FFF2-40B4-BE49-F238E27FC236}">
                <a16:creationId xmlns:a16="http://schemas.microsoft.com/office/drawing/2014/main" id="{5DD82B33-8A54-4C0F-805E-B253B59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¥299–999 /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112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8" name="文本框 207">
            <a:extLst xmlns:a="http://schemas.openxmlformats.org/drawingml/2006/main">
              <a:ext uri="{FF2B5EF4-FFF2-40B4-BE49-F238E27FC236}">
                <a16:creationId xmlns:a16="http://schemas.microsoft.com/office/drawing/2014/main" id="{A6D43482-1892-4F98-9A86-950EE6D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43225"/>
            <a:ext cx="31718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多人协作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课题组空间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共享知识库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9" name="圆角矩形 208">
            <a:extLst xmlns:a="http://schemas.openxmlformats.org/drawingml/2006/main">
              <a:ext uri="{FF2B5EF4-FFF2-40B4-BE49-F238E27FC236}">
                <a16:creationId xmlns:a16="http://schemas.microsoft.com/office/drawing/2014/main" id="{91DE2FC5-07F4-4F0A-B59E-557E996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63531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0" name="文本框 209">
            <a:extLst xmlns:a="http://schemas.openxmlformats.org/drawingml/2006/main">
              <a:ext uri="{FF2B5EF4-FFF2-40B4-BE49-F238E27FC236}">
                <a16:creationId xmlns:a16="http://schemas.microsoft.com/office/drawing/2014/main" id="{B17EAA64-D20E-41DC-8082-90E0F60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Enterprise </a:t>
            </a:r>
            <a:r>
              <a:rPr sz="12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机构版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1" name="文本框 210">
            <a:extLst xmlns:a="http://schemas.openxmlformats.org/drawingml/2006/main">
              <a:ext uri="{FF2B5EF4-FFF2-40B4-BE49-F238E27FC236}">
                <a16:creationId xmlns:a16="http://schemas.microsoft.com/office/drawing/2014/main" id="{2C4C5BE0-BE81-45A6-A173-34D73F0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4805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按席位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年费</a:t>
            </a:r>
            <a:endParaRPr sz="1125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2" name="文本框 211">
            <a:extLst xmlns:a="http://schemas.openxmlformats.org/drawingml/2006/main">
              <a:ext uri="{FF2B5EF4-FFF2-40B4-BE49-F238E27FC236}">
                <a16:creationId xmlns:a16="http://schemas.microsoft.com/office/drawing/2014/main" id="{E083B8D9-EBB7-419E-A751-DBAFFF7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57575"/>
            <a:ext cx="317182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私有化部署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数据隔离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SSO · SLA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58" name="图片 2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4242b3ae84935">
            <a:extLst>
              <a:ext uri="{96DAC541-7B7A-43D3-8B79-37D633B846F1}">
                <asvg:svgBlip xmlns:asvg="http://schemas.microsoft.com/office/drawing/2016/SVG/main" r:embed="R347dc831183049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9338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14" name="文本框 213">
            <a:extLst xmlns:a="http://schemas.openxmlformats.org/drawingml/2006/main">
              <a:ext uri="{FF2B5EF4-FFF2-40B4-BE49-F238E27FC236}">
                <a16:creationId xmlns:a16="http://schemas.microsoft.com/office/drawing/2014/main" id="{2190EE4F-C124-4A7E-8B8B-CFA36F4B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5019675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增值服务（按次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打包）：高级查重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专家评审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深度综述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PPT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高级模板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算力租赁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5" name="圆角矩形 214">
            <a:extLst xmlns:a="http://schemas.openxmlformats.org/drawingml/2006/main">
              <a:ext uri="{FF2B5EF4-FFF2-40B4-BE49-F238E27FC236}">
                <a16:creationId xmlns:a16="http://schemas.microsoft.com/office/drawing/2014/main" id="{FB26AC6C-F762-47AC-A98A-EBBBCD8C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514475"/>
            <a:ext cx="4238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1" name="图片 2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3066161714629">
            <a:extLst>
              <a:ext uri="{96DAC541-7B7A-43D3-8B79-37D633B846F1}">
                <asvg:svgBlip xmlns:asvg="http://schemas.microsoft.com/office/drawing/2016/SVG/main" r:embed="R0ee82dd2d44941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9025" y="16573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17" name="文本框 216">
            <a:extLst xmlns:a="http://schemas.openxmlformats.org/drawingml/2006/main">
              <a:ext uri="{FF2B5EF4-FFF2-40B4-BE49-F238E27FC236}">
                <a16:creationId xmlns:a16="http://schemas.microsoft.com/office/drawing/2014/main" id="{E21F581A-F6B9-44C5-B737-C8D15C3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647825"/>
            <a:ext cx="647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成本结构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8" name="文本框 217">
            <a:extLst xmlns:a="http://schemas.openxmlformats.org/drawingml/2006/main">
              <a:ext uri="{FF2B5EF4-FFF2-40B4-BE49-F238E27FC236}">
                <a16:creationId xmlns:a16="http://schemas.microsoft.com/office/drawing/2014/main" id="{F72A852D-589D-41AE-95A5-740BC0D4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895475"/>
            <a:ext cx="389572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模型调用（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Token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）为主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算力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GPU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存储与带宽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研发运维。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圆角矩形 218">
            <a:extLst xmlns:a="http://schemas.openxmlformats.org/drawingml/2006/main">
              <a:ext uri="{FF2B5EF4-FFF2-40B4-BE49-F238E27FC236}">
                <a16:creationId xmlns:a16="http://schemas.microsoft.com/office/drawing/2014/main" id="{1118B844-A880-4E64-8BF8-6F9D669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95625"/>
            <a:ext cx="4238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5" name="图片 2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bd80411a4f32">
            <a:extLst>
              <a:ext uri="{96DAC541-7B7A-43D3-8B79-37D633B846F1}">
                <asvg:svgBlip xmlns:asvg="http://schemas.microsoft.com/office/drawing/2016/SVG/main" r:embed="Rc821fb1c946544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9025" y="3238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1" name="文本框 220">
            <a:extLst xmlns:a="http://schemas.openxmlformats.org/drawingml/2006/main">
              <a:ext uri="{FF2B5EF4-FFF2-40B4-BE49-F238E27FC236}">
                <a16:creationId xmlns:a16="http://schemas.microsoft.com/office/drawing/2014/main" id="{D9D2022D-554E-4322-8018-F8D76414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28975"/>
            <a:ext cx="647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收益结构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文本框 221">
            <a:extLst xmlns:a="http://schemas.openxmlformats.org/drawingml/2006/main">
              <a:ext uri="{FF2B5EF4-FFF2-40B4-BE49-F238E27FC236}">
                <a16:creationId xmlns:a16="http://schemas.microsoft.com/office/drawing/2014/main" id="{DF97BD8B-2843-4257-9896-80FC999D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76625"/>
            <a:ext cx="389572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订阅制（主力）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+ API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算力增值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企业私有化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生态分成（模型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插件）。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3" name="圆角矩形 222">
            <a:extLst xmlns:a="http://schemas.openxmlformats.org/drawingml/2006/main">
              <a:ext uri="{FF2B5EF4-FFF2-40B4-BE49-F238E27FC236}">
                <a16:creationId xmlns:a16="http://schemas.microsoft.com/office/drawing/2014/main" id="{E6BFBF94-72A7-48F3-8E71-816F0B67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686300"/>
            <a:ext cx="4238625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9" name="图片 2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5f627846148c3">
            <a:extLst>
              <a:ext uri="{96DAC541-7B7A-43D3-8B79-37D633B846F1}">
                <asvg:svgBlip xmlns:asvg="http://schemas.microsoft.com/office/drawing/2016/SVG/main" r:embed="Rcf1b9bc5dba145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9025" y="48291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25" name="文本框 224">
            <a:extLst xmlns:a="http://schemas.openxmlformats.org/drawingml/2006/main">
              <a:ext uri="{FF2B5EF4-FFF2-40B4-BE49-F238E27FC236}">
                <a16:creationId xmlns:a16="http://schemas.microsoft.com/office/drawing/2014/main" id="{264756A0-094F-4BEC-8D7C-32B4C7D8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819650"/>
            <a:ext cx="647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市场研判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6" name="文本框 225">
            <a:extLst xmlns:a="http://schemas.openxmlformats.org/drawingml/2006/main">
              <a:ext uri="{FF2B5EF4-FFF2-40B4-BE49-F238E27FC236}">
                <a16:creationId xmlns:a16="http://schemas.microsoft.com/office/drawing/2014/main" id="{CB233243-457B-420E-A918-6180F8F9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67300"/>
            <a:ext cx="389572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1018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for Science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是确定性增长赛道；闭环平台迁移成本高、粘性强，数据飞轮驱动留存。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文本框 226">
            <a:extLst xmlns:a="http://schemas.openxmlformats.org/drawingml/2006/main">
              <a:ext uri="{FF2B5EF4-FFF2-40B4-BE49-F238E27FC236}">
                <a16:creationId xmlns:a16="http://schemas.microsoft.com/office/drawing/2014/main" id="{2AA31BF3-3417-4A33-BC97-D2A84DCA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51816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定价逻辑：免费降门槛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→ Pro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培养付费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→ Team / Enterprise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承接组织预算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8" name="文本框 227">
            <a:extLst xmlns:a="http://schemas.openxmlformats.org/drawingml/2006/main">
              <a:ext uri="{FF2B5EF4-FFF2-40B4-BE49-F238E27FC236}">
                <a16:creationId xmlns:a16="http://schemas.microsoft.com/office/drawing/2014/main" id="{FC7716AE-831D-4D3B-8D3E-5EB7616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17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3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FF1DC18F-CC2F-426A-85AB-EE6B94C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234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EB2B6ADD-AA07-48CC-A201-9EB5B6D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7f928bcfa4014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1aa2241a14462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6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0" name="矩形 229">
            <a:extLst xmlns:a="http://schemas.openxmlformats.org/drawingml/2006/main">
              <a:ext uri="{FF2B5EF4-FFF2-40B4-BE49-F238E27FC236}">
                <a16:creationId xmlns:a16="http://schemas.microsoft.com/office/drawing/2014/main" id="{B30F6015-5D69-4284-8BC4-19938ED7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1" name="文本框 230">
            <a:extLst xmlns:a="http://schemas.openxmlformats.org/drawingml/2006/main">
              <a:ext uri="{FF2B5EF4-FFF2-40B4-BE49-F238E27FC236}">
                <a16:creationId xmlns:a16="http://schemas.microsoft.com/office/drawing/2014/main" id="{03EEEC76-FF64-4123-812D-4E044B7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04 · </a:t>
            </a:r>
            <a:r>
              <a:rPr sz="1050" spc="3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商业模式及创新</a:t>
            </a:r>
            <a:endParaRPr sz="1050" spc="300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2" name="文本框 231">
            <a:extLst xmlns:a="http://schemas.openxmlformats.org/drawingml/2006/main">
              <a:ext uri="{FF2B5EF4-FFF2-40B4-BE49-F238E27FC236}">
                <a16:creationId xmlns:a16="http://schemas.microsoft.com/office/drawing/2014/main" id="{70D61718-EA66-479F-814B-1606DFA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"/>
            <a:ext cx="1082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7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行业落地价值：效率目标与五维价值</a:t>
            </a:r>
            <a:endParaRPr sz="2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3" name="圆角矩形 232">
            <a:extLst xmlns:a="http://schemas.openxmlformats.org/drawingml/2006/main">
              <a:ext uri="{FF2B5EF4-FFF2-40B4-BE49-F238E27FC236}">
                <a16:creationId xmlns:a16="http://schemas.microsoft.com/office/drawing/2014/main" id="{CB63C2AB-E7BE-46BB-B017-7AD3015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4" name="圆角矩形 233">
            <a:extLst xmlns:a="http://schemas.openxmlformats.org/drawingml/2006/main">
              <a:ext uri="{FF2B5EF4-FFF2-40B4-BE49-F238E27FC236}">
                <a16:creationId xmlns:a16="http://schemas.microsoft.com/office/drawing/2014/main" id="{EA9CCC25-AC97-4B4D-A747-3B2F974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3190875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5" name="文本框 234">
            <a:extLst xmlns:a="http://schemas.openxmlformats.org/drawingml/2006/main">
              <a:ext uri="{FF2B5EF4-FFF2-40B4-BE49-F238E27FC236}">
                <a16:creationId xmlns:a16="http://schemas.microsoft.com/office/drawing/2014/main" id="{06F9E9C1-0BEA-4C40-9341-2F6D0404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85925"/>
            <a:ext cx="1085850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3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60%+</a:t>
            </a:r>
            <a:endParaRPr sz="3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6" name="文本框 235">
            <a:extLst xmlns:a="http://schemas.openxmlformats.org/drawingml/2006/main">
              <a:ext uri="{FF2B5EF4-FFF2-40B4-BE49-F238E27FC236}">
                <a16:creationId xmlns:a16="http://schemas.microsoft.com/office/drawing/2014/main" id="{F2544532-A257-4FC5-8285-2AB9A969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57375"/>
            <a:ext cx="11430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重复劳动由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承接</a:t>
            </a:r>
            <a:endParaRPr sz="105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7" name="圆角矩形 236">
            <a:extLst xmlns:a="http://schemas.openxmlformats.org/drawingml/2006/main">
              <a:ext uri="{FF2B5EF4-FFF2-40B4-BE49-F238E27FC236}">
                <a16:creationId xmlns:a16="http://schemas.microsoft.com/office/drawing/2014/main" id="{A0CD1D70-F956-41B7-A95B-B404A8D6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495425"/>
            <a:ext cx="31813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8" name="文本框 237">
            <a:extLst xmlns:a="http://schemas.openxmlformats.org/drawingml/2006/main">
              <a:ext uri="{FF2B5EF4-FFF2-40B4-BE49-F238E27FC236}">
                <a16:creationId xmlns:a16="http://schemas.microsoft.com/office/drawing/2014/main" id="{4FC9D983-0D9B-4F28-8657-647AC5C8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85925"/>
            <a:ext cx="105727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33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↓50%</a:t>
            </a:r>
            <a:endParaRPr sz="3300" b="1">
              <a:solidFill>
                <a:srgbClr val="4A90E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9" name="文本框 238">
            <a:extLst xmlns:a="http://schemas.openxmlformats.org/drawingml/2006/main">
              <a:ext uri="{FF2B5EF4-FFF2-40B4-BE49-F238E27FC236}">
                <a16:creationId xmlns:a16="http://schemas.microsoft.com/office/drawing/2014/main" id="{AB713AA7-020F-4ECA-88AA-B70E870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57375"/>
            <a:ext cx="13335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论文产出周期缩短目标</a:t>
            </a:r>
            <a:endParaRPr sz="1050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0" name="圆角矩形 239">
            <a:extLst xmlns:a="http://schemas.openxmlformats.org/drawingml/2006/main">
              <a:ext uri="{FF2B5EF4-FFF2-40B4-BE49-F238E27FC236}">
                <a16:creationId xmlns:a16="http://schemas.microsoft.com/office/drawing/2014/main" id="{17338CCD-4BF2-4CE2-BE51-03B233F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495425"/>
            <a:ext cx="4143375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0" name="图片 2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8c31a9d3b47f7">
            <a:extLst>
              <a:ext uri="{96DAC541-7B7A-43D3-8B79-37D633B846F1}">
                <asvg:svgBlip xmlns:asvg="http://schemas.microsoft.com/office/drawing/2016/SVG/main" r:embed="Rf65675760a134d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819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2" name="文本框 241">
            <a:extLst xmlns:a="http://schemas.openxmlformats.org/drawingml/2006/main">
              <a:ext uri="{FF2B5EF4-FFF2-40B4-BE49-F238E27FC236}">
                <a16:creationId xmlns:a16="http://schemas.microsoft.com/office/drawing/2014/main" id="{9662F3D6-39E8-4B38-8118-80DB32D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714500"/>
            <a:ext cx="343852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量化指标作为内测验收基线，按「阶段耗时前后对照」采集实测数据滚动验证。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3" name="文本框 242">
            <a:extLst xmlns:a="http://schemas.openxmlformats.org/drawingml/2006/main">
              <a:ext uri="{FF2B5EF4-FFF2-40B4-BE49-F238E27FC236}">
                <a16:creationId xmlns:a16="http://schemas.microsoft.com/office/drawing/2014/main" id="{02AB6114-0B94-4B69-BA37-236A1AD6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 spc="1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五维行业价值</a:t>
            </a:r>
            <a:endParaRPr sz="1125" b="1" spc="1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4" name="圆角矩形 243">
            <a:extLst xmlns:a="http://schemas.openxmlformats.org/drawingml/2006/main">
              <a:ext uri="{FF2B5EF4-FFF2-40B4-BE49-F238E27FC236}">
                <a16:creationId xmlns:a16="http://schemas.microsoft.com/office/drawing/2014/main" id="{44BB9EFC-9F09-42F1-BECA-A2A380DB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085975" cy="27717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4" name="图片 2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d5eca2cd14e93">
            <a:extLst>
              <a:ext uri="{96DAC541-7B7A-43D3-8B79-37D633B846F1}">
                <asvg:svgBlip xmlns:asvg="http://schemas.microsoft.com/office/drawing/2016/SVG/main" r:embed="Rf280d7c8e1d049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676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46" name="文本框 245">
            <a:extLst xmlns:a="http://schemas.openxmlformats.org/drawingml/2006/main">
              <a:ext uri="{FF2B5EF4-FFF2-40B4-BE49-F238E27FC236}">
                <a16:creationId xmlns:a16="http://schemas.microsoft.com/office/drawing/2014/main" id="{6C748993-E46C-459D-9EE5-591182D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781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科研效率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7" name="文本框 246">
            <a:extLst xmlns:a="http://schemas.openxmlformats.org/drawingml/2006/main">
              <a:ext uri="{FF2B5EF4-FFF2-40B4-BE49-F238E27FC236}">
                <a16:creationId xmlns:a16="http://schemas.microsoft.com/office/drawing/2014/main" id="{784AF6DE-F1D9-46D9-8AA2-28F63C6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17811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大幅缩短选题到投稿周期，提升人均产出。</a:t>
            </a:r>
            <a:endParaRPr sz="975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8" name="圆角矩形 247">
            <a:extLst xmlns:a="http://schemas.openxmlformats.org/drawingml/2006/main">
              <a:ext uri="{FF2B5EF4-FFF2-40B4-BE49-F238E27FC236}">
                <a16:creationId xmlns:a16="http://schemas.microsoft.com/office/drawing/2014/main" id="{4FF63D21-0878-4386-849E-F5B58866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71775"/>
            <a:ext cx="2085975" cy="27717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8" name="图片 2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50dd42fed4d28">
            <a:extLst>
              <a:ext uri="{96DAC541-7B7A-43D3-8B79-37D633B846F1}">
                <asvg:svgBlip xmlns:asvg="http://schemas.microsoft.com/office/drawing/2016/SVG/main" r:embed="Rc77ae0bc8fec45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9425" y="3676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0" name="文本框 249">
            <a:extLst xmlns:a="http://schemas.openxmlformats.org/drawingml/2006/main">
              <a:ext uri="{FF2B5EF4-FFF2-40B4-BE49-F238E27FC236}">
                <a16:creationId xmlns:a16="http://schemas.microsoft.com/office/drawing/2014/main" id="{D84009CD-AF23-4728-AD68-890E325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952875"/>
            <a:ext cx="1781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科研公平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1" name="文本框 250">
            <a:extLst xmlns:a="http://schemas.openxmlformats.org/drawingml/2006/main">
              <a:ext uri="{FF2B5EF4-FFF2-40B4-BE49-F238E27FC236}">
                <a16:creationId xmlns:a16="http://schemas.microsoft.com/office/drawing/2014/main" id="{C33DB44F-1DDD-4DAF-8587-DCBA3108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00525"/>
            <a:ext cx="17811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小团队与欠发达地区也能获得顶级「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助理团」。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2" name="圆角矩形 251">
            <a:extLst xmlns:a="http://schemas.openxmlformats.org/drawingml/2006/main">
              <a:ext uri="{FF2B5EF4-FFF2-40B4-BE49-F238E27FC236}">
                <a16:creationId xmlns:a16="http://schemas.microsoft.com/office/drawing/2014/main" id="{0E1C1303-0DD0-4216-8062-4818B6F4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71775"/>
            <a:ext cx="2095500" cy="27717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2" name="图片 2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d90f9383442cf">
            <a:extLst>
              <a:ext uri="{96DAC541-7B7A-43D3-8B79-37D633B846F1}">
                <asvg:svgBlip xmlns:asvg="http://schemas.microsoft.com/office/drawing/2016/SVG/main" r:embed="R72994c801a0040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0650" y="3676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4" name="文本框 253">
            <a:extLst xmlns:a="http://schemas.openxmlformats.org/drawingml/2006/main">
              <a:ext uri="{FF2B5EF4-FFF2-40B4-BE49-F238E27FC236}">
                <a16:creationId xmlns:a16="http://schemas.microsoft.com/office/drawing/2014/main" id="{4F27419D-0005-471B-88FF-56B9B864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52875"/>
            <a:ext cx="1790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知识沉淀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5" name="文本框 254">
            <a:extLst xmlns:a="http://schemas.openxmlformats.org/drawingml/2006/main">
              <a:ext uri="{FF2B5EF4-FFF2-40B4-BE49-F238E27FC236}">
                <a16:creationId xmlns:a16="http://schemas.microsoft.com/office/drawing/2014/main" id="{DC57ED83-3226-486E-8750-AC9E1F15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00525"/>
            <a:ext cx="1790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课题组知识资产化、可传承、可复用。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6" name="圆角矩形 255">
            <a:extLst xmlns:a="http://schemas.openxmlformats.org/drawingml/2006/main">
              <a:ext uri="{FF2B5EF4-FFF2-40B4-BE49-F238E27FC236}">
                <a16:creationId xmlns:a16="http://schemas.microsoft.com/office/drawing/2014/main" id="{7A5E2FD9-C0F8-4482-B1D2-EB71EA4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2085975" cy="27717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6" name="图片 2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923aa703543b8">
            <a:extLst>
              <a:ext uri="{96DAC541-7B7A-43D3-8B79-37D633B846F1}">
                <asvg:svgBlip xmlns:asvg="http://schemas.microsoft.com/office/drawing/2016/SVG/main" r:embed="Rbea714a2807d41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91400" y="3676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58" name="文本框 257">
            <a:extLst xmlns:a="http://schemas.openxmlformats.org/drawingml/2006/main">
              <a:ext uri="{FF2B5EF4-FFF2-40B4-BE49-F238E27FC236}">
                <a16:creationId xmlns:a16="http://schemas.microsoft.com/office/drawing/2014/main" id="{B227E350-17A0-4096-9A66-68BA722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52875"/>
            <a:ext cx="1781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产业转化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9" name="文本框 258">
            <a:extLst xmlns:a="http://schemas.openxmlformats.org/drawingml/2006/main">
              <a:ext uri="{FF2B5EF4-FFF2-40B4-BE49-F238E27FC236}">
                <a16:creationId xmlns:a16="http://schemas.microsoft.com/office/drawing/2014/main" id="{BB44F49C-B004-4C8B-9A0E-F139CB1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00525"/>
            <a:ext cx="17811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加速企业与高校的技术调研和成果落地。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0" name="圆角矩形 259">
            <a:extLst xmlns:a="http://schemas.openxmlformats.org/drawingml/2006/main">
              <a:ext uri="{FF2B5EF4-FFF2-40B4-BE49-F238E27FC236}">
                <a16:creationId xmlns:a16="http://schemas.microsoft.com/office/drawing/2014/main" id="{4D84E537-E787-4999-B775-1FAC6608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71775"/>
            <a:ext cx="2085975" cy="27717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0" name="图片 2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31457933347ff">
            <a:extLst>
              <a:ext uri="{96DAC541-7B7A-43D3-8B79-37D633B846F1}">
                <asvg:svgBlip xmlns:asvg="http://schemas.microsoft.com/office/drawing/2016/SVG/main" r:embed="R69a99f28480142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2625" y="3676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2" name="文本框 261">
            <a:extLst xmlns:a="http://schemas.openxmlformats.org/drawingml/2006/main">
              <a:ext uri="{FF2B5EF4-FFF2-40B4-BE49-F238E27FC236}">
                <a16:creationId xmlns:a16="http://schemas.microsoft.com/office/drawing/2014/main" id="{DFBDDF1A-92C0-4468-A645-C2858E8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52875"/>
            <a:ext cx="1781175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7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教育价值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3" name="文本框 262">
            <a:extLst xmlns:a="http://schemas.openxmlformats.org/drawingml/2006/main">
              <a:ext uri="{FF2B5EF4-FFF2-40B4-BE49-F238E27FC236}">
                <a16:creationId xmlns:a16="http://schemas.microsoft.com/office/drawing/2014/main" id="{5A976339-FC76-4133-ABE8-91A412D2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00525"/>
            <a:ext cx="1781175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研究生在真实工作流中系统学习科研方法论。</a:t>
            </a:r>
            <a:endParaRPr sz="975">
              <a:solidFill>
                <a:srgbClr val="C4D0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4" name="圆角矩形 263">
            <a:extLst xmlns:a="http://schemas.openxmlformats.org/drawingml/2006/main">
              <a:ext uri="{FF2B5EF4-FFF2-40B4-BE49-F238E27FC236}">
                <a16:creationId xmlns:a16="http://schemas.microsoft.com/office/drawing/2014/main" id="{8C40E73C-0397-4CFE-913C-BEAB1785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388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5" name="任意多边形 264">
            <a:extLst xmlns:a="http://schemas.openxmlformats.org/drawingml/2006/main">
              <a:ext uri="{FF2B5EF4-FFF2-40B4-BE49-F238E27FC236}">
                <a16:creationId xmlns:a16="http://schemas.microsoft.com/office/drawing/2014/main" id="{F66B423C-1173-4CA3-B85B-0E9338E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38800"/>
            <a:ext cx="10820400" cy="533400"/>
          </a:xfrm>
          <a:custGeom xmlns:a="http://schemas.openxmlformats.org/drawingml/2006/main">
            <a:pathLst>
              <a:path w="1136" h="5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49"/>
                </a:lnTo>
                <a:cubicBezTo>
                  <a:pt x="5" y="52"/>
                  <a:pt x="7" y="55"/>
                  <a:pt x="10" y="56"/>
                </a:cubicBezTo>
                <a:cubicBezTo>
                  <a:pt x="4" y="55"/>
                  <a:pt x="0" y="50"/>
                  <a:pt x="0" y="4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 xmlns:a="http://schemas.openxmlformats.org/drawingml/2006/main">
            <a:srgbClr val="4A90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6" name="文本框 265">
            <a:extLst xmlns:a="http://schemas.openxmlformats.org/drawingml/2006/main">
              <a:ext uri="{FF2B5EF4-FFF2-40B4-BE49-F238E27FC236}">
                <a16:creationId xmlns:a16="http://schemas.microsoft.com/office/drawing/2014/main" id="{33EBCF43-C725-47A4-A0FB-357B57ED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9775"/>
            <a:ext cx="10429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25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投资亮点：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高景气赛道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全流程闭环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开放生态（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Skills / MCP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）·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清晰付费模型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数据飞轮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多端覆盖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架构可复制。</a:t>
            </a:r>
            <a:endParaRPr sz="1125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7" name="文本框 266">
            <a:extLst xmlns:a="http://schemas.openxmlformats.org/drawingml/2006/main">
              <a:ext uri="{FF2B5EF4-FFF2-40B4-BE49-F238E27FC236}">
                <a16:creationId xmlns:a16="http://schemas.microsoft.com/office/drawing/2014/main" id="{C73E2E3C-62C3-4889-ADD7-782F1A3C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96025"/>
            <a:ext cx="4714875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科研工作台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90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效率是卖点，公平与知识沉淀是长期壁垒——工具越用越懂课题组</a:t>
            </a:r>
            <a:endParaRPr sz="900">
              <a:solidFill>
                <a:srgbClr val="8FA5C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8" name="文本框 267">
            <a:extLst xmlns:a="http://schemas.openxmlformats.org/drawingml/2006/main">
              <a:ext uri="{FF2B5EF4-FFF2-40B4-BE49-F238E27FC236}">
                <a16:creationId xmlns:a16="http://schemas.microsoft.com/office/drawing/2014/main" id="{FFA0F2D4-05F8-41F8-8BDB-CCBEEBC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18 / 19</a:t>
            </a:r>
            <a:endParaRPr sz="975">
              <a:solidFill>
                <a:srgbClr val="8AA0B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5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D9635910-5242-492A-A964-87080B8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276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32F49D17-30BE-4DEF-8B5E-A7B64B45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f8d2f6b034605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3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8c581d39f4382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166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矩形 269">
            <a:extLst xmlns:a="http://schemas.openxmlformats.org/drawingml/2006/main">
              <a:ext uri="{FF2B5EF4-FFF2-40B4-BE49-F238E27FC236}">
                <a16:creationId xmlns:a16="http://schemas.microsoft.com/office/drawing/2014/main" id="{1EAD7BD1-E4F7-433B-A1E4-EB14462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1" name="文本框 270">
            <a:extLst xmlns:a="http://schemas.openxmlformats.org/drawingml/2006/main">
              <a:ext uri="{FF2B5EF4-FFF2-40B4-BE49-F238E27FC236}">
                <a16:creationId xmlns:a16="http://schemas.microsoft.com/office/drawing/2014/main" id="{230706A2-544A-458B-BCDD-086DD41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33575"/>
            <a:ext cx="445770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spc="45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SCIENCEX · AI RESEARCH WORKBENCH</a:t>
            </a:r>
            <a:endParaRPr sz="1050" spc="450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2" name="文本框 271">
            <a:extLst xmlns:a="http://schemas.openxmlformats.org/drawingml/2006/main">
              <a:ext uri="{FF2B5EF4-FFF2-40B4-BE49-F238E27FC236}">
                <a16:creationId xmlns:a16="http://schemas.microsoft.com/office/drawing/2014/main" id="{3E273366-02AA-413F-85AF-09F27366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24100"/>
            <a:ext cx="9553575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让每一个研究者，</a:t>
            </a:r>
            <a:endParaRPr sz="39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都拥有一支随叫随到的</a:t>
            </a: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「</a:t>
            </a: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科研助理团」</a:t>
            </a:r>
            <a:r>
              <a:rPr sz="39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39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3" name="矩形 272">
            <a:extLst xmlns:a="http://schemas.openxmlformats.org/drawingml/2006/main">
              <a:ext uri="{FF2B5EF4-FFF2-40B4-BE49-F238E27FC236}">
                <a16:creationId xmlns:a16="http://schemas.microsoft.com/office/drawing/2014/main" id="{5DB5142E-9FEB-4F84-89A0-E7AC2E9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386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4" name="矩形 273">
            <a:extLst xmlns:a="http://schemas.openxmlformats.org/drawingml/2006/main">
              <a:ext uri="{FF2B5EF4-FFF2-40B4-BE49-F238E27FC236}">
                <a16:creationId xmlns:a16="http://schemas.microsoft.com/office/drawing/2014/main" id="{9D9DA6B6-767B-422F-BCFC-033561E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38650"/>
            <a:ext cx="123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5" name="文本框 274">
            <a:extLst xmlns:a="http://schemas.openxmlformats.org/drawingml/2006/main">
              <a:ext uri="{FF2B5EF4-FFF2-40B4-BE49-F238E27FC236}">
                <a16:creationId xmlns:a16="http://schemas.microsoft.com/office/drawing/2014/main" id="{AF4A2BC5-5E77-4F53-A9CC-BB9C0B4A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46577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让科研从文献到投稿，在一个工作台里完成闭环。</a:t>
            </a:r>
            <a:endParaRPr sz="1500">
              <a:solidFill>
                <a:srgbClr val="7FB0E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96" name="图片 2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68fb4a254f9e">
            <a:extLst>
              <a:ext uri="{96DAC541-7B7A-43D3-8B79-37D633B846F1}">
                <asvg:svgBlip xmlns:asvg="http://schemas.microsoft.com/office/drawing/2016/SVG/main" r:embed="R24b3ddc96f684a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78" name="矩形 277">
            <a:extLst xmlns:a="http://schemas.openxmlformats.org/drawingml/2006/main">
              <a:ext uri="{FF2B5EF4-FFF2-40B4-BE49-F238E27FC236}">
                <a16:creationId xmlns:a16="http://schemas.microsoft.com/office/drawing/2014/main" id="{EBEDE649-FA27-4826-8D6F-98F3F26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7425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9" name="文本框 278">
            <a:extLst xmlns:a="http://schemas.openxmlformats.org/drawingml/2006/main">
              <a:ext uri="{FF2B5EF4-FFF2-40B4-BE49-F238E27FC236}">
                <a16:creationId xmlns:a16="http://schemas.microsoft.com/office/drawing/2014/main" id="{C0D71829-64C4-4D67-BEF1-B3E0995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72150"/>
            <a:ext cx="5191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Thank You · </a:t>
            </a:r>
            <a:r>
              <a:rPr sz="19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感谢各位评委聆听，敬请批评指正</a:t>
            </a:r>
            <a:endParaRPr sz="19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0" name="文本框 279">
            <a:extLst xmlns:a="http://schemas.openxmlformats.org/drawingml/2006/main">
              <a:ext uri="{FF2B5EF4-FFF2-40B4-BE49-F238E27FC236}">
                <a16:creationId xmlns:a16="http://schemas.microsoft.com/office/drawing/2014/main" id="{6AD0C0F7-21A4-48CD-8435-2FC76FE6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722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汇报：</a:t>
            </a: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</a:t>
            </a: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两人小队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1" name="矩形 280">
            <a:extLst xmlns:a="http://schemas.openxmlformats.org/drawingml/2006/main">
              <a:ext uri="{FF2B5EF4-FFF2-40B4-BE49-F238E27FC236}">
                <a16:creationId xmlns:a16="http://schemas.microsoft.com/office/drawing/2014/main" id="{F7B7FE7F-DB32-4A27-B0B9-9643199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191250"/>
            <a:ext cx="95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2" name="文本框 281">
            <a:extLst xmlns:a="http://schemas.openxmlformats.org/drawingml/2006/main">
              <a:ext uri="{FF2B5EF4-FFF2-40B4-BE49-F238E27FC236}">
                <a16:creationId xmlns:a16="http://schemas.microsoft.com/office/drawing/2014/main" id="{119F222E-A518-4635-A277-74CB3866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172200"/>
            <a:ext cx="7715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 10 </a:t>
            </a:r>
            <a:r>
              <a:rPr sz="975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月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3" name="矩形 282">
            <a:extLst xmlns:a="http://schemas.openxmlformats.org/drawingml/2006/main">
              <a:ext uri="{FF2B5EF4-FFF2-40B4-BE49-F238E27FC236}">
                <a16:creationId xmlns:a16="http://schemas.microsoft.com/office/drawing/2014/main" id="{72E995F2-8EAB-4FF2-A629-9761EFC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91250"/>
            <a:ext cx="95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4" name="文本框 283">
            <a:extLst xmlns:a="http://schemas.openxmlformats.org/drawingml/2006/main">
              <a:ext uri="{FF2B5EF4-FFF2-40B4-BE49-F238E27FC236}">
                <a16:creationId xmlns:a16="http://schemas.microsoft.com/office/drawing/2014/main" id="{0610EBE6-37F0-49A3-87A3-45B517A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172200"/>
            <a:ext cx="381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75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19 / 19</a:t>
            </a:r>
            <a:endParaRPr sz="975">
              <a:solidFill>
                <a:srgbClr val="6BA3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6" name="event-mark-bg">
            <a:extLst xmlns:a="http://schemas.openxmlformats.org/drawingml/2006/main">
              <a:ext uri="{FF2B5EF4-FFF2-40B4-BE49-F238E27FC236}">
                <a16:creationId xmlns:a16="http://schemas.microsoft.com/office/drawing/2014/main" id="{A96E7B5E-74EB-45B6-A103-F85C71F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7150"/>
            <a:ext cx="16383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287" name="logo-mark-bg">
            <a:extLst xmlns:a="http://schemas.openxmlformats.org/drawingml/2006/main">
              <a:ext uri="{FF2B5EF4-FFF2-40B4-BE49-F238E27FC236}">
                <a16:creationId xmlns:a16="http://schemas.microsoft.com/office/drawing/2014/main" id="{1F698CDD-E276-477F-8AAD-6578D680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7150"/>
            <a:ext cx="6477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44ebe2d2c4fcd"/>
          <a:stretch xmlns:a="http://schemas.openxmlformats.org/drawingml/2006/main"/>
        </p:blipFill>
        <p:spPr>
          <a:xfrm xmlns:a="http://schemas.openxmlformats.org/drawingml/2006/main">
            <a:off x="579358" y="85725"/>
            <a:ext cx="784384" cy="342900"/>
          </a:xfrm>
          <a:prstGeom xmlns:a="http://schemas.openxmlformats.org/drawingml/2006/main" prst="rect">
            <a:avLst/>
          </a:prstGeom>
        </p:spPr>
      </p:pic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30a58d1614a19"/>
          <a:stretch xmlns:a="http://schemas.openxmlformats.org/drawingml/2006/main"/>
        </p:blipFill>
        <p:spPr>
          <a:xfrm xmlns:a="http://schemas.openxmlformats.org/drawingml/2006/main">
            <a:off x="11505872" y="76200"/>
            <a:ext cx="419755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294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2026-10-03T07:20:06.9520000Z</dcterms:created>
  <dcterms:modified xsi:type="dcterms:W3CDTF">2026-10-03T07:20:06.9520000Z</dcterms:modified>
</coreProperties>
</file>